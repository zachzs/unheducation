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media/image61.jpg" ContentType="image/jpg"/>
  <Override PartName="/ppt/media/image62.jpg" ContentType="image/jpg"/>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61" r:id="rId2"/>
  </p:sldMasterIdLst>
  <p:notesMasterIdLst>
    <p:notesMasterId r:id="rId52"/>
  </p:notesMasterIdLst>
  <p:sldIdLst>
    <p:sldId id="417" r:id="rId3"/>
    <p:sldId id="446" r:id="rId4"/>
    <p:sldId id="402" r:id="rId5"/>
    <p:sldId id="393" r:id="rId6"/>
    <p:sldId id="392" r:id="rId7"/>
    <p:sldId id="430" r:id="rId8"/>
    <p:sldId id="451" r:id="rId9"/>
    <p:sldId id="394" r:id="rId10"/>
    <p:sldId id="372" r:id="rId11"/>
    <p:sldId id="406" r:id="rId12"/>
    <p:sldId id="377" r:id="rId13"/>
    <p:sldId id="445" r:id="rId14"/>
    <p:sldId id="423" r:id="rId15"/>
    <p:sldId id="384" r:id="rId16"/>
    <p:sldId id="444" r:id="rId17"/>
    <p:sldId id="385" r:id="rId18"/>
    <p:sldId id="408" r:id="rId19"/>
    <p:sldId id="389" r:id="rId20"/>
    <p:sldId id="386" r:id="rId21"/>
    <p:sldId id="388" r:id="rId22"/>
    <p:sldId id="437" r:id="rId23"/>
    <p:sldId id="450" r:id="rId24"/>
    <p:sldId id="403" r:id="rId25"/>
    <p:sldId id="435" r:id="rId26"/>
    <p:sldId id="436" r:id="rId27"/>
    <p:sldId id="416" r:id="rId28"/>
    <p:sldId id="418" r:id="rId29"/>
    <p:sldId id="412" r:id="rId30"/>
    <p:sldId id="256" r:id="rId31"/>
    <p:sldId id="424" r:id="rId32"/>
    <p:sldId id="448" r:id="rId33"/>
    <p:sldId id="421" r:id="rId34"/>
    <p:sldId id="410" r:id="rId35"/>
    <p:sldId id="366" r:id="rId36"/>
    <p:sldId id="442" r:id="rId37"/>
    <p:sldId id="364" r:id="rId38"/>
    <p:sldId id="363" r:id="rId39"/>
    <p:sldId id="422" r:id="rId40"/>
    <p:sldId id="414" r:id="rId41"/>
    <p:sldId id="400" r:id="rId42"/>
    <p:sldId id="367" r:id="rId43"/>
    <p:sldId id="434" r:id="rId44"/>
    <p:sldId id="443" r:id="rId45"/>
    <p:sldId id="432" r:id="rId46"/>
    <p:sldId id="415" r:id="rId47"/>
    <p:sldId id="439" r:id="rId48"/>
    <p:sldId id="426" r:id="rId49"/>
    <p:sldId id="449" r:id="rId50"/>
    <p:sldId id="440" r:id="rId51"/>
  </p:sldIdLst>
  <p:sldSz cx="12192000" cy="6858000"/>
  <p:notesSz cx="6858000" cy="990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DA4E"/>
    <a:srgbClr val="87DA4E"/>
    <a:srgbClr val="2CFC2C"/>
    <a:srgbClr val="29FF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AEE4D2-377B-2A56-E4F2-4CB1691CBEE6}" v="2" dt="2019-08-06T19:46:29.889"/>
    <p1510:client id="{8F523B9F-B609-4557-BFB8-4D52BD53C844}" v="6452" dt="2019-08-07T12:03:16.627"/>
    <p1510:client id="{911B122D-6CBE-4B19-A114-5A2D899C3B1A}" v="787" vWet="788" dt="2019-08-06T22:29:04.496"/>
    <p1510:client id="{9F9AA968-7B71-2B21-7906-107B3EED519B}" v="4" dt="2019-08-06T23:17:09.1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0921" autoAdjust="0"/>
  </p:normalViewPr>
  <p:slideViewPr>
    <p:cSldViewPr snapToGrid="0">
      <p:cViewPr varScale="1">
        <p:scale>
          <a:sx n="77" d="100"/>
          <a:sy n="77" d="100"/>
        </p:scale>
        <p:origin x="888" y="3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 </a:t>
            </a:r>
          </a:p>
        </c:rich>
      </c:tx>
      <c:layout>
        <c:manualLayout>
          <c:xMode val="edge"/>
          <c:yMode val="edge"/>
          <c:x val="0.11274181194276783"/>
          <c:y val="7.3469830997633004E-2"/>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7.8541009222096267E-2"/>
          <c:y val="4.1621112227731696E-2"/>
          <c:w val="0.87895196952521015"/>
          <c:h val="0.80559515275037585"/>
        </c:manualLayout>
      </c:layout>
      <c:lineChart>
        <c:grouping val="standard"/>
        <c:varyColors val="0"/>
        <c:ser>
          <c:idx val="0"/>
          <c:order val="0"/>
          <c:tx>
            <c:strRef>
              <c:f>Sheet1!$C$1</c:f>
              <c:strCache>
                <c:ptCount val="1"/>
                <c:pt idx="0">
                  <c:v>CBE Coverage</c:v>
                </c:pt>
              </c:strCache>
            </c:strRef>
          </c:tx>
          <c:spPr>
            <a:ln w="31750" cap="rnd">
              <a:solidFill>
                <a:schemeClr val="accent1"/>
              </a:solidFill>
              <a:round/>
            </a:ln>
            <a:effectLst/>
          </c:spPr>
          <c:marker>
            <c:symbol val="circle"/>
            <c:size val="17"/>
            <c:spPr>
              <a:solidFill>
                <a:schemeClr val="accent1"/>
              </a:solidFill>
              <a:ln>
                <a:noFill/>
              </a:ln>
              <a:effectLst/>
            </c:spPr>
          </c:marker>
          <c:dLbls>
            <c:dLbl>
              <c:idx val="0"/>
              <c:layout>
                <c:manualLayout>
                  <c:x val="-0.10293033896054823"/>
                  <c:y val="-7.0126227208976238E-2"/>
                </c:manualLayout>
              </c:layout>
              <c:tx>
                <c:rich>
                  <a:bodyPr/>
                  <a:lstStyle/>
                  <a:p>
                    <a:fld id="{CB89F37E-EA56-473A-A701-1DCA3FDC8EA4}" type="CATEGORYNAME">
                      <a:rPr lang="en-US"/>
                      <a:pPr/>
                      <a:t>[CATEGORY NAME]</a:t>
                    </a:fld>
                    <a:r>
                      <a:rPr lang="en-US" baseline="0"/>
                      <a:t>, </a:t>
                    </a:r>
                    <a:fld id="{18F97326-EDB5-4940-B6C5-12BCBCED63E8}"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{18F97326-EDB5-4940-B6C5-12BCBCED63E8}</c15:txfldGUID>
                      <c15:f>Sheet1!$D$2</c15:f>
                      <c15:dlblFieldTableCache>
                        <c:ptCount val="1"/>
                        <c:pt idx="0">
                          <c:v>NHDOE forms the Competency-Based Assessment Workgroup</c:v>
                        </c:pt>
                      </c15:dlblFieldTableCache>
                    </c15:dlblFTEntry>
                  </c15:dlblFieldTable>
                  <c15:showDataLabelsRange val="0"/>
                </c:ext>
                <c:ext xmlns:c16="http://schemas.microsoft.com/office/drawing/2014/chart" uri="{C3380CC4-5D6E-409C-BE32-E72D297353CC}">
                  <c16:uniqueId val="{00000000-B065-482D-95ED-93A129D75007}"/>
                </c:ext>
              </c:extLst>
            </c:dLbl>
            <c:dLbl>
              <c:idx val="1"/>
              <c:layout>
                <c:manualLayout>
                  <c:x val="-0.10246280012663792"/>
                  <c:y val="-5.8438522674146801E-2"/>
                </c:manualLayout>
              </c:layout>
              <c:tx>
                <c:rich>
                  <a:bodyPr/>
                  <a:lstStyle/>
                  <a:p>
                    <a:fld id="{2ED88874-994C-4A77-9A5B-72485ED48FD6}" type="CATEGORYNAME">
                      <a:rPr lang="en-US"/>
                      <a:pPr/>
                      <a:t>[CATEGORY NAME]</a:t>
                    </a:fld>
                    <a:r>
                      <a:rPr lang="en-US" baseline="0"/>
                      <a:t>, </a:t>
                    </a:r>
                    <a:fld id="{EB92B2DD-04E2-4505-9173-4E9CE57D6961}"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{EB92B2DD-04E2-4505-9173-4E9CE57D6961}</c15:txfldGUID>
                      <c15:f>Sheet1!$D$5</c15:f>
                      <c15:dlblFieldTableCache>
                        <c:ptCount val="1"/>
                        <c:pt idx="0">
                          <c:v>The NHDOE eliminates the Carnegie unit</c:v>
                        </c:pt>
                      </c15:dlblFieldTableCache>
                    </c15:dlblFTEntry>
                  </c15:dlblFieldTable>
                  <c15:showDataLabelsRange val="0"/>
                </c:ext>
                <c:ext xmlns:c16="http://schemas.microsoft.com/office/drawing/2014/chart" uri="{C3380CC4-5D6E-409C-BE32-E72D297353CC}">
                  <c16:uniqueId val="{00000001-B065-482D-95ED-93A129D75007}"/>
                </c:ext>
              </c:extLst>
            </c:dLbl>
            <c:dLbl>
              <c:idx val="2"/>
              <c:layout>
                <c:manualLayout>
                  <c:x val="-0.10749481703892072"/>
                  <c:y val="-7.4801309022907894E-2"/>
                </c:manualLayout>
              </c:layout>
              <c:tx>
                <c:rich>
                  <a:bodyPr/>
                  <a:lstStyle/>
                  <a:p>
                    <a:fld id="{EBB57222-768B-41E4-A208-B4D6545269DC}" type="CATEGORYNAME">
                      <a:rPr lang="en-US"/>
                      <a:pPr/>
                      <a:t>[CATEGORY NAME]</a:t>
                    </a:fld>
                    <a:r>
                      <a:rPr lang="en-US" baseline="0"/>
                      <a:t>, </a:t>
                    </a:r>
                    <a:fld id="{12429AFC-8B82-413B-8283-F0044EDECBC6}"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{12429AFC-8B82-413B-8283-F0044EDECBC6}</c15:txfldGUID>
                      <c15:f>Sheet1!$D$7</c15:f>
                      <c15:dlblFieldTableCache>
                        <c:ptCount val="1"/>
                        <c:pt idx="0">
                          <c:v>NHDOE publishes “New Hampshire’s Vision for Redesign,” -estolling CBE &amp; ELO</c:v>
                        </c:pt>
                      </c15:dlblFieldTableCache>
                    </c15:dlblFTEntry>
                  </c15:dlblFieldTable>
                  <c15:showDataLabelsRange val="0"/>
                </c:ext>
                <c:ext xmlns:c16="http://schemas.microsoft.com/office/drawing/2014/chart" uri="{C3380CC4-5D6E-409C-BE32-E72D297353CC}">
                  <c16:uniqueId val="{00000002-B065-482D-95ED-93A129D75007}"/>
                </c:ext>
              </c:extLst>
            </c:dLbl>
            <c:dLbl>
              <c:idx val="3"/>
              <c:layout>
                <c:manualLayout>
                  <c:x val="-0.12027901181612999"/>
                  <c:y val="-5.8438522674146842E-2"/>
                </c:manualLayout>
              </c:layout>
              <c:tx>
                <c:rich>
                  <a:bodyPr/>
                  <a:lstStyle/>
                  <a:p>
                    <a:fld id="{2048784A-AE42-4D3E-B3DC-A532C90ACB69}" type="CATEGORYNAME">
                      <a:rPr lang="en-US"/>
                      <a:pPr/>
                      <a:t>[CATEGORY NAME]</a:t>
                    </a:fld>
                    <a:r>
                      <a:rPr lang="en-US" baseline="0"/>
                      <a:t>,</a:t>
                    </a:r>
                    <a:fld id="{93AB2EBE-1A0B-4205-BE60-2117EBC1EAA3}" type="CELLREF">
                      <a:rPr lang="en-US" baseline="0"/>
                      <a:pPr/>
                      <a:t>[CELLREF]</a:t>
                    </a:fld>
                    <a:endParaRPr lang="en-US" baseline="0"/>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{93AB2EBE-1A0B-4205-BE60-2117EBC1EAA3}</c15:txfldGUID>
                      <c15:f>Sheet1!$D$10</c15:f>
                      <c15:dlblFieldTableCache>
                        <c:ptCount val="1"/>
                        <c:pt idx="0">
                          <c:v>Board of Education approves the Competency Validation Rubric</c:v>
                        </c:pt>
                      </c15:dlblFieldTableCache>
                    </c15:dlblFTEntry>
                  </c15:dlblFieldTable>
                  <c15:showDataLabelsRange val="0"/>
                </c:ext>
                <c:ext xmlns:c16="http://schemas.microsoft.com/office/drawing/2014/chart" uri="{C3380CC4-5D6E-409C-BE32-E72D297353CC}">
                  <c16:uniqueId val="{00000003-B065-482D-95ED-93A129D75007}"/>
                </c:ext>
              </c:extLst>
            </c:dLbl>
            <c:dLbl>
              <c:idx val="4"/>
              <c:layout>
                <c:manualLayout>
                  <c:x val="-0.12839680545768356"/>
                  <c:y val="-5.6100981767180945E-2"/>
                </c:manualLayout>
              </c:layout>
              <c:tx>
                <c:rich>
                  <a:bodyPr/>
                  <a:lstStyle/>
                  <a:p>
                    <a:fld id="{4B508EB7-3611-4B83-BEB3-B200BB0C693D}" type="CATEGORYNAME">
                      <a:rPr lang="en-US"/>
                      <a:pPr/>
                      <a:t>[CATEGORY NAME]</a:t>
                    </a:fld>
                    <a:r>
                      <a:rPr lang="en-US"/>
                      <a:t>, </a:t>
                    </a:r>
                    <a:fld id="{76DD87CB-5A6C-4835-94D1-402A7FC70B53}" type="CELLREF">
                      <a:rPr lang="en-US"/>
                      <a:pPr/>
                      <a:t>[CELLREF]</a:t>
                    </a:fld>
                    <a:endParaRPr lang="en-US"/>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{76DD87CB-5A6C-4835-94D1-402A7FC70B53}</c15:txfldGUID>
                      <c15:f>Sheet1!$D$12</c15:f>
                      <c15:dlblFieldTableCache>
                        <c:ptCount val="1"/>
                        <c:pt idx="0">
                          <c:v>New Hampshire receives ESEA waiver approval. </c:v>
                        </c:pt>
                      </c15:dlblFieldTableCache>
                    </c15:dlblFTEntry>
                  </c15:dlblFieldTable>
                  <c15:showDataLabelsRange val="0"/>
                </c:ext>
                <c:ext xmlns:c16="http://schemas.microsoft.com/office/drawing/2014/chart" uri="{C3380CC4-5D6E-409C-BE32-E72D297353CC}">
                  <c16:uniqueId val="{00000004-B065-482D-95ED-93A129D75007}"/>
                </c:ext>
              </c:extLst>
            </c:dLbl>
            <c:dLbl>
              <c:idx val="5"/>
              <c:layout>
                <c:manualLayout>
                  <c:x val="-4.9401636079536848E-2"/>
                  <c:y val="-9.1164095371669002E-2"/>
                </c:manualLayout>
              </c:layout>
              <c:tx>
                <c:rich>
                  <a:bodyPr/>
                  <a:lstStyle/>
                  <a:p>
                    <a:r>
                      <a:rPr lang="en-US"/>
                      <a:t>2015,</a:t>
                    </a:r>
                    <a:fld id="{366038AE-DAF6-4DB5-940C-A9DA5977267E}" type="CELLREF">
                      <a:rPr lang="en-US"/>
                      <a:pPr/>
                      <a:t>[CELLREF]</a:t>
                    </a:fld>
                    <a:endParaRPr lang="en-US"/>
                  </a:p>
                </c:rich>
              </c:tx>
              <c:dLblPos val="r"/>
              <c:showLegendKey val="0"/>
              <c:showVal val="1"/>
              <c:showCatName val="1"/>
              <c:showSerName val="0"/>
              <c:showPercent val="0"/>
              <c:showBubbleSize val="0"/>
              <c:extLst>
                <c:ext xmlns:c15="http://schemas.microsoft.com/office/drawing/2012/chart" uri="{CE6537A1-D6FC-4f65-9D91-7224C49458BB}">
                  <c15:dlblFieldTable>
                    <c15:dlblFTEntry>
                      <c15:txfldGUID>{366038AE-DAF6-4DB5-940C-A9DA5977267E}</c15:txfldGUID>
                      <c15:f>Sheet1!$D$13</c15:f>
                      <c15:dlblFieldTableCache>
                        <c:ptCount val="1"/>
                        <c:pt idx="0">
                          <c:v> Performance Assessment for Competency Education a federally approved pilot program </c:v>
                        </c:pt>
                      </c15:dlblFieldTableCache>
                    </c15:dlblFTEntry>
                  </c15:dlblFieldTable>
                  <c15:showDataLabelsRange val="0"/>
                </c:ext>
                <c:ext xmlns:c16="http://schemas.microsoft.com/office/drawing/2014/chart" uri="{C3380CC4-5D6E-409C-BE32-E72D297353CC}">
                  <c16:uniqueId val="{00000005-B065-482D-95ED-93A129D75007}"/>
                </c:ext>
              </c:extLst>
            </c:dLbl>
            <c:spPr>
              <a:solidFill>
                <a:sysClr val="windowText" lastClr="000000">
                  <a:lumMod val="65000"/>
                  <a:lumOff val="35000"/>
                  <a:alpha val="75000"/>
                </a:sysClr>
              </a:solidFill>
              <a:ln>
                <a:no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accentCallout2">
                    <a:avLst/>
                  </a:prstGeom>
                  <a:noFill/>
                  <a:ln>
                    <a:noFill/>
                  </a:ln>
                </c15:spPr>
                <c15:showLeaderLines val="0"/>
              </c:ext>
            </c:extLst>
          </c:dLbls>
          <c:cat>
            <c:numRef>
              <c:f>(Sheet1!$B$2,Sheet1!$B$5,Sheet1!$B$7,Sheet1!$B$10,Sheet1!$B$12:$B$13)</c:f>
              <c:numCache>
                <c:formatCode>General</c:formatCode>
                <c:ptCount val="6"/>
                <c:pt idx="0">
                  <c:v>1997</c:v>
                </c:pt>
                <c:pt idx="1">
                  <c:v>2005</c:v>
                </c:pt>
                <c:pt idx="2">
                  <c:v>2007</c:v>
                </c:pt>
                <c:pt idx="3">
                  <c:v>2010</c:v>
                </c:pt>
                <c:pt idx="4">
                  <c:v>2013</c:v>
                </c:pt>
                <c:pt idx="5">
                  <c:v>2015</c:v>
                </c:pt>
              </c:numCache>
              <c:extLst/>
            </c:numRef>
          </c:cat>
          <c:val>
            <c:numRef>
              <c:f>(Sheet1!$C$2,Sheet1!$C$5,Sheet1!$C$7,Sheet1!$C$10,Sheet1!$C$12:$C$13)</c:f>
              <c:numCache>
                <c:formatCode>0%</c:formatCode>
                <c:ptCount val="6"/>
                <c:pt idx="0">
                  <c:v>8.3333333333333329E-2</c:v>
                </c:pt>
                <c:pt idx="1">
                  <c:v>0.33333333333333331</c:v>
                </c:pt>
                <c:pt idx="2">
                  <c:v>0.5</c:v>
                </c:pt>
                <c:pt idx="3">
                  <c:v>0.75</c:v>
                </c:pt>
                <c:pt idx="4">
                  <c:v>0.91666666666666663</c:v>
                </c:pt>
                <c:pt idx="5">
                  <c:v>1</c:v>
                </c:pt>
              </c:numCache>
              <c:extLst/>
            </c:numRef>
          </c:val>
          <c:smooth val="0"/>
          <c:extLst>
            <c:ext xmlns:c16="http://schemas.microsoft.com/office/drawing/2014/chart" uri="{C3380CC4-5D6E-409C-BE32-E72D297353CC}">
              <c16:uniqueId val="{00000006-B065-482D-95ED-93A129D75007}"/>
            </c:ext>
          </c:extLst>
        </c:ser>
        <c:dLbls>
          <c:dLblPos val="ctr"/>
          <c:showLegendKey val="0"/>
          <c:showVal val="1"/>
          <c:showCatName val="0"/>
          <c:showSerName val="0"/>
          <c:showPercent val="0"/>
          <c:showBubbleSize val="0"/>
        </c:dLbls>
        <c:marker val="1"/>
        <c:smooth val="0"/>
        <c:axId val="655834632"/>
        <c:axId val="655830696"/>
        <c:extLst>
          <c:ext xmlns:c15="http://schemas.microsoft.com/office/drawing/2012/chart" uri="{02D57815-91ED-43cb-92C2-25804820EDAC}">
            <c15:filteredLineSeries>
              <c15:ser>
                <c:idx val="1"/>
                <c:order val="1"/>
                <c:tx>
                  <c:strRef>
                    <c:extLst>
                      <c:ext uri="{02D57815-91ED-43cb-92C2-25804820EDAC}">
                        <c15:formulaRef>
                          <c15:sqref>Sheet1!$E$2:$E$13</c15:sqref>
                        </c15:formulaRef>
                      </c:ext>
                    </c:extLst>
                    <c:strCache>
                      <c:ptCount val="12"/>
                      <c:pt idx="0">
                        <c:v>1997</c:v>
                      </c:pt>
                      <c:pt idx="1">
                        <c:v>1998</c:v>
                      </c:pt>
                      <c:pt idx="2">
                        <c:v>2004</c:v>
                      </c:pt>
                      <c:pt idx="3">
                        <c:v>2005</c:v>
                      </c:pt>
                      <c:pt idx="4">
                        <c:v>2006</c:v>
                      </c:pt>
                      <c:pt idx="5">
                        <c:v>2007</c:v>
                      </c:pt>
                      <c:pt idx="6">
                        <c:v>2008</c:v>
                      </c:pt>
                      <c:pt idx="7">
                        <c:v>2009</c:v>
                      </c:pt>
                      <c:pt idx="8">
                        <c:v>2010</c:v>
                      </c:pt>
                      <c:pt idx="9">
                        <c:v>2012</c:v>
                      </c:pt>
                      <c:pt idx="10">
                        <c:v>2013</c:v>
                      </c:pt>
                      <c:pt idx="11">
                        <c:v>2015</c:v>
                      </c:pt>
                    </c:strCache>
                  </c:strRef>
                </c:tx>
                <c:spPr>
                  <a:ln w="31750" cap="rnd">
                    <a:solidFill>
                      <a:schemeClr val="accent2"/>
                    </a:solidFill>
                    <a:round/>
                  </a:ln>
                  <a:effectLst/>
                </c:spPr>
                <c:marker>
                  <c:symbol val="none"/>
                </c:marker>
                <c:dLbls>
                  <c:spPr>
                    <a:solidFill>
                      <a:schemeClr val="dk1">
                        <a:lumMod val="65000"/>
                        <a:lumOff val="35000"/>
                        <a:alpha val="75000"/>
                      </a:schemeClr>
                    </a:solidFill>
                    <a:ln>
                      <a:noFill/>
                    </a:ln>
                    <a:effectLst/>
                  </c:spPr>
                  <c:txPr>
                    <a:bodyPr rot="0" spcFirstLastPara="1" vertOverflow="clip" horzOverflow="clip"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1"/>
                  <c:showSerName val="0"/>
                  <c:showPercent val="0"/>
                  <c:showBubbleSize val="0"/>
                  <c:showLeaderLines val="0"/>
                  <c:extLst>
                    <c:ext uri="{CE6537A1-D6FC-4f65-9D91-7224C49458BB}">
                      <c15:spPr xmlns:c15="http://schemas.microsoft.com/office/drawing/2012/chart">
                        <a:prstGeom prst="wedgeRectCallout">
                          <a:avLst/>
                        </a:prstGeom>
                        <a:noFill/>
                        <a:ln>
                          <a:noFill/>
                        </a:ln>
                      </c15:spPr>
                      <c15:showLeaderLines val="0"/>
                    </c:ext>
                  </c:extLst>
                </c:dLbls>
                <c:val>
                  <c:numLit>
                    <c:formatCode>General</c:formatCode>
                    <c:ptCount val="1"/>
                    <c:pt idx="0">
                      <c:v>1</c:v>
                    </c:pt>
                  </c:numLit>
                </c:val>
                <c:smooth val="0"/>
                <c:extLst>
                  <c:ext xmlns:c16="http://schemas.microsoft.com/office/drawing/2014/chart" uri="{C3380CC4-5D6E-409C-BE32-E72D297353CC}">
                    <c16:uniqueId val="{00000007-B065-482D-95ED-93A129D75007}"/>
                  </c:ext>
                </c:extLst>
              </c15:ser>
            </c15:filteredLineSeries>
          </c:ext>
        </c:extLst>
      </c:lineChart>
      <c:catAx>
        <c:axId val="655834632"/>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sz="1200"/>
                  <a:t>Years</a:t>
                </a: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655830696"/>
        <c:crosses val="autoZero"/>
        <c:auto val="1"/>
        <c:lblAlgn val="ctr"/>
        <c:lblOffset val="100"/>
        <c:noMultiLvlLbl val="0"/>
      </c:catAx>
      <c:valAx>
        <c:axId val="655830696"/>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r>
                  <a:rPr lang="en-US" sz="1200"/>
                  <a:t>Key Events</a:t>
                </a:r>
              </a:p>
            </c:rich>
          </c:tx>
          <c:layout>
            <c:manualLayout>
              <c:xMode val="edge"/>
              <c:yMode val="edge"/>
              <c:x val="5.1323059325755489E-2"/>
              <c:y val="0.38543086216607214"/>
            </c:manualLayout>
          </c:layout>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75000"/>
                      <a:lumOff val="25000"/>
                    </a:schemeClr>
                  </a:solidFill>
                  <a:latin typeface="+mn-lt"/>
                  <a:ea typeface="+mn-ea"/>
                  <a:cs typeface="+mn-cs"/>
                </a:defRPr>
              </a:pPr>
              <a:endParaRPr lang="en-US"/>
            </a:p>
          </c:txPr>
        </c:title>
        <c:numFmt formatCode="0%" sourceLinked="1"/>
        <c:majorTickMark val="none"/>
        <c:minorTickMark val="none"/>
        <c:tickLblPos val="nextTo"/>
        <c:crossAx val="655834632"/>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0"/>
    <c:dispBlanksAs val="gap"/>
    <c:extLst>
      <c:ext xmlns:c16r3="http://schemas.microsoft.com/office/drawing/2017/03/chart" uri="{56B9EC1D-385E-4148-901F-78D8002777C0}">
        <c16r3:dataDisplayOptions16>
          <c16r3:dispNaAsBlank val="1"/>
        </c16r3:dataDisplayOptions16>
      </c:ext>
    </c:extLst>
    <c:showDLblsOverMax val="0"/>
  </c:chart>
  <c:spPr>
    <a:solidFill>
      <a:srgbClr val="FFFF00">
        <a:alpha val="16000"/>
      </a:srgbClr>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F07AB3-1BF3-4829-8001-CE809A180E51}" type="doc">
      <dgm:prSet loTypeId="urn:microsoft.com/office/officeart/2005/8/layout/pyramid3" loCatId="pyramid" qsTypeId="urn:microsoft.com/office/officeart/2005/8/quickstyle/simple1" qsCatId="simple" csTypeId="urn:microsoft.com/office/officeart/2005/8/colors/colorful5" csCatId="colorful" phldr="1"/>
      <dgm:spPr/>
      <dgm:t>
        <a:bodyPr/>
        <a:lstStyle/>
        <a:p>
          <a:endParaRPr lang="en-US"/>
        </a:p>
      </dgm:t>
    </dgm:pt>
    <dgm:pt modelId="{466F8007-277D-465C-984D-A741EEFD94CC}">
      <dgm:prSet/>
      <dgm:spPr/>
      <dgm:t>
        <a:bodyPr/>
        <a:lstStyle/>
        <a:p>
          <a:pPr>
            <a:lnSpc>
              <a:spcPct val="100000"/>
            </a:lnSpc>
          </a:pPr>
          <a:r>
            <a:rPr lang="en-US" dirty="0"/>
            <a:t>IEA/OECD</a:t>
          </a:r>
        </a:p>
        <a:p>
          <a:pPr>
            <a:lnSpc>
              <a:spcPct val="100000"/>
            </a:lnSpc>
          </a:pPr>
          <a:r>
            <a:rPr lang="en-US" dirty="0"/>
            <a:t>PISA rankings</a:t>
          </a:r>
        </a:p>
      </dgm:t>
    </dgm:pt>
    <dgm:pt modelId="{2027EB42-B2C2-41A2-BEF6-A89295225688}" type="parTrans" cxnId="{A1232CAA-83C8-4ED0-B29E-77DB75DCFA1A}">
      <dgm:prSet/>
      <dgm:spPr/>
      <dgm:t>
        <a:bodyPr/>
        <a:lstStyle/>
        <a:p>
          <a:endParaRPr lang="en-US"/>
        </a:p>
      </dgm:t>
    </dgm:pt>
    <dgm:pt modelId="{4FC089ED-BC55-4038-9B2A-43774CB09856}" type="sibTrans" cxnId="{A1232CAA-83C8-4ED0-B29E-77DB75DCFA1A}">
      <dgm:prSet/>
      <dgm:spPr/>
      <dgm:t>
        <a:bodyPr/>
        <a:lstStyle/>
        <a:p>
          <a:endParaRPr lang="en-US"/>
        </a:p>
      </dgm:t>
    </dgm:pt>
    <dgm:pt modelId="{F8FBB57A-DB66-448A-829A-26EF690622B7}">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600" dirty="0"/>
            <a:t>US and School States/Districts</a:t>
          </a:r>
        </a:p>
      </dgm:t>
    </dgm:pt>
    <dgm:pt modelId="{3683552F-9D82-4EC8-B2C2-495BB16DF2D2}" type="parTrans" cxnId="{F2BDAC20-A6E5-41F6-9D06-9D61BAE08765}">
      <dgm:prSet/>
      <dgm:spPr/>
      <dgm:t>
        <a:bodyPr/>
        <a:lstStyle/>
        <a:p>
          <a:endParaRPr lang="en-US"/>
        </a:p>
      </dgm:t>
    </dgm:pt>
    <dgm:pt modelId="{88A016FB-ADBD-49F6-B311-D79AE36F873A}" type="sibTrans" cxnId="{F2BDAC20-A6E5-41F6-9D06-9D61BAE08765}">
      <dgm:prSet/>
      <dgm:spPr/>
      <dgm:t>
        <a:bodyPr/>
        <a:lstStyle/>
        <a:p>
          <a:endParaRPr lang="en-US"/>
        </a:p>
      </dgm:t>
    </dgm:pt>
    <dgm:pt modelId="{9DB2B017-D46E-497C-B037-D2050C7C00E0}">
      <dgm:prSet/>
      <dgm:spPr/>
      <dgm:t>
        <a:bodyPr/>
        <a:lstStyle/>
        <a:p>
          <a:pPr>
            <a:lnSpc>
              <a:spcPct val="100000"/>
            </a:lnSpc>
          </a:pPr>
          <a:r>
            <a:rPr lang="en-US"/>
            <a:t>Education factors</a:t>
          </a:r>
          <a:endParaRPr lang="en-US" dirty="0"/>
        </a:p>
      </dgm:t>
    </dgm:pt>
    <dgm:pt modelId="{A7DF3F73-2635-40DF-9571-7C910D767712}" type="parTrans" cxnId="{F5CEAA31-F12C-48ED-A717-AB284AB9D5A4}">
      <dgm:prSet/>
      <dgm:spPr/>
      <dgm:t>
        <a:bodyPr/>
        <a:lstStyle/>
        <a:p>
          <a:endParaRPr lang="en-US"/>
        </a:p>
      </dgm:t>
    </dgm:pt>
    <dgm:pt modelId="{D281120B-C51A-4176-A17E-86E9140051EC}" type="sibTrans" cxnId="{F5CEAA31-F12C-48ED-A717-AB284AB9D5A4}">
      <dgm:prSet/>
      <dgm:spPr/>
      <dgm:t>
        <a:bodyPr/>
        <a:lstStyle/>
        <a:p>
          <a:endParaRPr lang="en-US"/>
        </a:p>
      </dgm:t>
    </dgm:pt>
    <dgm:pt modelId="{309850D1-E13D-490A-AADA-75362DC6A440}">
      <dgm:prSet/>
      <dgm:spPr/>
      <dgm:t>
        <a:bodyPr/>
        <a:lstStyle/>
        <a:p>
          <a:r>
            <a:rPr lang="en-US" dirty="0"/>
            <a:t>math &amp; science, student/teacher, race,  cost, graduation rates – Identified States based on PISA rankings</a:t>
          </a:r>
        </a:p>
      </dgm:t>
    </dgm:pt>
    <dgm:pt modelId="{D47D285A-9DEA-48AD-9116-DC2CD8A077DE}" type="parTrans" cxnId="{FAC0B4E7-1BDF-46D7-B848-E1EBC016AB02}">
      <dgm:prSet/>
      <dgm:spPr/>
      <dgm:t>
        <a:bodyPr/>
        <a:lstStyle/>
        <a:p>
          <a:endParaRPr lang="en-US"/>
        </a:p>
      </dgm:t>
    </dgm:pt>
    <dgm:pt modelId="{3FF1320D-8330-4CE7-9241-527550B07EFD}" type="sibTrans" cxnId="{FAC0B4E7-1BDF-46D7-B848-E1EBC016AB02}">
      <dgm:prSet/>
      <dgm:spPr/>
      <dgm:t>
        <a:bodyPr/>
        <a:lstStyle/>
        <a:p>
          <a:endParaRPr lang="en-US"/>
        </a:p>
      </dgm:t>
    </dgm:pt>
    <dgm:pt modelId="{03C2C24E-576D-4A09-B486-B5C13737974E}">
      <dgm:prSet/>
      <dgm:spPr>
        <a:solidFill>
          <a:schemeClr val="accent2"/>
        </a:solidFill>
      </dgm:spPr>
      <dgm:t>
        <a:bodyPr anchor="t"/>
        <a:lstStyle/>
        <a:p>
          <a:r>
            <a:rPr lang="en-US" dirty="0"/>
            <a:t>Trends</a:t>
          </a:r>
        </a:p>
      </dgm:t>
    </dgm:pt>
    <dgm:pt modelId="{8AE64A15-67AE-4224-9603-ACFBDFBD5983}" type="parTrans" cxnId="{32932FC8-D029-4249-A5CF-7CB50859E636}">
      <dgm:prSet/>
      <dgm:spPr/>
      <dgm:t>
        <a:bodyPr/>
        <a:lstStyle/>
        <a:p>
          <a:endParaRPr lang="en-US"/>
        </a:p>
      </dgm:t>
    </dgm:pt>
    <dgm:pt modelId="{9E7A950D-3B55-4A9A-BC8A-F8210A3CBFA4}" type="sibTrans" cxnId="{32932FC8-D029-4249-A5CF-7CB50859E636}">
      <dgm:prSet/>
      <dgm:spPr/>
      <dgm:t>
        <a:bodyPr/>
        <a:lstStyle/>
        <a:p>
          <a:endParaRPr lang="en-US"/>
        </a:p>
      </dgm:t>
    </dgm:pt>
    <dgm:pt modelId="{D5C1E5E8-7DB5-49D6-84D1-1C64EDFAD893}">
      <dgm:prSet/>
      <dgm:spPr>
        <a:ln>
          <a:solidFill>
            <a:schemeClr val="accent2"/>
          </a:solidFill>
        </a:ln>
      </dgm:spPr>
      <dgm:t>
        <a:bodyPr/>
        <a:lstStyle/>
        <a:p>
          <a:pPr>
            <a:lnSpc>
              <a:spcPct val="100000"/>
            </a:lnSpc>
          </a:pPr>
          <a:r>
            <a:rPr lang="en-US" dirty="0"/>
            <a:t>ESSA progress statewide initiatives</a:t>
          </a:r>
        </a:p>
      </dgm:t>
    </dgm:pt>
    <dgm:pt modelId="{7B5CCA21-EA5B-4F3B-8BB5-68C25C5A10F4}" type="parTrans" cxnId="{84A520C2-3744-48EC-B3BB-60D9B18551D4}">
      <dgm:prSet/>
      <dgm:spPr/>
      <dgm:t>
        <a:bodyPr/>
        <a:lstStyle/>
        <a:p>
          <a:endParaRPr lang="en-US"/>
        </a:p>
      </dgm:t>
    </dgm:pt>
    <dgm:pt modelId="{35C4792E-E431-43CB-B689-8AA2EBA87736}" type="sibTrans" cxnId="{84A520C2-3744-48EC-B3BB-60D9B18551D4}">
      <dgm:prSet/>
      <dgm:spPr/>
      <dgm:t>
        <a:bodyPr/>
        <a:lstStyle/>
        <a:p>
          <a:endParaRPr lang="en-US"/>
        </a:p>
      </dgm:t>
    </dgm:pt>
    <dgm:pt modelId="{EA8AD0C4-DB7C-4345-866F-E967B81F203C}">
      <dgm:prSet/>
      <dgm:spPr>
        <a:ln>
          <a:solidFill>
            <a:schemeClr val="accent2"/>
          </a:solidFill>
        </a:ln>
      </dgm:spPr>
      <dgm:t>
        <a:bodyPr/>
        <a:lstStyle/>
        <a:p>
          <a:pPr>
            <a:lnSpc>
              <a:spcPct val="100000"/>
            </a:lnSpc>
          </a:pPr>
          <a:r>
            <a:rPr lang="en-US" dirty="0"/>
            <a:t>Competency Based Education policy trends</a:t>
          </a:r>
        </a:p>
      </dgm:t>
    </dgm:pt>
    <dgm:pt modelId="{5642EC5E-5DFA-49EB-A2EF-1F0AAF27F2CD}" type="parTrans" cxnId="{A6900500-60B5-4A5B-8E55-8DA89ED478ED}">
      <dgm:prSet/>
      <dgm:spPr/>
      <dgm:t>
        <a:bodyPr/>
        <a:lstStyle/>
        <a:p>
          <a:endParaRPr lang="en-US"/>
        </a:p>
      </dgm:t>
    </dgm:pt>
    <dgm:pt modelId="{D8E266F3-786A-4D7A-97D3-778F7CE91FF0}" type="sibTrans" cxnId="{A6900500-60B5-4A5B-8E55-8DA89ED478ED}">
      <dgm:prSet/>
      <dgm:spPr/>
      <dgm:t>
        <a:bodyPr/>
        <a:lstStyle/>
        <a:p>
          <a:endParaRPr lang="en-US"/>
        </a:p>
      </dgm:t>
    </dgm:pt>
    <dgm:pt modelId="{F4CA3CE1-62F8-4F79-A81B-9588838CD976}">
      <dgm:prSet/>
      <dgm:spPr/>
      <dgm:t>
        <a:bodyPr/>
        <a:lstStyle/>
        <a:p>
          <a:pPr>
            <a:lnSpc>
              <a:spcPct val="100000"/>
            </a:lnSpc>
          </a:pPr>
          <a:r>
            <a:rPr lang="en-US" dirty="0"/>
            <a:t>INTL rankings: PISA, TIMMS, &amp; PIRLS: Top and Bottom US states in ranking</a:t>
          </a:r>
        </a:p>
      </dgm:t>
    </dgm:pt>
    <dgm:pt modelId="{622BB51E-9F2B-47C2-94EC-94DE8C41E22B}" type="parTrans" cxnId="{AD8E5577-392E-4173-BF1E-B30FAD823DA0}">
      <dgm:prSet/>
      <dgm:spPr/>
      <dgm:t>
        <a:bodyPr/>
        <a:lstStyle/>
        <a:p>
          <a:endParaRPr lang="en-US"/>
        </a:p>
      </dgm:t>
    </dgm:pt>
    <dgm:pt modelId="{E7BBE093-9A90-4298-A5E1-6E3B19CA5CD1}" type="sibTrans" cxnId="{AD8E5577-392E-4173-BF1E-B30FAD823DA0}">
      <dgm:prSet/>
      <dgm:spPr/>
      <dgm:t>
        <a:bodyPr/>
        <a:lstStyle/>
        <a:p>
          <a:endParaRPr lang="en-US"/>
        </a:p>
      </dgm:t>
    </dgm:pt>
    <dgm:pt modelId="{D9236418-9B3A-426D-9A22-223FD2352B85}">
      <dgm:prSet/>
      <dgm:spPr>
        <a:ln>
          <a:solidFill>
            <a:schemeClr val="accent2"/>
          </a:solidFill>
        </a:ln>
      </dgm:spPr>
      <dgm:t>
        <a:bodyPr/>
        <a:lstStyle/>
        <a:p>
          <a:pPr>
            <a:lnSpc>
              <a:spcPct val="100000"/>
            </a:lnSpc>
          </a:pPr>
          <a:r>
            <a:rPr lang="en-US" dirty="0"/>
            <a:t>New Hampshire leading toward CBE</a:t>
          </a:r>
        </a:p>
      </dgm:t>
    </dgm:pt>
    <dgm:pt modelId="{255CD1E7-8058-4676-8FF5-20F730453860}" type="parTrans" cxnId="{5EC13725-BC40-4755-8FCC-A431BDE0778A}">
      <dgm:prSet/>
      <dgm:spPr/>
      <dgm:t>
        <a:bodyPr/>
        <a:lstStyle/>
        <a:p>
          <a:endParaRPr lang="en-US"/>
        </a:p>
      </dgm:t>
    </dgm:pt>
    <dgm:pt modelId="{75F2EA8B-242C-4C6A-B6E5-B62FFCF437CC}" type="sibTrans" cxnId="{5EC13725-BC40-4755-8FCC-A431BDE0778A}">
      <dgm:prSet/>
      <dgm:spPr/>
      <dgm:t>
        <a:bodyPr/>
        <a:lstStyle/>
        <a:p>
          <a:endParaRPr lang="en-US"/>
        </a:p>
      </dgm:t>
    </dgm:pt>
    <dgm:pt modelId="{E59D58C1-31A7-4340-9F7A-87065656171F}" type="pres">
      <dgm:prSet presAssocID="{A6F07AB3-1BF3-4829-8001-CE809A180E51}" presName="Name0" presStyleCnt="0">
        <dgm:presLayoutVars>
          <dgm:dir/>
          <dgm:animLvl val="lvl"/>
          <dgm:resizeHandles val="exact"/>
        </dgm:presLayoutVars>
      </dgm:prSet>
      <dgm:spPr/>
    </dgm:pt>
    <dgm:pt modelId="{805E16B6-A0E0-43B7-8933-ECC249DDC3FC}" type="pres">
      <dgm:prSet presAssocID="{466F8007-277D-465C-984D-A741EEFD94CC}" presName="Name8" presStyleCnt="0"/>
      <dgm:spPr/>
    </dgm:pt>
    <dgm:pt modelId="{182B42A8-422F-46AF-A068-B9B20284D63C}" type="pres">
      <dgm:prSet presAssocID="{466F8007-277D-465C-984D-A741EEFD94CC}" presName="acctBkgd" presStyleLbl="alignAcc1" presStyleIdx="0" presStyleCnt="3"/>
      <dgm:spPr/>
    </dgm:pt>
    <dgm:pt modelId="{7C3A8E02-B603-47B3-9E21-0280002C0ADC}" type="pres">
      <dgm:prSet presAssocID="{466F8007-277D-465C-984D-A741EEFD94CC}" presName="acctTx" presStyleLbl="alignAcc1" presStyleIdx="0" presStyleCnt="3">
        <dgm:presLayoutVars>
          <dgm:bulletEnabled val="1"/>
        </dgm:presLayoutVars>
      </dgm:prSet>
      <dgm:spPr/>
    </dgm:pt>
    <dgm:pt modelId="{61C567EC-FC9E-4F0B-A212-8783C62465B5}" type="pres">
      <dgm:prSet presAssocID="{466F8007-277D-465C-984D-A741EEFD94CC}" presName="level" presStyleLbl="node1" presStyleIdx="0" presStyleCnt="3">
        <dgm:presLayoutVars>
          <dgm:chMax val="1"/>
          <dgm:bulletEnabled val="1"/>
        </dgm:presLayoutVars>
      </dgm:prSet>
      <dgm:spPr/>
    </dgm:pt>
    <dgm:pt modelId="{66FD0B09-192B-4CDB-B32B-FB737D6D80FD}" type="pres">
      <dgm:prSet presAssocID="{466F8007-277D-465C-984D-A741EEFD94CC}" presName="levelTx" presStyleLbl="revTx" presStyleIdx="0" presStyleCnt="0">
        <dgm:presLayoutVars>
          <dgm:chMax val="1"/>
          <dgm:bulletEnabled val="1"/>
        </dgm:presLayoutVars>
      </dgm:prSet>
      <dgm:spPr/>
    </dgm:pt>
    <dgm:pt modelId="{70531DB9-47EB-47DF-AF61-22D408F2B8A9}" type="pres">
      <dgm:prSet presAssocID="{F8FBB57A-DB66-448A-829A-26EF690622B7}" presName="Name8" presStyleCnt="0"/>
      <dgm:spPr/>
    </dgm:pt>
    <dgm:pt modelId="{452B2BFE-3201-4400-81C9-578742B7929A}" type="pres">
      <dgm:prSet presAssocID="{F8FBB57A-DB66-448A-829A-26EF690622B7}" presName="acctBkgd" presStyleLbl="alignAcc1" presStyleIdx="1" presStyleCnt="3"/>
      <dgm:spPr/>
    </dgm:pt>
    <dgm:pt modelId="{F9F7B958-6089-4C33-A7FD-2D0555D5364C}" type="pres">
      <dgm:prSet presAssocID="{F8FBB57A-DB66-448A-829A-26EF690622B7}" presName="acctTx" presStyleLbl="alignAcc1" presStyleIdx="1" presStyleCnt="3">
        <dgm:presLayoutVars>
          <dgm:bulletEnabled val="1"/>
        </dgm:presLayoutVars>
      </dgm:prSet>
      <dgm:spPr/>
    </dgm:pt>
    <dgm:pt modelId="{17B20A35-A1C3-4803-B28A-65898490176B}" type="pres">
      <dgm:prSet presAssocID="{F8FBB57A-DB66-448A-829A-26EF690622B7}" presName="level" presStyleLbl="node1" presStyleIdx="1" presStyleCnt="3">
        <dgm:presLayoutVars>
          <dgm:chMax val="1"/>
          <dgm:bulletEnabled val="1"/>
        </dgm:presLayoutVars>
      </dgm:prSet>
      <dgm:spPr/>
    </dgm:pt>
    <dgm:pt modelId="{7968A331-B959-4E61-89D5-EDF76614F76D}" type="pres">
      <dgm:prSet presAssocID="{F8FBB57A-DB66-448A-829A-26EF690622B7}" presName="levelTx" presStyleLbl="revTx" presStyleIdx="0" presStyleCnt="0">
        <dgm:presLayoutVars>
          <dgm:chMax val="1"/>
          <dgm:bulletEnabled val="1"/>
        </dgm:presLayoutVars>
      </dgm:prSet>
      <dgm:spPr/>
    </dgm:pt>
    <dgm:pt modelId="{30ED65CD-E9B7-4716-8069-BB531DA6CE27}" type="pres">
      <dgm:prSet presAssocID="{03C2C24E-576D-4A09-B486-B5C13737974E}" presName="Name8" presStyleCnt="0"/>
      <dgm:spPr/>
    </dgm:pt>
    <dgm:pt modelId="{7EF42DDD-FDCC-49CB-9021-D84362BF20EC}" type="pres">
      <dgm:prSet presAssocID="{03C2C24E-576D-4A09-B486-B5C13737974E}" presName="acctBkgd" presStyleLbl="alignAcc1" presStyleIdx="2" presStyleCnt="3"/>
      <dgm:spPr/>
    </dgm:pt>
    <dgm:pt modelId="{61408D8A-2FE7-42C5-AAC0-79CCCAA5496E}" type="pres">
      <dgm:prSet presAssocID="{03C2C24E-576D-4A09-B486-B5C13737974E}" presName="acctTx" presStyleLbl="alignAcc1" presStyleIdx="2" presStyleCnt="3">
        <dgm:presLayoutVars>
          <dgm:bulletEnabled val="1"/>
        </dgm:presLayoutVars>
      </dgm:prSet>
      <dgm:spPr/>
    </dgm:pt>
    <dgm:pt modelId="{2F5EFC51-1226-4055-A2E5-19EF4EED8D4A}" type="pres">
      <dgm:prSet presAssocID="{03C2C24E-576D-4A09-B486-B5C13737974E}" presName="level" presStyleLbl="node1" presStyleIdx="2" presStyleCnt="3">
        <dgm:presLayoutVars>
          <dgm:chMax val="1"/>
          <dgm:bulletEnabled val="1"/>
        </dgm:presLayoutVars>
      </dgm:prSet>
      <dgm:spPr/>
    </dgm:pt>
    <dgm:pt modelId="{F93724F5-0237-48E8-938B-7C8FF7A5FF26}" type="pres">
      <dgm:prSet presAssocID="{03C2C24E-576D-4A09-B486-B5C13737974E}" presName="levelTx" presStyleLbl="revTx" presStyleIdx="0" presStyleCnt="0">
        <dgm:presLayoutVars>
          <dgm:chMax val="1"/>
          <dgm:bulletEnabled val="1"/>
        </dgm:presLayoutVars>
      </dgm:prSet>
      <dgm:spPr/>
    </dgm:pt>
  </dgm:ptLst>
  <dgm:cxnLst>
    <dgm:cxn modelId="{A6900500-60B5-4A5B-8E55-8DA89ED478ED}" srcId="{03C2C24E-576D-4A09-B486-B5C13737974E}" destId="{EA8AD0C4-DB7C-4345-866F-E967B81F203C}" srcOrd="1" destOrd="0" parTransId="{5642EC5E-5DFA-49EB-A2EF-1F0AAF27F2CD}" sibTransId="{D8E266F3-786A-4D7A-97D3-778F7CE91FF0}"/>
    <dgm:cxn modelId="{2759DD02-ABDC-45A5-8ACA-BE456E8856C4}" type="presOf" srcId="{F8FBB57A-DB66-448A-829A-26EF690622B7}" destId="{17B20A35-A1C3-4803-B28A-65898490176B}" srcOrd="0" destOrd="0" presId="urn:microsoft.com/office/officeart/2005/8/layout/pyramid3"/>
    <dgm:cxn modelId="{EC36410C-1A1A-4CFA-8FD0-8EFBB4D830A5}" type="presOf" srcId="{466F8007-277D-465C-984D-A741EEFD94CC}" destId="{61C567EC-FC9E-4F0B-A212-8783C62465B5}" srcOrd="0" destOrd="0" presId="urn:microsoft.com/office/officeart/2005/8/layout/pyramid3"/>
    <dgm:cxn modelId="{BBEE2712-BDAF-4B20-9889-26EEEEB6F48C}" type="presOf" srcId="{D9236418-9B3A-426D-9A22-223FD2352B85}" destId="{7EF42DDD-FDCC-49CB-9021-D84362BF20EC}" srcOrd="0" destOrd="2" presId="urn:microsoft.com/office/officeart/2005/8/layout/pyramid3"/>
    <dgm:cxn modelId="{6F15F312-D614-485C-827A-408A23A058A4}" type="presOf" srcId="{309850D1-E13D-490A-AADA-75362DC6A440}" destId="{452B2BFE-3201-4400-81C9-578742B7929A}" srcOrd="0" destOrd="1" presId="urn:microsoft.com/office/officeart/2005/8/layout/pyramid3"/>
    <dgm:cxn modelId="{DFF6A91D-B4F1-4944-9635-54D2488761F4}" type="presOf" srcId="{F4CA3CE1-62F8-4F79-A81B-9588838CD976}" destId="{182B42A8-422F-46AF-A068-B9B20284D63C}" srcOrd="0" destOrd="0" presId="urn:microsoft.com/office/officeart/2005/8/layout/pyramid3"/>
    <dgm:cxn modelId="{F2BDAC20-A6E5-41F6-9D06-9D61BAE08765}" srcId="{A6F07AB3-1BF3-4829-8001-CE809A180E51}" destId="{F8FBB57A-DB66-448A-829A-26EF690622B7}" srcOrd="1" destOrd="0" parTransId="{3683552F-9D82-4EC8-B2C2-495BB16DF2D2}" sibTransId="{88A016FB-ADBD-49F6-B311-D79AE36F873A}"/>
    <dgm:cxn modelId="{5EC13725-BC40-4755-8FCC-A431BDE0778A}" srcId="{03C2C24E-576D-4A09-B486-B5C13737974E}" destId="{D9236418-9B3A-426D-9A22-223FD2352B85}" srcOrd="2" destOrd="0" parTransId="{255CD1E7-8058-4676-8FF5-20F730453860}" sibTransId="{75F2EA8B-242C-4C6A-B6E5-B62FFCF437CC}"/>
    <dgm:cxn modelId="{F5CEAA31-F12C-48ED-A717-AB284AB9D5A4}" srcId="{F8FBB57A-DB66-448A-829A-26EF690622B7}" destId="{9DB2B017-D46E-497C-B037-D2050C7C00E0}" srcOrd="0" destOrd="0" parTransId="{A7DF3F73-2635-40DF-9571-7C910D767712}" sibTransId="{D281120B-C51A-4176-A17E-86E9140051EC}"/>
    <dgm:cxn modelId="{D7AB133F-4034-4B14-86A9-563C995B1FE6}" type="presOf" srcId="{03C2C24E-576D-4A09-B486-B5C13737974E}" destId="{2F5EFC51-1226-4055-A2E5-19EF4EED8D4A}" srcOrd="0" destOrd="0" presId="urn:microsoft.com/office/officeart/2005/8/layout/pyramid3"/>
    <dgm:cxn modelId="{47C51161-34C2-40EA-BD11-161063993A00}" type="presOf" srcId="{F4CA3CE1-62F8-4F79-A81B-9588838CD976}" destId="{7C3A8E02-B603-47B3-9E21-0280002C0ADC}" srcOrd="1" destOrd="0" presId="urn:microsoft.com/office/officeart/2005/8/layout/pyramid3"/>
    <dgm:cxn modelId="{8620D145-C783-4369-BD42-990B53CF1E98}" type="presOf" srcId="{9DB2B017-D46E-497C-B037-D2050C7C00E0}" destId="{452B2BFE-3201-4400-81C9-578742B7929A}" srcOrd="0" destOrd="0" presId="urn:microsoft.com/office/officeart/2005/8/layout/pyramid3"/>
    <dgm:cxn modelId="{84914A49-5709-4E95-8353-E98190C93C0D}" type="presOf" srcId="{309850D1-E13D-490A-AADA-75362DC6A440}" destId="{F9F7B958-6089-4C33-A7FD-2D0555D5364C}" srcOrd="1" destOrd="1" presId="urn:microsoft.com/office/officeart/2005/8/layout/pyramid3"/>
    <dgm:cxn modelId="{9CDC956F-703C-4A11-BAA8-E1BBF78750A1}" type="presOf" srcId="{D5C1E5E8-7DB5-49D6-84D1-1C64EDFAD893}" destId="{61408D8A-2FE7-42C5-AAC0-79CCCAA5496E}" srcOrd="1" destOrd="0" presId="urn:microsoft.com/office/officeart/2005/8/layout/pyramid3"/>
    <dgm:cxn modelId="{AD8E5577-392E-4173-BF1E-B30FAD823DA0}" srcId="{466F8007-277D-465C-984D-A741EEFD94CC}" destId="{F4CA3CE1-62F8-4F79-A81B-9588838CD976}" srcOrd="0" destOrd="0" parTransId="{622BB51E-9F2B-47C2-94EC-94DE8C41E22B}" sibTransId="{E7BBE093-9A90-4298-A5E1-6E3B19CA5CD1}"/>
    <dgm:cxn modelId="{56E7E37E-FF2F-4529-9684-974C682EC8F3}" type="presOf" srcId="{D9236418-9B3A-426D-9A22-223FD2352B85}" destId="{61408D8A-2FE7-42C5-AAC0-79CCCAA5496E}" srcOrd="1" destOrd="2" presId="urn:microsoft.com/office/officeart/2005/8/layout/pyramid3"/>
    <dgm:cxn modelId="{1B364A8E-B005-425A-89D6-0FE7BA2A20AF}" type="presOf" srcId="{03C2C24E-576D-4A09-B486-B5C13737974E}" destId="{F93724F5-0237-48E8-938B-7C8FF7A5FF26}" srcOrd="1" destOrd="0" presId="urn:microsoft.com/office/officeart/2005/8/layout/pyramid3"/>
    <dgm:cxn modelId="{A4C4649B-436D-48D5-A6DE-28DDBB2A3A5D}" type="presOf" srcId="{9DB2B017-D46E-497C-B037-D2050C7C00E0}" destId="{F9F7B958-6089-4C33-A7FD-2D0555D5364C}" srcOrd="1" destOrd="0" presId="urn:microsoft.com/office/officeart/2005/8/layout/pyramid3"/>
    <dgm:cxn modelId="{A1232CAA-83C8-4ED0-B29E-77DB75DCFA1A}" srcId="{A6F07AB3-1BF3-4829-8001-CE809A180E51}" destId="{466F8007-277D-465C-984D-A741EEFD94CC}" srcOrd="0" destOrd="0" parTransId="{2027EB42-B2C2-41A2-BEF6-A89295225688}" sibTransId="{4FC089ED-BC55-4038-9B2A-43774CB09856}"/>
    <dgm:cxn modelId="{B20278BE-0323-4FE5-BB47-2CE15076ECA6}" type="presOf" srcId="{D5C1E5E8-7DB5-49D6-84D1-1C64EDFAD893}" destId="{7EF42DDD-FDCC-49CB-9021-D84362BF20EC}" srcOrd="0" destOrd="0" presId="urn:microsoft.com/office/officeart/2005/8/layout/pyramid3"/>
    <dgm:cxn modelId="{84A520C2-3744-48EC-B3BB-60D9B18551D4}" srcId="{03C2C24E-576D-4A09-B486-B5C13737974E}" destId="{D5C1E5E8-7DB5-49D6-84D1-1C64EDFAD893}" srcOrd="0" destOrd="0" parTransId="{7B5CCA21-EA5B-4F3B-8BB5-68C25C5A10F4}" sibTransId="{35C4792E-E431-43CB-B689-8AA2EBA87736}"/>
    <dgm:cxn modelId="{538380C2-D006-4F03-B5D7-456F14775883}" type="presOf" srcId="{A6F07AB3-1BF3-4829-8001-CE809A180E51}" destId="{E59D58C1-31A7-4340-9F7A-87065656171F}" srcOrd="0" destOrd="0" presId="urn:microsoft.com/office/officeart/2005/8/layout/pyramid3"/>
    <dgm:cxn modelId="{32932FC8-D029-4249-A5CF-7CB50859E636}" srcId="{A6F07AB3-1BF3-4829-8001-CE809A180E51}" destId="{03C2C24E-576D-4A09-B486-B5C13737974E}" srcOrd="2" destOrd="0" parTransId="{8AE64A15-67AE-4224-9603-ACFBDFBD5983}" sibTransId="{9E7A950D-3B55-4A9A-BC8A-F8210A3CBFA4}"/>
    <dgm:cxn modelId="{B88717DE-6CD5-4F6B-9711-E4654302ADDA}" type="presOf" srcId="{F8FBB57A-DB66-448A-829A-26EF690622B7}" destId="{7968A331-B959-4E61-89D5-EDF76614F76D}" srcOrd="1" destOrd="0" presId="urn:microsoft.com/office/officeart/2005/8/layout/pyramid3"/>
    <dgm:cxn modelId="{419D26E2-7F94-4FCB-9504-75BC9D6F2BF0}" type="presOf" srcId="{466F8007-277D-465C-984D-A741EEFD94CC}" destId="{66FD0B09-192B-4CDB-B32B-FB737D6D80FD}" srcOrd="1" destOrd="0" presId="urn:microsoft.com/office/officeart/2005/8/layout/pyramid3"/>
    <dgm:cxn modelId="{67405AE6-890F-4B43-8D08-84A5813BEF40}" type="presOf" srcId="{EA8AD0C4-DB7C-4345-866F-E967B81F203C}" destId="{7EF42DDD-FDCC-49CB-9021-D84362BF20EC}" srcOrd="0" destOrd="1" presId="urn:microsoft.com/office/officeart/2005/8/layout/pyramid3"/>
    <dgm:cxn modelId="{FAC0B4E7-1BDF-46D7-B848-E1EBC016AB02}" srcId="{9DB2B017-D46E-497C-B037-D2050C7C00E0}" destId="{309850D1-E13D-490A-AADA-75362DC6A440}" srcOrd="0" destOrd="0" parTransId="{D47D285A-9DEA-48AD-9116-DC2CD8A077DE}" sibTransId="{3FF1320D-8330-4CE7-9241-527550B07EFD}"/>
    <dgm:cxn modelId="{F04538F9-0C5F-4018-A317-EF173CE41AF2}" type="presOf" srcId="{EA8AD0C4-DB7C-4345-866F-E967B81F203C}" destId="{61408D8A-2FE7-42C5-AAC0-79CCCAA5496E}" srcOrd="1" destOrd="1" presId="urn:microsoft.com/office/officeart/2005/8/layout/pyramid3"/>
    <dgm:cxn modelId="{ED59E1C8-FF4D-4FC4-9A30-A67ED2F8E722}" type="presParOf" srcId="{E59D58C1-31A7-4340-9F7A-87065656171F}" destId="{805E16B6-A0E0-43B7-8933-ECC249DDC3FC}" srcOrd="0" destOrd="0" presId="urn:microsoft.com/office/officeart/2005/8/layout/pyramid3"/>
    <dgm:cxn modelId="{E52995C1-0575-47DB-81DE-DA3B938BBA92}" type="presParOf" srcId="{805E16B6-A0E0-43B7-8933-ECC249DDC3FC}" destId="{182B42A8-422F-46AF-A068-B9B20284D63C}" srcOrd="0" destOrd="0" presId="urn:microsoft.com/office/officeart/2005/8/layout/pyramid3"/>
    <dgm:cxn modelId="{BE4C2D5A-E50D-4761-B66B-358D37A8DB76}" type="presParOf" srcId="{805E16B6-A0E0-43B7-8933-ECC249DDC3FC}" destId="{7C3A8E02-B603-47B3-9E21-0280002C0ADC}" srcOrd="1" destOrd="0" presId="urn:microsoft.com/office/officeart/2005/8/layout/pyramid3"/>
    <dgm:cxn modelId="{908BB8B6-45A8-4EC4-A7CD-7CAD619C3F04}" type="presParOf" srcId="{805E16B6-A0E0-43B7-8933-ECC249DDC3FC}" destId="{61C567EC-FC9E-4F0B-A212-8783C62465B5}" srcOrd="2" destOrd="0" presId="urn:microsoft.com/office/officeart/2005/8/layout/pyramid3"/>
    <dgm:cxn modelId="{200DD76F-C574-409F-A04E-682A1E6C886F}" type="presParOf" srcId="{805E16B6-A0E0-43B7-8933-ECC249DDC3FC}" destId="{66FD0B09-192B-4CDB-B32B-FB737D6D80FD}" srcOrd="3" destOrd="0" presId="urn:microsoft.com/office/officeart/2005/8/layout/pyramid3"/>
    <dgm:cxn modelId="{8230CDD6-69F3-4DA1-9B5A-9855FFD54955}" type="presParOf" srcId="{E59D58C1-31A7-4340-9F7A-87065656171F}" destId="{70531DB9-47EB-47DF-AF61-22D408F2B8A9}" srcOrd="1" destOrd="0" presId="urn:microsoft.com/office/officeart/2005/8/layout/pyramid3"/>
    <dgm:cxn modelId="{3A6813C4-EB3E-4975-970E-A82A6EBB3660}" type="presParOf" srcId="{70531DB9-47EB-47DF-AF61-22D408F2B8A9}" destId="{452B2BFE-3201-4400-81C9-578742B7929A}" srcOrd="0" destOrd="0" presId="urn:microsoft.com/office/officeart/2005/8/layout/pyramid3"/>
    <dgm:cxn modelId="{06DD8F8E-09B3-4AAE-ACC7-EDBE404B98E5}" type="presParOf" srcId="{70531DB9-47EB-47DF-AF61-22D408F2B8A9}" destId="{F9F7B958-6089-4C33-A7FD-2D0555D5364C}" srcOrd="1" destOrd="0" presId="urn:microsoft.com/office/officeart/2005/8/layout/pyramid3"/>
    <dgm:cxn modelId="{6E8D2E58-524B-4DB3-8214-C3B9F5B1EB72}" type="presParOf" srcId="{70531DB9-47EB-47DF-AF61-22D408F2B8A9}" destId="{17B20A35-A1C3-4803-B28A-65898490176B}" srcOrd="2" destOrd="0" presId="urn:microsoft.com/office/officeart/2005/8/layout/pyramid3"/>
    <dgm:cxn modelId="{1E0D4092-EBBD-4C18-BC36-5BEB1C655199}" type="presParOf" srcId="{70531DB9-47EB-47DF-AF61-22D408F2B8A9}" destId="{7968A331-B959-4E61-89D5-EDF76614F76D}" srcOrd="3" destOrd="0" presId="urn:microsoft.com/office/officeart/2005/8/layout/pyramid3"/>
    <dgm:cxn modelId="{00E9009D-65A3-4D6D-A393-1EE64AC95343}" type="presParOf" srcId="{E59D58C1-31A7-4340-9F7A-87065656171F}" destId="{30ED65CD-E9B7-4716-8069-BB531DA6CE27}" srcOrd="2" destOrd="0" presId="urn:microsoft.com/office/officeart/2005/8/layout/pyramid3"/>
    <dgm:cxn modelId="{7E5EA41C-04E6-4208-80EC-03224C64F444}" type="presParOf" srcId="{30ED65CD-E9B7-4716-8069-BB531DA6CE27}" destId="{7EF42DDD-FDCC-49CB-9021-D84362BF20EC}" srcOrd="0" destOrd="0" presId="urn:microsoft.com/office/officeart/2005/8/layout/pyramid3"/>
    <dgm:cxn modelId="{DED710ED-A2F7-4C61-8BEA-8CA4ED2FBC7B}" type="presParOf" srcId="{30ED65CD-E9B7-4716-8069-BB531DA6CE27}" destId="{61408D8A-2FE7-42C5-AAC0-79CCCAA5496E}" srcOrd="1" destOrd="0" presId="urn:microsoft.com/office/officeart/2005/8/layout/pyramid3"/>
    <dgm:cxn modelId="{B2884593-8484-4F25-A060-BEE9D560EED3}" type="presParOf" srcId="{30ED65CD-E9B7-4716-8069-BB531DA6CE27}" destId="{2F5EFC51-1226-4055-A2E5-19EF4EED8D4A}" srcOrd="2" destOrd="0" presId="urn:microsoft.com/office/officeart/2005/8/layout/pyramid3"/>
    <dgm:cxn modelId="{42F2BECF-83F7-4159-8F23-F57D72955EF5}" type="presParOf" srcId="{30ED65CD-E9B7-4716-8069-BB531DA6CE27}" destId="{F93724F5-0237-48E8-938B-7C8FF7A5FF26}" srcOrd="3" destOrd="0" presId="urn:microsoft.com/office/officeart/2005/8/layout/pyramid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F07AB3-1BF3-4829-8001-CE809A180E51}" type="doc">
      <dgm:prSet loTypeId="urn:microsoft.com/office/officeart/2005/8/layout/pyramid3" loCatId="pyramid" qsTypeId="urn:microsoft.com/office/officeart/2005/8/quickstyle/simple1" qsCatId="simple" csTypeId="urn:microsoft.com/office/officeart/2005/8/colors/colorful5" csCatId="colorful" phldr="1"/>
      <dgm:spPr/>
      <dgm:t>
        <a:bodyPr/>
        <a:lstStyle/>
        <a:p>
          <a:endParaRPr lang="en-US"/>
        </a:p>
      </dgm:t>
    </dgm:pt>
    <dgm:pt modelId="{466F8007-277D-465C-984D-A741EEFD94CC}">
      <dgm:prSet/>
      <dgm:spPr/>
      <dgm:t>
        <a:bodyPr/>
        <a:lstStyle/>
        <a:p>
          <a:pPr>
            <a:lnSpc>
              <a:spcPct val="100000"/>
            </a:lnSpc>
          </a:pPr>
          <a:r>
            <a:rPr lang="en-US" dirty="0"/>
            <a:t>IEA/OECD</a:t>
          </a:r>
        </a:p>
        <a:p>
          <a:pPr>
            <a:lnSpc>
              <a:spcPct val="100000"/>
            </a:lnSpc>
          </a:pPr>
          <a:r>
            <a:rPr lang="en-US" dirty="0"/>
            <a:t>PISA rankings</a:t>
          </a:r>
        </a:p>
      </dgm:t>
    </dgm:pt>
    <dgm:pt modelId="{2027EB42-B2C2-41A2-BEF6-A89295225688}" type="parTrans" cxnId="{A1232CAA-83C8-4ED0-B29E-77DB75DCFA1A}">
      <dgm:prSet/>
      <dgm:spPr/>
      <dgm:t>
        <a:bodyPr/>
        <a:lstStyle/>
        <a:p>
          <a:endParaRPr lang="en-US"/>
        </a:p>
      </dgm:t>
    </dgm:pt>
    <dgm:pt modelId="{4FC089ED-BC55-4038-9B2A-43774CB09856}" type="sibTrans" cxnId="{A1232CAA-83C8-4ED0-B29E-77DB75DCFA1A}">
      <dgm:prSet/>
      <dgm:spPr/>
      <dgm:t>
        <a:bodyPr/>
        <a:lstStyle/>
        <a:p>
          <a:endParaRPr lang="en-US"/>
        </a:p>
      </dgm:t>
    </dgm:pt>
    <dgm:pt modelId="{F8FBB57A-DB66-448A-829A-26EF690622B7}">
      <dgm:prSe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600" dirty="0"/>
            <a:t>US and School States/Districts</a:t>
          </a:r>
        </a:p>
      </dgm:t>
    </dgm:pt>
    <dgm:pt modelId="{3683552F-9D82-4EC8-B2C2-495BB16DF2D2}" type="parTrans" cxnId="{F2BDAC20-A6E5-41F6-9D06-9D61BAE08765}">
      <dgm:prSet/>
      <dgm:spPr/>
      <dgm:t>
        <a:bodyPr/>
        <a:lstStyle/>
        <a:p>
          <a:endParaRPr lang="en-US"/>
        </a:p>
      </dgm:t>
    </dgm:pt>
    <dgm:pt modelId="{88A016FB-ADBD-49F6-B311-D79AE36F873A}" type="sibTrans" cxnId="{F2BDAC20-A6E5-41F6-9D06-9D61BAE08765}">
      <dgm:prSet/>
      <dgm:spPr/>
      <dgm:t>
        <a:bodyPr/>
        <a:lstStyle/>
        <a:p>
          <a:endParaRPr lang="en-US"/>
        </a:p>
      </dgm:t>
    </dgm:pt>
    <dgm:pt modelId="{9DB2B017-D46E-497C-B037-D2050C7C00E0}">
      <dgm:prSet/>
      <dgm:spPr/>
      <dgm:t>
        <a:bodyPr/>
        <a:lstStyle/>
        <a:p>
          <a:pPr>
            <a:lnSpc>
              <a:spcPct val="100000"/>
            </a:lnSpc>
          </a:pPr>
          <a:r>
            <a:rPr lang="en-US"/>
            <a:t>Education factors</a:t>
          </a:r>
          <a:endParaRPr lang="en-US" dirty="0"/>
        </a:p>
      </dgm:t>
    </dgm:pt>
    <dgm:pt modelId="{A7DF3F73-2635-40DF-9571-7C910D767712}" type="parTrans" cxnId="{F5CEAA31-F12C-48ED-A717-AB284AB9D5A4}">
      <dgm:prSet/>
      <dgm:spPr/>
      <dgm:t>
        <a:bodyPr/>
        <a:lstStyle/>
        <a:p>
          <a:endParaRPr lang="en-US"/>
        </a:p>
      </dgm:t>
    </dgm:pt>
    <dgm:pt modelId="{D281120B-C51A-4176-A17E-86E9140051EC}" type="sibTrans" cxnId="{F5CEAA31-F12C-48ED-A717-AB284AB9D5A4}">
      <dgm:prSet/>
      <dgm:spPr/>
      <dgm:t>
        <a:bodyPr/>
        <a:lstStyle/>
        <a:p>
          <a:endParaRPr lang="en-US"/>
        </a:p>
      </dgm:t>
    </dgm:pt>
    <dgm:pt modelId="{309850D1-E13D-490A-AADA-75362DC6A440}">
      <dgm:prSet/>
      <dgm:spPr/>
      <dgm:t>
        <a:bodyPr/>
        <a:lstStyle/>
        <a:p>
          <a:r>
            <a:rPr lang="en-US" dirty="0"/>
            <a:t>math &amp; science, student/teacher, race,  cost, graduation rates – Identified States based on PISA rankings</a:t>
          </a:r>
        </a:p>
      </dgm:t>
    </dgm:pt>
    <dgm:pt modelId="{D47D285A-9DEA-48AD-9116-DC2CD8A077DE}" type="parTrans" cxnId="{FAC0B4E7-1BDF-46D7-B848-E1EBC016AB02}">
      <dgm:prSet/>
      <dgm:spPr/>
      <dgm:t>
        <a:bodyPr/>
        <a:lstStyle/>
        <a:p>
          <a:endParaRPr lang="en-US"/>
        </a:p>
      </dgm:t>
    </dgm:pt>
    <dgm:pt modelId="{3FF1320D-8330-4CE7-9241-527550B07EFD}" type="sibTrans" cxnId="{FAC0B4E7-1BDF-46D7-B848-E1EBC016AB02}">
      <dgm:prSet/>
      <dgm:spPr/>
      <dgm:t>
        <a:bodyPr/>
        <a:lstStyle/>
        <a:p>
          <a:endParaRPr lang="en-US"/>
        </a:p>
      </dgm:t>
    </dgm:pt>
    <dgm:pt modelId="{03C2C24E-576D-4A09-B486-B5C13737974E}">
      <dgm:prSet/>
      <dgm:spPr>
        <a:solidFill>
          <a:schemeClr val="accent2"/>
        </a:solidFill>
      </dgm:spPr>
      <dgm:t>
        <a:bodyPr anchor="t"/>
        <a:lstStyle/>
        <a:p>
          <a:r>
            <a:rPr lang="en-US" dirty="0"/>
            <a:t>Trends</a:t>
          </a:r>
        </a:p>
      </dgm:t>
    </dgm:pt>
    <dgm:pt modelId="{8AE64A15-67AE-4224-9603-ACFBDFBD5983}" type="parTrans" cxnId="{32932FC8-D029-4249-A5CF-7CB50859E636}">
      <dgm:prSet/>
      <dgm:spPr/>
      <dgm:t>
        <a:bodyPr/>
        <a:lstStyle/>
        <a:p>
          <a:endParaRPr lang="en-US"/>
        </a:p>
      </dgm:t>
    </dgm:pt>
    <dgm:pt modelId="{9E7A950D-3B55-4A9A-BC8A-F8210A3CBFA4}" type="sibTrans" cxnId="{32932FC8-D029-4249-A5CF-7CB50859E636}">
      <dgm:prSet/>
      <dgm:spPr/>
      <dgm:t>
        <a:bodyPr/>
        <a:lstStyle/>
        <a:p>
          <a:endParaRPr lang="en-US"/>
        </a:p>
      </dgm:t>
    </dgm:pt>
    <dgm:pt modelId="{D5C1E5E8-7DB5-49D6-84D1-1C64EDFAD893}">
      <dgm:prSet/>
      <dgm:spPr>
        <a:ln>
          <a:solidFill>
            <a:schemeClr val="accent2"/>
          </a:solidFill>
        </a:ln>
      </dgm:spPr>
      <dgm:t>
        <a:bodyPr/>
        <a:lstStyle/>
        <a:p>
          <a:pPr>
            <a:lnSpc>
              <a:spcPct val="100000"/>
            </a:lnSpc>
          </a:pPr>
          <a:r>
            <a:rPr lang="en-US" dirty="0"/>
            <a:t>ESSA progress statewide initiatives</a:t>
          </a:r>
        </a:p>
      </dgm:t>
    </dgm:pt>
    <dgm:pt modelId="{7B5CCA21-EA5B-4F3B-8BB5-68C25C5A10F4}" type="parTrans" cxnId="{84A520C2-3744-48EC-B3BB-60D9B18551D4}">
      <dgm:prSet/>
      <dgm:spPr/>
      <dgm:t>
        <a:bodyPr/>
        <a:lstStyle/>
        <a:p>
          <a:endParaRPr lang="en-US"/>
        </a:p>
      </dgm:t>
    </dgm:pt>
    <dgm:pt modelId="{35C4792E-E431-43CB-B689-8AA2EBA87736}" type="sibTrans" cxnId="{84A520C2-3744-48EC-B3BB-60D9B18551D4}">
      <dgm:prSet/>
      <dgm:spPr/>
      <dgm:t>
        <a:bodyPr/>
        <a:lstStyle/>
        <a:p>
          <a:endParaRPr lang="en-US"/>
        </a:p>
      </dgm:t>
    </dgm:pt>
    <dgm:pt modelId="{EA8AD0C4-DB7C-4345-866F-E967B81F203C}">
      <dgm:prSet/>
      <dgm:spPr>
        <a:ln>
          <a:solidFill>
            <a:schemeClr val="accent2"/>
          </a:solidFill>
        </a:ln>
      </dgm:spPr>
      <dgm:t>
        <a:bodyPr/>
        <a:lstStyle/>
        <a:p>
          <a:pPr>
            <a:lnSpc>
              <a:spcPct val="100000"/>
            </a:lnSpc>
          </a:pPr>
          <a:r>
            <a:rPr lang="en-US" dirty="0"/>
            <a:t>Competency Based Education policy trends</a:t>
          </a:r>
        </a:p>
      </dgm:t>
    </dgm:pt>
    <dgm:pt modelId="{5642EC5E-5DFA-49EB-A2EF-1F0AAF27F2CD}" type="parTrans" cxnId="{A6900500-60B5-4A5B-8E55-8DA89ED478ED}">
      <dgm:prSet/>
      <dgm:spPr/>
      <dgm:t>
        <a:bodyPr/>
        <a:lstStyle/>
        <a:p>
          <a:endParaRPr lang="en-US"/>
        </a:p>
      </dgm:t>
    </dgm:pt>
    <dgm:pt modelId="{D8E266F3-786A-4D7A-97D3-778F7CE91FF0}" type="sibTrans" cxnId="{A6900500-60B5-4A5B-8E55-8DA89ED478ED}">
      <dgm:prSet/>
      <dgm:spPr/>
      <dgm:t>
        <a:bodyPr/>
        <a:lstStyle/>
        <a:p>
          <a:endParaRPr lang="en-US"/>
        </a:p>
      </dgm:t>
    </dgm:pt>
    <dgm:pt modelId="{F4CA3CE1-62F8-4F79-A81B-9588838CD976}">
      <dgm:prSet/>
      <dgm:spPr/>
      <dgm:t>
        <a:bodyPr/>
        <a:lstStyle/>
        <a:p>
          <a:pPr>
            <a:lnSpc>
              <a:spcPct val="100000"/>
            </a:lnSpc>
          </a:pPr>
          <a:r>
            <a:rPr lang="en-US" dirty="0"/>
            <a:t>INTL rankings: PISA, TIMMS, &amp; PIRLS: Top and Bottom US states in ranking</a:t>
          </a:r>
        </a:p>
      </dgm:t>
    </dgm:pt>
    <dgm:pt modelId="{622BB51E-9F2B-47C2-94EC-94DE8C41E22B}" type="parTrans" cxnId="{AD8E5577-392E-4173-BF1E-B30FAD823DA0}">
      <dgm:prSet/>
      <dgm:spPr/>
      <dgm:t>
        <a:bodyPr/>
        <a:lstStyle/>
        <a:p>
          <a:endParaRPr lang="en-US"/>
        </a:p>
      </dgm:t>
    </dgm:pt>
    <dgm:pt modelId="{E7BBE093-9A90-4298-A5E1-6E3B19CA5CD1}" type="sibTrans" cxnId="{AD8E5577-392E-4173-BF1E-B30FAD823DA0}">
      <dgm:prSet/>
      <dgm:spPr/>
      <dgm:t>
        <a:bodyPr/>
        <a:lstStyle/>
        <a:p>
          <a:endParaRPr lang="en-US"/>
        </a:p>
      </dgm:t>
    </dgm:pt>
    <dgm:pt modelId="{D9236418-9B3A-426D-9A22-223FD2352B85}">
      <dgm:prSet/>
      <dgm:spPr>
        <a:ln>
          <a:solidFill>
            <a:schemeClr val="accent2"/>
          </a:solidFill>
        </a:ln>
      </dgm:spPr>
      <dgm:t>
        <a:bodyPr/>
        <a:lstStyle/>
        <a:p>
          <a:pPr>
            <a:lnSpc>
              <a:spcPct val="100000"/>
            </a:lnSpc>
          </a:pPr>
          <a:r>
            <a:rPr lang="en-US" dirty="0"/>
            <a:t>New Hampshire leading toward CBE</a:t>
          </a:r>
        </a:p>
      </dgm:t>
    </dgm:pt>
    <dgm:pt modelId="{255CD1E7-8058-4676-8FF5-20F730453860}" type="parTrans" cxnId="{5EC13725-BC40-4755-8FCC-A431BDE0778A}">
      <dgm:prSet/>
      <dgm:spPr/>
      <dgm:t>
        <a:bodyPr/>
        <a:lstStyle/>
        <a:p>
          <a:endParaRPr lang="en-US"/>
        </a:p>
      </dgm:t>
    </dgm:pt>
    <dgm:pt modelId="{75F2EA8B-242C-4C6A-B6E5-B62FFCF437CC}" type="sibTrans" cxnId="{5EC13725-BC40-4755-8FCC-A431BDE0778A}">
      <dgm:prSet/>
      <dgm:spPr/>
      <dgm:t>
        <a:bodyPr/>
        <a:lstStyle/>
        <a:p>
          <a:endParaRPr lang="en-US"/>
        </a:p>
      </dgm:t>
    </dgm:pt>
    <dgm:pt modelId="{E59D58C1-31A7-4340-9F7A-87065656171F}" type="pres">
      <dgm:prSet presAssocID="{A6F07AB3-1BF3-4829-8001-CE809A180E51}" presName="Name0" presStyleCnt="0">
        <dgm:presLayoutVars>
          <dgm:dir/>
          <dgm:animLvl val="lvl"/>
          <dgm:resizeHandles val="exact"/>
        </dgm:presLayoutVars>
      </dgm:prSet>
      <dgm:spPr/>
    </dgm:pt>
    <dgm:pt modelId="{805E16B6-A0E0-43B7-8933-ECC249DDC3FC}" type="pres">
      <dgm:prSet presAssocID="{466F8007-277D-465C-984D-A741EEFD94CC}" presName="Name8" presStyleCnt="0"/>
      <dgm:spPr/>
    </dgm:pt>
    <dgm:pt modelId="{182B42A8-422F-46AF-A068-B9B20284D63C}" type="pres">
      <dgm:prSet presAssocID="{466F8007-277D-465C-984D-A741EEFD94CC}" presName="acctBkgd" presStyleLbl="alignAcc1" presStyleIdx="0" presStyleCnt="3"/>
      <dgm:spPr/>
    </dgm:pt>
    <dgm:pt modelId="{7C3A8E02-B603-47B3-9E21-0280002C0ADC}" type="pres">
      <dgm:prSet presAssocID="{466F8007-277D-465C-984D-A741EEFD94CC}" presName="acctTx" presStyleLbl="alignAcc1" presStyleIdx="0" presStyleCnt="3">
        <dgm:presLayoutVars>
          <dgm:bulletEnabled val="1"/>
        </dgm:presLayoutVars>
      </dgm:prSet>
      <dgm:spPr/>
    </dgm:pt>
    <dgm:pt modelId="{61C567EC-FC9E-4F0B-A212-8783C62465B5}" type="pres">
      <dgm:prSet presAssocID="{466F8007-277D-465C-984D-A741EEFD94CC}" presName="level" presStyleLbl="node1" presStyleIdx="0" presStyleCnt="3">
        <dgm:presLayoutVars>
          <dgm:chMax val="1"/>
          <dgm:bulletEnabled val="1"/>
        </dgm:presLayoutVars>
      </dgm:prSet>
      <dgm:spPr/>
    </dgm:pt>
    <dgm:pt modelId="{66FD0B09-192B-4CDB-B32B-FB737D6D80FD}" type="pres">
      <dgm:prSet presAssocID="{466F8007-277D-465C-984D-A741EEFD94CC}" presName="levelTx" presStyleLbl="revTx" presStyleIdx="0" presStyleCnt="0">
        <dgm:presLayoutVars>
          <dgm:chMax val="1"/>
          <dgm:bulletEnabled val="1"/>
        </dgm:presLayoutVars>
      </dgm:prSet>
      <dgm:spPr/>
    </dgm:pt>
    <dgm:pt modelId="{70531DB9-47EB-47DF-AF61-22D408F2B8A9}" type="pres">
      <dgm:prSet presAssocID="{F8FBB57A-DB66-448A-829A-26EF690622B7}" presName="Name8" presStyleCnt="0"/>
      <dgm:spPr/>
    </dgm:pt>
    <dgm:pt modelId="{452B2BFE-3201-4400-81C9-578742B7929A}" type="pres">
      <dgm:prSet presAssocID="{F8FBB57A-DB66-448A-829A-26EF690622B7}" presName="acctBkgd" presStyleLbl="alignAcc1" presStyleIdx="1" presStyleCnt="3"/>
      <dgm:spPr/>
    </dgm:pt>
    <dgm:pt modelId="{F9F7B958-6089-4C33-A7FD-2D0555D5364C}" type="pres">
      <dgm:prSet presAssocID="{F8FBB57A-DB66-448A-829A-26EF690622B7}" presName="acctTx" presStyleLbl="alignAcc1" presStyleIdx="1" presStyleCnt="3">
        <dgm:presLayoutVars>
          <dgm:bulletEnabled val="1"/>
        </dgm:presLayoutVars>
      </dgm:prSet>
      <dgm:spPr/>
    </dgm:pt>
    <dgm:pt modelId="{17B20A35-A1C3-4803-B28A-65898490176B}" type="pres">
      <dgm:prSet presAssocID="{F8FBB57A-DB66-448A-829A-26EF690622B7}" presName="level" presStyleLbl="node1" presStyleIdx="1" presStyleCnt="3">
        <dgm:presLayoutVars>
          <dgm:chMax val="1"/>
          <dgm:bulletEnabled val="1"/>
        </dgm:presLayoutVars>
      </dgm:prSet>
      <dgm:spPr/>
    </dgm:pt>
    <dgm:pt modelId="{7968A331-B959-4E61-89D5-EDF76614F76D}" type="pres">
      <dgm:prSet presAssocID="{F8FBB57A-DB66-448A-829A-26EF690622B7}" presName="levelTx" presStyleLbl="revTx" presStyleIdx="0" presStyleCnt="0">
        <dgm:presLayoutVars>
          <dgm:chMax val="1"/>
          <dgm:bulletEnabled val="1"/>
        </dgm:presLayoutVars>
      </dgm:prSet>
      <dgm:spPr/>
    </dgm:pt>
    <dgm:pt modelId="{30ED65CD-E9B7-4716-8069-BB531DA6CE27}" type="pres">
      <dgm:prSet presAssocID="{03C2C24E-576D-4A09-B486-B5C13737974E}" presName="Name8" presStyleCnt="0"/>
      <dgm:spPr/>
    </dgm:pt>
    <dgm:pt modelId="{7EF42DDD-FDCC-49CB-9021-D84362BF20EC}" type="pres">
      <dgm:prSet presAssocID="{03C2C24E-576D-4A09-B486-B5C13737974E}" presName="acctBkgd" presStyleLbl="alignAcc1" presStyleIdx="2" presStyleCnt="3"/>
      <dgm:spPr/>
    </dgm:pt>
    <dgm:pt modelId="{61408D8A-2FE7-42C5-AAC0-79CCCAA5496E}" type="pres">
      <dgm:prSet presAssocID="{03C2C24E-576D-4A09-B486-B5C13737974E}" presName="acctTx" presStyleLbl="alignAcc1" presStyleIdx="2" presStyleCnt="3">
        <dgm:presLayoutVars>
          <dgm:bulletEnabled val="1"/>
        </dgm:presLayoutVars>
      </dgm:prSet>
      <dgm:spPr/>
    </dgm:pt>
    <dgm:pt modelId="{2F5EFC51-1226-4055-A2E5-19EF4EED8D4A}" type="pres">
      <dgm:prSet presAssocID="{03C2C24E-576D-4A09-B486-B5C13737974E}" presName="level" presStyleLbl="node1" presStyleIdx="2" presStyleCnt="3">
        <dgm:presLayoutVars>
          <dgm:chMax val="1"/>
          <dgm:bulletEnabled val="1"/>
        </dgm:presLayoutVars>
      </dgm:prSet>
      <dgm:spPr/>
    </dgm:pt>
    <dgm:pt modelId="{F93724F5-0237-48E8-938B-7C8FF7A5FF26}" type="pres">
      <dgm:prSet presAssocID="{03C2C24E-576D-4A09-B486-B5C13737974E}" presName="levelTx" presStyleLbl="revTx" presStyleIdx="0" presStyleCnt="0">
        <dgm:presLayoutVars>
          <dgm:chMax val="1"/>
          <dgm:bulletEnabled val="1"/>
        </dgm:presLayoutVars>
      </dgm:prSet>
      <dgm:spPr/>
    </dgm:pt>
  </dgm:ptLst>
  <dgm:cxnLst>
    <dgm:cxn modelId="{A6900500-60B5-4A5B-8E55-8DA89ED478ED}" srcId="{03C2C24E-576D-4A09-B486-B5C13737974E}" destId="{EA8AD0C4-DB7C-4345-866F-E967B81F203C}" srcOrd="1" destOrd="0" parTransId="{5642EC5E-5DFA-49EB-A2EF-1F0AAF27F2CD}" sibTransId="{D8E266F3-786A-4D7A-97D3-778F7CE91FF0}"/>
    <dgm:cxn modelId="{2759DD02-ABDC-45A5-8ACA-BE456E8856C4}" type="presOf" srcId="{F8FBB57A-DB66-448A-829A-26EF690622B7}" destId="{17B20A35-A1C3-4803-B28A-65898490176B}" srcOrd="0" destOrd="0" presId="urn:microsoft.com/office/officeart/2005/8/layout/pyramid3"/>
    <dgm:cxn modelId="{EC36410C-1A1A-4CFA-8FD0-8EFBB4D830A5}" type="presOf" srcId="{466F8007-277D-465C-984D-A741EEFD94CC}" destId="{61C567EC-FC9E-4F0B-A212-8783C62465B5}" srcOrd="0" destOrd="0" presId="urn:microsoft.com/office/officeart/2005/8/layout/pyramid3"/>
    <dgm:cxn modelId="{BBEE2712-BDAF-4B20-9889-26EEEEB6F48C}" type="presOf" srcId="{D9236418-9B3A-426D-9A22-223FD2352B85}" destId="{7EF42DDD-FDCC-49CB-9021-D84362BF20EC}" srcOrd="0" destOrd="2" presId="urn:microsoft.com/office/officeart/2005/8/layout/pyramid3"/>
    <dgm:cxn modelId="{6F15F312-D614-485C-827A-408A23A058A4}" type="presOf" srcId="{309850D1-E13D-490A-AADA-75362DC6A440}" destId="{452B2BFE-3201-4400-81C9-578742B7929A}" srcOrd="0" destOrd="1" presId="urn:microsoft.com/office/officeart/2005/8/layout/pyramid3"/>
    <dgm:cxn modelId="{DFF6A91D-B4F1-4944-9635-54D2488761F4}" type="presOf" srcId="{F4CA3CE1-62F8-4F79-A81B-9588838CD976}" destId="{182B42A8-422F-46AF-A068-B9B20284D63C}" srcOrd="0" destOrd="0" presId="urn:microsoft.com/office/officeart/2005/8/layout/pyramid3"/>
    <dgm:cxn modelId="{F2BDAC20-A6E5-41F6-9D06-9D61BAE08765}" srcId="{A6F07AB3-1BF3-4829-8001-CE809A180E51}" destId="{F8FBB57A-DB66-448A-829A-26EF690622B7}" srcOrd="1" destOrd="0" parTransId="{3683552F-9D82-4EC8-B2C2-495BB16DF2D2}" sibTransId="{88A016FB-ADBD-49F6-B311-D79AE36F873A}"/>
    <dgm:cxn modelId="{5EC13725-BC40-4755-8FCC-A431BDE0778A}" srcId="{03C2C24E-576D-4A09-B486-B5C13737974E}" destId="{D9236418-9B3A-426D-9A22-223FD2352B85}" srcOrd="2" destOrd="0" parTransId="{255CD1E7-8058-4676-8FF5-20F730453860}" sibTransId="{75F2EA8B-242C-4C6A-B6E5-B62FFCF437CC}"/>
    <dgm:cxn modelId="{F5CEAA31-F12C-48ED-A717-AB284AB9D5A4}" srcId="{F8FBB57A-DB66-448A-829A-26EF690622B7}" destId="{9DB2B017-D46E-497C-B037-D2050C7C00E0}" srcOrd="0" destOrd="0" parTransId="{A7DF3F73-2635-40DF-9571-7C910D767712}" sibTransId="{D281120B-C51A-4176-A17E-86E9140051EC}"/>
    <dgm:cxn modelId="{D7AB133F-4034-4B14-86A9-563C995B1FE6}" type="presOf" srcId="{03C2C24E-576D-4A09-B486-B5C13737974E}" destId="{2F5EFC51-1226-4055-A2E5-19EF4EED8D4A}" srcOrd="0" destOrd="0" presId="urn:microsoft.com/office/officeart/2005/8/layout/pyramid3"/>
    <dgm:cxn modelId="{47C51161-34C2-40EA-BD11-161063993A00}" type="presOf" srcId="{F4CA3CE1-62F8-4F79-A81B-9588838CD976}" destId="{7C3A8E02-B603-47B3-9E21-0280002C0ADC}" srcOrd="1" destOrd="0" presId="urn:microsoft.com/office/officeart/2005/8/layout/pyramid3"/>
    <dgm:cxn modelId="{8620D145-C783-4369-BD42-990B53CF1E98}" type="presOf" srcId="{9DB2B017-D46E-497C-B037-D2050C7C00E0}" destId="{452B2BFE-3201-4400-81C9-578742B7929A}" srcOrd="0" destOrd="0" presId="urn:microsoft.com/office/officeart/2005/8/layout/pyramid3"/>
    <dgm:cxn modelId="{84914A49-5709-4E95-8353-E98190C93C0D}" type="presOf" srcId="{309850D1-E13D-490A-AADA-75362DC6A440}" destId="{F9F7B958-6089-4C33-A7FD-2D0555D5364C}" srcOrd="1" destOrd="1" presId="urn:microsoft.com/office/officeart/2005/8/layout/pyramid3"/>
    <dgm:cxn modelId="{9CDC956F-703C-4A11-BAA8-E1BBF78750A1}" type="presOf" srcId="{D5C1E5E8-7DB5-49D6-84D1-1C64EDFAD893}" destId="{61408D8A-2FE7-42C5-AAC0-79CCCAA5496E}" srcOrd="1" destOrd="0" presId="urn:microsoft.com/office/officeart/2005/8/layout/pyramid3"/>
    <dgm:cxn modelId="{AD8E5577-392E-4173-BF1E-B30FAD823DA0}" srcId="{466F8007-277D-465C-984D-A741EEFD94CC}" destId="{F4CA3CE1-62F8-4F79-A81B-9588838CD976}" srcOrd="0" destOrd="0" parTransId="{622BB51E-9F2B-47C2-94EC-94DE8C41E22B}" sibTransId="{E7BBE093-9A90-4298-A5E1-6E3B19CA5CD1}"/>
    <dgm:cxn modelId="{56E7E37E-FF2F-4529-9684-974C682EC8F3}" type="presOf" srcId="{D9236418-9B3A-426D-9A22-223FD2352B85}" destId="{61408D8A-2FE7-42C5-AAC0-79CCCAA5496E}" srcOrd="1" destOrd="2" presId="urn:microsoft.com/office/officeart/2005/8/layout/pyramid3"/>
    <dgm:cxn modelId="{1B364A8E-B005-425A-89D6-0FE7BA2A20AF}" type="presOf" srcId="{03C2C24E-576D-4A09-B486-B5C13737974E}" destId="{F93724F5-0237-48E8-938B-7C8FF7A5FF26}" srcOrd="1" destOrd="0" presId="urn:microsoft.com/office/officeart/2005/8/layout/pyramid3"/>
    <dgm:cxn modelId="{A4C4649B-436D-48D5-A6DE-28DDBB2A3A5D}" type="presOf" srcId="{9DB2B017-D46E-497C-B037-D2050C7C00E0}" destId="{F9F7B958-6089-4C33-A7FD-2D0555D5364C}" srcOrd="1" destOrd="0" presId="urn:microsoft.com/office/officeart/2005/8/layout/pyramid3"/>
    <dgm:cxn modelId="{A1232CAA-83C8-4ED0-B29E-77DB75DCFA1A}" srcId="{A6F07AB3-1BF3-4829-8001-CE809A180E51}" destId="{466F8007-277D-465C-984D-A741EEFD94CC}" srcOrd="0" destOrd="0" parTransId="{2027EB42-B2C2-41A2-BEF6-A89295225688}" sibTransId="{4FC089ED-BC55-4038-9B2A-43774CB09856}"/>
    <dgm:cxn modelId="{B20278BE-0323-4FE5-BB47-2CE15076ECA6}" type="presOf" srcId="{D5C1E5E8-7DB5-49D6-84D1-1C64EDFAD893}" destId="{7EF42DDD-FDCC-49CB-9021-D84362BF20EC}" srcOrd="0" destOrd="0" presId="urn:microsoft.com/office/officeart/2005/8/layout/pyramid3"/>
    <dgm:cxn modelId="{84A520C2-3744-48EC-B3BB-60D9B18551D4}" srcId="{03C2C24E-576D-4A09-B486-B5C13737974E}" destId="{D5C1E5E8-7DB5-49D6-84D1-1C64EDFAD893}" srcOrd="0" destOrd="0" parTransId="{7B5CCA21-EA5B-4F3B-8BB5-68C25C5A10F4}" sibTransId="{35C4792E-E431-43CB-B689-8AA2EBA87736}"/>
    <dgm:cxn modelId="{538380C2-D006-4F03-B5D7-456F14775883}" type="presOf" srcId="{A6F07AB3-1BF3-4829-8001-CE809A180E51}" destId="{E59D58C1-31A7-4340-9F7A-87065656171F}" srcOrd="0" destOrd="0" presId="urn:microsoft.com/office/officeart/2005/8/layout/pyramid3"/>
    <dgm:cxn modelId="{32932FC8-D029-4249-A5CF-7CB50859E636}" srcId="{A6F07AB3-1BF3-4829-8001-CE809A180E51}" destId="{03C2C24E-576D-4A09-B486-B5C13737974E}" srcOrd="2" destOrd="0" parTransId="{8AE64A15-67AE-4224-9603-ACFBDFBD5983}" sibTransId="{9E7A950D-3B55-4A9A-BC8A-F8210A3CBFA4}"/>
    <dgm:cxn modelId="{B88717DE-6CD5-4F6B-9711-E4654302ADDA}" type="presOf" srcId="{F8FBB57A-DB66-448A-829A-26EF690622B7}" destId="{7968A331-B959-4E61-89D5-EDF76614F76D}" srcOrd="1" destOrd="0" presId="urn:microsoft.com/office/officeart/2005/8/layout/pyramid3"/>
    <dgm:cxn modelId="{419D26E2-7F94-4FCB-9504-75BC9D6F2BF0}" type="presOf" srcId="{466F8007-277D-465C-984D-A741EEFD94CC}" destId="{66FD0B09-192B-4CDB-B32B-FB737D6D80FD}" srcOrd="1" destOrd="0" presId="urn:microsoft.com/office/officeart/2005/8/layout/pyramid3"/>
    <dgm:cxn modelId="{67405AE6-890F-4B43-8D08-84A5813BEF40}" type="presOf" srcId="{EA8AD0C4-DB7C-4345-866F-E967B81F203C}" destId="{7EF42DDD-FDCC-49CB-9021-D84362BF20EC}" srcOrd="0" destOrd="1" presId="urn:microsoft.com/office/officeart/2005/8/layout/pyramid3"/>
    <dgm:cxn modelId="{FAC0B4E7-1BDF-46D7-B848-E1EBC016AB02}" srcId="{9DB2B017-D46E-497C-B037-D2050C7C00E0}" destId="{309850D1-E13D-490A-AADA-75362DC6A440}" srcOrd="0" destOrd="0" parTransId="{D47D285A-9DEA-48AD-9116-DC2CD8A077DE}" sibTransId="{3FF1320D-8330-4CE7-9241-527550B07EFD}"/>
    <dgm:cxn modelId="{F04538F9-0C5F-4018-A317-EF173CE41AF2}" type="presOf" srcId="{EA8AD0C4-DB7C-4345-866F-E967B81F203C}" destId="{61408D8A-2FE7-42C5-AAC0-79CCCAA5496E}" srcOrd="1" destOrd="1" presId="urn:microsoft.com/office/officeart/2005/8/layout/pyramid3"/>
    <dgm:cxn modelId="{ED59E1C8-FF4D-4FC4-9A30-A67ED2F8E722}" type="presParOf" srcId="{E59D58C1-31A7-4340-9F7A-87065656171F}" destId="{805E16B6-A0E0-43B7-8933-ECC249DDC3FC}" srcOrd="0" destOrd="0" presId="urn:microsoft.com/office/officeart/2005/8/layout/pyramid3"/>
    <dgm:cxn modelId="{E52995C1-0575-47DB-81DE-DA3B938BBA92}" type="presParOf" srcId="{805E16B6-A0E0-43B7-8933-ECC249DDC3FC}" destId="{182B42A8-422F-46AF-A068-B9B20284D63C}" srcOrd="0" destOrd="0" presId="urn:microsoft.com/office/officeart/2005/8/layout/pyramid3"/>
    <dgm:cxn modelId="{BE4C2D5A-E50D-4761-B66B-358D37A8DB76}" type="presParOf" srcId="{805E16B6-A0E0-43B7-8933-ECC249DDC3FC}" destId="{7C3A8E02-B603-47B3-9E21-0280002C0ADC}" srcOrd="1" destOrd="0" presId="urn:microsoft.com/office/officeart/2005/8/layout/pyramid3"/>
    <dgm:cxn modelId="{908BB8B6-45A8-4EC4-A7CD-7CAD619C3F04}" type="presParOf" srcId="{805E16B6-A0E0-43B7-8933-ECC249DDC3FC}" destId="{61C567EC-FC9E-4F0B-A212-8783C62465B5}" srcOrd="2" destOrd="0" presId="urn:microsoft.com/office/officeart/2005/8/layout/pyramid3"/>
    <dgm:cxn modelId="{200DD76F-C574-409F-A04E-682A1E6C886F}" type="presParOf" srcId="{805E16B6-A0E0-43B7-8933-ECC249DDC3FC}" destId="{66FD0B09-192B-4CDB-B32B-FB737D6D80FD}" srcOrd="3" destOrd="0" presId="urn:microsoft.com/office/officeart/2005/8/layout/pyramid3"/>
    <dgm:cxn modelId="{8230CDD6-69F3-4DA1-9B5A-9855FFD54955}" type="presParOf" srcId="{E59D58C1-31A7-4340-9F7A-87065656171F}" destId="{70531DB9-47EB-47DF-AF61-22D408F2B8A9}" srcOrd="1" destOrd="0" presId="urn:microsoft.com/office/officeart/2005/8/layout/pyramid3"/>
    <dgm:cxn modelId="{3A6813C4-EB3E-4975-970E-A82A6EBB3660}" type="presParOf" srcId="{70531DB9-47EB-47DF-AF61-22D408F2B8A9}" destId="{452B2BFE-3201-4400-81C9-578742B7929A}" srcOrd="0" destOrd="0" presId="urn:microsoft.com/office/officeart/2005/8/layout/pyramid3"/>
    <dgm:cxn modelId="{06DD8F8E-09B3-4AAE-ACC7-EDBE404B98E5}" type="presParOf" srcId="{70531DB9-47EB-47DF-AF61-22D408F2B8A9}" destId="{F9F7B958-6089-4C33-A7FD-2D0555D5364C}" srcOrd="1" destOrd="0" presId="urn:microsoft.com/office/officeart/2005/8/layout/pyramid3"/>
    <dgm:cxn modelId="{6E8D2E58-524B-4DB3-8214-C3B9F5B1EB72}" type="presParOf" srcId="{70531DB9-47EB-47DF-AF61-22D408F2B8A9}" destId="{17B20A35-A1C3-4803-B28A-65898490176B}" srcOrd="2" destOrd="0" presId="urn:microsoft.com/office/officeart/2005/8/layout/pyramid3"/>
    <dgm:cxn modelId="{1E0D4092-EBBD-4C18-BC36-5BEB1C655199}" type="presParOf" srcId="{70531DB9-47EB-47DF-AF61-22D408F2B8A9}" destId="{7968A331-B959-4E61-89D5-EDF76614F76D}" srcOrd="3" destOrd="0" presId="urn:microsoft.com/office/officeart/2005/8/layout/pyramid3"/>
    <dgm:cxn modelId="{00E9009D-65A3-4D6D-A393-1EE64AC95343}" type="presParOf" srcId="{E59D58C1-31A7-4340-9F7A-87065656171F}" destId="{30ED65CD-E9B7-4716-8069-BB531DA6CE27}" srcOrd="2" destOrd="0" presId="urn:microsoft.com/office/officeart/2005/8/layout/pyramid3"/>
    <dgm:cxn modelId="{7E5EA41C-04E6-4208-80EC-03224C64F444}" type="presParOf" srcId="{30ED65CD-E9B7-4716-8069-BB531DA6CE27}" destId="{7EF42DDD-FDCC-49CB-9021-D84362BF20EC}" srcOrd="0" destOrd="0" presId="urn:microsoft.com/office/officeart/2005/8/layout/pyramid3"/>
    <dgm:cxn modelId="{DED710ED-A2F7-4C61-8BEA-8CA4ED2FBC7B}" type="presParOf" srcId="{30ED65CD-E9B7-4716-8069-BB531DA6CE27}" destId="{61408D8A-2FE7-42C5-AAC0-79CCCAA5496E}" srcOrd="1" destOrd="0" presId="urn:microsoft.com/office/officeart/2005/8/layout/pyramid3"/>
    <dgm:cxn modelId="{B2884593-8484-4F25-A060-BEE9D560EED3}" type="presParOf" srcId="{30ED65CD-E9B7-4716-8069-BB531DA6CE27}" destId="{2F5EFC51-1226-4055-A2E5-19EF4EED8D4A}" srcOrd="2" destOrd="0" presId="urn:microsoft.com/office/officeart/2005/8/layout/pyramid3"/>
    <dgm:cxn modelId="{42F2BECF-83F7-4159-8F23-F57D72955EF5}" type="presParOf" srcId="{30ED65CD-E9B7-4716-8069-BB531DA6CE27}" destId="{F93724F5-0237-48E8-938B-7C8FF7A5FF26}" srcOrd="3" destOrd="0" presId="urn:microsoft.com/office/officeart/2005/8/layout/pyramid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B42A8-422F-46AF-A068-B9B20284D63C}">
      <dsp:nvSpPr>
        <dsp:cNvPr id="0" name=""/>
        <dsp:cNvSpPr/>
      </dsp:nvSpPr>
      <dsp:spPr>
        <a:xfrm>
          <a:off x="5958840" y="0"/>
          <a:ext cx="4556759" cy="1450446"/>
        </a:xfrm>
        <a:prstGeom prst="nonIsoscelesTrapezoid">
          <a:avLst>
            <a:gd name="adj1" fmla="val 82166"/>
            <a:gd name="adj2" fmla="val 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100000"/>
            </a:lnSpc>
            <a:spcBef>
              <a:spcPct val="0"/>
            </a:spcBef>
            <a:spcAft>
              <a:spcPct val="15000"/>
            </a:spcAft>
            <a:buChar char="•"/>
          </a:pPr>
          <a:r>
            <a:rPr lang="en-US" sz="1900" kern="1200" dirty="0"/>
            <a:t>INTL rankings: PISA, TIMMS, &amp; PIRLS: Top and Bottom US states in ranking</a:t>
          </a:r>
        </a:p>
      </dsp:txBody>
      <dsp:txXfrm>
        <a:off x="7150608" y="0"/>
        <a:ext cx="3364991" cy="1450446"/>
      </dsp:txXfrm>
    </dsp:sp>
    <dsp:sp modelId="{61C567EC-FC9E-4F0B-A212-8783C62465B5}">
      <dsp:nvSpPr>
        <dsp:cNvPr id="0" name=""/>
        <dsp:cNvSpPr/>
      </dsp:nvSpPr>
      <dsp:spPr>
        <a:xfrm rot="10800000">
          <a:off x="0" y="0"/>
          <a:ext cx="7150608" cy="1450446"/>
        </a:xfrm>
        <a:prstGeom prst="trapezoid">
          <a:avLst>
            <a:gd name="adj" fmla="val 82166"/>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100000"/>
            </a:lnSpc>
            <a:spcBef>
              <a:spcPct val="0"/>
            </a:spcBef>
            <a:spcAft>
              <a:spcPct val="35000"/>
            </a:spcAft>
            <a:buNone/>
          </a:pPr>
          <a:r>
            <a:rPr lang="en-US" sz="3700" kern="1200" dirty="0"/>
            <a:t>IEA/OECD</a:t>
          </a:r>
        </a:p>
        <a:p>
          <a:pPr marL="0" lvl="0" indent="0" algn="ctr" defTabSz="1644650">
            <a:lnSpc>
              <a:spcPct val="100000"/>
            </a:lnSpc>
            <a:spcBef>
              <a:spcPct val="0"/>
            </a:spcBef>
            <a:spcAft>
              <a:spcPct val="35000"/>
            </a:spcAft>
            <a:buNone/>
          </a:pPr>
          <a:r>
            <a:rPr lang="en-US" sz="3700" kern="1200" dirty="0"/>
            <a:t>PISA rankings</a:t>
          </a:r>
        </a:p>
      </dsp:txBody>
      <dsp:txXfrm rot="-10800000">
        <a:off x="1251356" y="0"/>
        <a:ext cx="4647895" cy="1450446"/>
      </dsp:txXfrm>
    </dsp:sp>
    <dsp:sp modelId="{452B2BFE-3201-4400-81C9-578742B7929A}">
      <dsp:nvSpPr>
        <dsp:cNvPr id="0" name=""/>
        <dsp:cNvSpPr/>
      </dsp:nvSpPr>
      <dsp:spPr>
        <a:xfrm>
          <a:off x="4767072" y="1450446"/>
          <a:ext cx="5748528" cy="1450446"/>
        </a:xfrm>
        <a:prstGeom prst="nonIsoscelesTrapezoid">
          <a:avLst>
            <a:gd name="adj1" fmla="val 82166"/>
            <a:gd name="adj2" fmla="val 0"/>
          </a:avLst>
        </a:prstGeom>
        <a:solidFill>
          <a:schemeClr val="lt1">
            <a:alpha val="90000"/>
            <a:hueOff val="0"/>
            <a:satOff val="0"/>
            <a:lumOff val="0"/>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100000"/>
            </a:lnSpc>
            <a:spcBef>
              <a:spcPct val="0"/>
            </a:spcBef>
            <a:spcAft>
              <a:spcPct val="15000"/>
            </a:spcAft>
            <a:buChar char="•"/>
          </a:pPr>
          <a:r>
            <a:rPr lang="en-US" sz="1900" kern="1200"/>
            <a:t>Education factors</a:t>
          </a:r>
          <a:endParaRPr lang="en-US" sz="1900" kern="1200" dirty="0"/>
        </a:p>
        <a:p>
          <a:pPr marL="342900" lvl="2" indent="-171450" algn="l" defTabSz="844550">
            <a:lnSpc>
              <a:spcPct val="90000"/>
            </a:lnSpc>
            <a:spcBef>
              <a:spcPct val="0"/>
            </a:spcBef>
            <a:spcAft>
              <a:spcPct val="15000"/>
            </a:spcAft>
            <a:buChar char="•"/>
          </a:pPr>
          <a:r>
            <a:rPr lang="en-US" sz="1900" kern="1200" dirty="0"/>
            <a:t>math &amp; science, student/teacher, race,  cost, graduation rates – Identified States based on PISA rankings</a:t>
          </a:r>
        </a:p>
      </dsp:txBody>
      <dsp:txXfrm>
        <a:off x="5958840" y="1450446"/>
        <a:ext cx="4556759" cy="1450446"/>
      </dsp:txXfrm>
    </dsp:sp>
    <dsp:sp modelId="{17B20A35-A1C3-4803-B28A-65898490176B}">
      <dsp:nvSpPr>
        <dsp:cNvPr id="0" name=""/>
        <dsp:cNvSpPr/>
      </dsp:nvSpPr>
      <dsp:spPr>
        <a:xfrm rot="10800000">
          <a:off x="1191768" y="1450446"/>
          <a:ext cx="4767072" cy="1450446"/>
        </a:xfrm>
        <a:prstGeom prst="trapezoid">
          <a:avLst>
            <a:gd name="adj" fmla="val 82166"/>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3600" kern="1200" dirty="0"/>
            <a:t>US and School States/Districts</a:t>
          </a:r>
        </a:p>
      </dsp:txBody>
      <dsp:txXfrm rot="-10800000">
        <a:off x="2026005" y="1450446"/>
        <a:ext cx="3098596" cy="1450446"/>
      </dsp:txXfrm>
    </dsp:sp>
    <dsp:sp modelId="{7EF42DDD-FDCC-49CB-9021-D84362BF20EC}">
      <dsp:nvSpPr>
        <dsp:cNvPr id="0" name=""/>
        <dsp:cNvSpPr/>
      </dsp:nvSpPr>
      <dsp:spPr>
        <a:xfrm>
          <a:off x="3575304" y="2900892"/>
          <a:ext cx="6940296" cy="1450446"/>
        </a:xfrm>
        <a:prstGeom prst="nonIsoscelesTrapezoid">
          <a:avLst>
            <a:gd name="adj1" fmla="val 82166"/>
            <a:gd name="adj2" fmla="val 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100000"/>
            </a:lnSpc>
            <a:spcBef>
              <a:spcPct val="0"/>
            </a:spcBef>
            <a:spcAft>
              <a:spcPct val="15000"/>
            </a:spcAft>
            <a:buChar char="•"/>
          </a:pPr>
          <a:r>
            <a:rPr lang="en-US" sz="1900" kern="1200" dirty="0"/>
            <a:t>ESSA progress statewide initiatives</a:t>
          </a:r>
        </a:p>
        <a:p>
          <a:pPr marL="171450" lvl="1" indent="-171450" algn="l" defTabSz="844550">
            <a:lnSpc>
              <a:spcPct val="100000"/>
            </a:lnSpc>
            <a:spcBef>
              <a:spcPct val="0"/>
            </a:spcBef>
            <a:spcAft>
              <a:spcPct val="15000"/>
            </a:spcAft>
            <a:buChar char="•"/>
          </a:pPr>
          <a:r>
            <a:rPr lang="en-US" sz="1900" kern="1200" dirty="0"/>
            <a:t>Competency Based Education policy trends</a:t>
          </a:r>
        </a:p>
        <a:p>
          <a:pPr marL="171450" lvl="1" indent="-171450" algn="l" defTabSz="844550">
            <a:lnSpc>
              <a:spcPct val="100000"/>
            </a:lnSpc>
            <a:spcBef>
              <a:spcPct val="0"/>
            </a:spcBef>
            <a:spcAft>
              <a:spcPct val="15000"/>
            </a:spcAft>
            <a:buChar char="•"/>
          </a:pPr>
          <a:r>
            <a:rPr lang="en-US" sz="1900" kern="1200" dirty="0"/>
            <a:t>New Hampshire leading toward CBE</a:t>
          </a:r>
        </a:p>
      </dsp:txBody>
      <dsp:txXfrm>
        <a:off x="4767072" y="2900892"/>
        <a:ext cx="5748528" cy="1450446"/>
      </dsp:txXfrm>
    </dsp:sp>
    <dsp:sp modelId="{2F5EFC51-1226-4055-A2E5-19EF4EED8D4A}">
      <dsp:nvSpPr>
        <dsp:cNvPr id="0" name=""/>
        <dsp:cNvSpPr/>
      </dsp:nvSpPr>
      <dsp:spPr>
        <a:xfrm rot="10800000">
          <a:off x="2383536" y="2900892"/>
          <a:ext cx="2383536" cy="1450446"/>
        </a:xfrm>
        <a:prstGeom prst="trapezoid">
          <a:avLst>
            <a:gd name="adj" fmla="val 82166"/>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46990" rIns="46990" bIns="46990" numCol="1" spcCol="1270" anchor="t" anchorCtr="0">
          <a:noAutofit/>
        </a:bodyPr>
        <a:lstStyle/>
        <a:p>
          <a:pPr marL="0" lvl="0" indent="0" algn="ctr" defTabSz="1644650">
            <a:lnSpc>
              <a:spcPct val="90000"/>
            </a:lnSpc>
            <a:spcBef>
              <a:spcPct val="0"/>
            </a:spcBef>
            <a:spcAft>
              <a:spcPct val="35000"/>
            </a:spcAft>
            <a:buNone/>
          </a:pPr>
          <a:r>
            <a:rPr lang="en-US" sz="3700" kern="1200" dirty="0"/>
            <a:t>Trends</a:t>
          </a:r>
        </a:p>
      </dsp:txBody>
      <dsp:txXfrm rot="-10800000">
        <a:off x="2383536" y="2900892"/>
        <a:ext cx="2383536" cy="14504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2B42A8-422F-46AF-A068-B9B20284D63C}">
      <dsp:nvSpPr>
        <dsp:cNvPr id="0" name=""/>
        <dsp:cNvSpPr/>
      </dsp:nvSpPr>
      <dsp:spPr>
        <a:xfrm>
          <a:off x="5958840" y="0"/>
          <a:ext cx="4556759" cy="1450446"/>
        </a:xfrm>
        <a:prstGeom prst="nonIsoscelesTrapezoid">
          <a:avLst>
            <a:gd name="adj1" fmla="val 82166"/>
            <a:gd name="adj2" fmla="val 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100000"/>
            </a:lnSpc>
            <a:spcBef>
              <a:spcPct val="0"/>
            </a:spcBef>
            <a:spcAft>
              <a:spcPct val="15000"/>
            </a:spcAft>
            <a:buChar char="•"/>
          </a:pPr>
          <a:r>
            <a:rPr lang="en-US" sz="1900" kern="1200" dirty="0"/>
            <a:t>INTL rankings: PISA, TIMMS, &amp; PIRLS: Top and Bottom US states in ranking</a:t>
          </a:r>
        </a:p>
      </dsp:txBody>
      <dsp:txXfrm>
        <a:off x="7150608" y="0"/>
        <a:ext cx="3364991" cy="1450446"/>
      </dsp:txXfrm>
    </dsp:sp>
    <dsp:sp modelId="{61C567EC-FC9E-4F0B-A212-8783C62465B5}">
      <dsp:nvSpPr>
        <dsp:cNvPr id="0" name=""/>
        <dsp:cNvSpPr/>
      </dsp:nvSpPr>
      <dsp:spPr>
        <a:xfrm rot="10800000">
          <a:off x="0" y="0"/>
          <a:ext cx="7150608" cy="1450446"/>
        </a:xfrm>
        <a:prstGeom prst="trapezoid">
          <a:avLst>
            <a:gd name="adj" fmla="val 82166"/>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100000"/>
            </a:lnSpc>
            <a:spcBef>
              <a:spcPct val="0"/>
            </a:spcBef>
            <a:spcAft>
              <a:spcPct val="35000"/>
            </a:spcAft>
            <a:buNone/>
          </a:pPr>
          <a:r>
            <a:rPr lang="en-US" sz="3700" kern="1200" dirty="0"/>
            <a:t>IEA/OECD</a:t>
          </a:r>
        </a:p>
        <a:p>
          <a:pPr marL="0" lvl="0" indent="0" algn="ctr" defTabSz="1644650">
            <a:lnSpc>
              <a:spcPct val="100000"/>
            </a:lnSpc>
            <a:spcBef>
              <a:spcPct val="0"/>
            </a:spcBef>
            <a:spcAft>
              <a:spcPct val="35000"/>
            </a:spcAft>
            <a:buNone/>
          </a:pPr>
          <a:r>
            <a:rPr lang="en-US" sz="3700" kern="1200" dirty="0"/>
            <a:t>PISA rankings</a:t>
          </a:r>
        </a:p>
      </dsp:txBody>
      <dsp:txXfrm rot="-10800000">
        <a:off x="1251356" y="0"/>
        <a:ext cx="4647895" cy="1450446"/>
      </dsp:txXfrm>
    </dsp:sp>
    <dsp:sp modelId="{452B2BFE-3201-4400-81C9-578742B7929A}">
      <dsp:nvSpPr>
        <dsp:cNvPr id="0" name=""/>
        <dsp:cNvSpPr/>
      </dsp:nvSpPr>
      <dsp:spPr>
        <a:xfrm>
          <a:off x="4767072" y="1450446"/>
          <a:ext cx="5748528" cy="1450446"/>
        </a:xfrm>
        <a:prstGeom prst="nonIsoscelesTrapezoid">
          <a:avLst>
            <a:gd name="adj1" fmla="val 82166"/>
            <a:gd name="adj2" fmla="val 0"/>
          </a:avLst>
        </a:prstGeom>
        <a:solidFill>
          <a:schemeClr val="lt1">
            <a:alpha val="90000"/>
            <a:hueOff val="0"/>
            <a:satOff val="0"/>
            <a:lumOff val="0"/>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100000"/>
            </a:lnSpc>
            <a:spcBef>
              <a:spcPct val="0"/>
            </a:spcBef>
            <a:spcAft>
              <a:spcPct val="15000"/>
            </a:spcAft>
            <a:buChar char="•"/>
          </a:pPr>
          <a:r>
            <a:rPr lang="en-US" sz="1900" kern="1200"/>
            <a:t>Education factors</a:t>
          </a:r>
          <a:endParaRPr lang="en-US" sz="1900" kern="1200" dirty="0"/>
        </a:p>
        <a:p>
          <a:pPr marL="342900" lvl="2" indent="-171450" algn="l" defTabSz="844550">
            <a:lnSpc>
              <a:spcPct val="90000"/>
            </a:lnSpc>
            <a:spcBef>
              <a:spcPct val="0"/>
            </a:spcBef>
            <a:spcAft>
              <a:spcPct val="15000"/>
            </a:spcAft>
            <a:buChar char="•"/>
          </a:pPr>
          <a:r>
            <a:rPr lang="en-US" sz="1900" kern="1200" dirty="0"/>
            <a:t>math &amp; science, student/teacher, race,  cost, graduation rates – Identified States based on PISA rankings</a:t>
          </a:r>
        </a:p>
      </dsp:txBody>
      <dsp:txXfrm>
        <a:off x="5958840" y="1450446"/>
        <a:ext cx="4556759" cy="1450446"/>
      </dsp:txXfrm>
    </dsp:sp>
    <dsp:sp modelId="{17B20A35-A1C3-4803-B28A-65898490176B}">
      <dsp:nvSpPr>
        <dsp:cNvPr id="0" name=""/>
        <dsp:cNvSpPr/>
      </dsp:nvSpPr>
      <dsp:spPr>
        <a:xfrm rot="10800000">
          <a:off x="1191768" y="1450446"/>
          <a:ext cx="4767072" cy="1450446"/>
        </a:xfrm>
        <a:prstGeom prst="trapezoid">
          <a:avLst>
            <a:gd name="adj" fmla="val 82166"/>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3600" kern="1200" dirty="0"/>
            <a:t>US and School States/Districts</a:t>
          </a:r>
        </a:p>
      </dsp:txBody>
      <dsp:txXfrm rot="-10800000">
        <a:off x="2026005" y="1450446"/>
        <a:ext cx="3098596" cy="1450446"/>
      </dsp:txXfrm>
    </dsp:sp>
    <dsp:sp modelId="{7EF42DDD-FDCC-49CB-9021-D84362BF20EC}">
      <dsp:nvSpPr>
        <dsp:cNvPr id="0" name=""/>
        <dsp:cNvSpPr/>
      </dsp:nvSpPr>
      <dsp:spPr>
        <a:xfrm>
          <a:off x="3575304" y="2900892"/>
          <a:ext cx="6940296" cy="1450446"/>
        </a:xfrm>
        <a:prstGeom prst="nonIsoscelesTrapezoid">
          <a:avLst>
            <a:gd name="adj1" fmla="val 82166"/>
            <a:gd name="adj2" fmla="val 0"/>
          </a:avLst>
        </a:prstGeom>
        <a:solidFill>
          <a:schemeClr val="lt1">
            <a:alpha val="90000"/>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100000"/>
            </a:lnSpc>
            <a:spcBef>
              <a:spcPct val="0"/>
            </a:spcBef>
            <a:spcAft>
              <a:spcPct val="15000"/>
            </a:spcAft>
            <a:buChar char="•"/>
          </a:pPr>
          <a:r>
            <a:rPr lang="en-US" sz="1900" kern="1200" dirty="0"/>
            <a:t>ESSA progress statewide initiatives</a:t>
          </a:r>
        </a:p>
        <a:p>
          <a:pPr marL="171450" lvl="1" indent="-171450" algn="l" defTabSz="844550">
            <a:lnSpc>
              <a:spcPct val="100000"/>
            </a:lnSpc>
            <a:spcBef>
              <a:spcPct val="0"/>
            </a:spcBef>
            <a:spcAft>
              <a:spcPct val="15000"/>
            </a:spcAft>
            <a:buChar char="•"/>
          </a:pPr>
          <a:r>
            <a:rPr lang="en-US" sz="1900" kern="1200" dirty="0"/>
            <a:t>Competency Based Education policy trends</a:t>
          </a:r>
        </a:p>
        <a:p>
          <a:pPr marL="171450" lvl="1" indent="-171450" algn="l" defTabSz="844550">
            <a:lnSpc>
              <a:spcPct val="100000"/>
            </a:lnSpc>
            <a:spcBef>
              <a:spcPct val="0"/>
            </a:spcBef>
            <a:spcAft>
              <a:spcPct val="15000"/>
            </a:spcAft>
            <a:buChar char="•"/>
          </a:pPr>
          <a:r>
            <a:rPr lang="en-US" sz="1900" kern="1200" dirty="0"/>
            <a:t>New Hampshire leading toward CBE</a:t>
          </a:r>
        </a:p>
      </dsp:txBody>
      <dsp:txXfrm>
        <a:off x="4767072" y="2900892"/>
        <a:ext cx="5748528" cy="1450446"/>
      </dsp:txXfrm>
    </dsp:sp>
    <dsp:sp modelId="{2F5EFC51-1226-4055-A2E5-19EF4EED8D4A}">
      <dsp:nvSpPr>
        <dsp:cNvPr id="0" name=""/>
        <dsp:cNvSpPr/>
      </dsp:nvSpPr>
      <dsp:spPr>
        <a:xfrm rot="10800000">
          <a:off x="2383536" y="2900892"/>
          <a:ext cx="2383536" cy="1450446"/>
        </a:xfrm>
        <a:prstGeom prst="trapezoid">
          <a:avLst>
            <a:gd name="adj" fmla="val 82166"/>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46990" rIns="46990" bIns="46990" numCol="1" spcCol="1270" anchor="t" anchorCtr="0">
          <a:noAutofit/>
        </a:bodyPr>
        <a:lstStyle/>
        <a:p>
          <a:pPr marL="0" lvl="0" indent="0" algn="ctr" defTabSz="1644650">
            <a:lnSpc>
              <a:spcPct val="90000"/>
            </a:lnSpc>
            <a:spcBef>
              <a:spcPct val="0"/>
            </a:spcBef>
            <a:spcAft>
              <a:spcPct val="35000"/>
            </a:spcAft>
            <a:buNone/>
          </a:pPr>
          <a:r>
            <a:rPr lang="en-US" sz="3700" kern="1200" dirty="0"/>
            <a:t>Trends</a:t>
          </a:r>
        </a:p>
      </dsp:txBody>
      <dsp:txXfrm rot="-10800000">
        <a:off x="2383536" y="2900892"/>
        <a:ext cx="2383536" cy="1450446"/>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4B8103-DB67-4F01-BAA3-9B5BA74585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15945D-5173-41C4-A943-A2BAD99FD79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347DC2-87CE-4625-9C5B-E1EA49C599CC}" type="datetimeFigureOut">
              <a:rPr lang="en-US" smtClean="0"/>
              <a:t>8/7/2019</a:t>
            </a:fld>
            <a:endParaRPr lang="en-US"/>
          </a:p>
        </p:txBody>
      </p:sp>
      <p:sp>
        <p:nvSpPr>
          <p:cNvPr id="4" name="Slide Image Placeholder 3">
            <a:extLst>
              <a:ext uri="{FF2B5EF4-FFF2-40B4-BE49-F238E27FC236}">
                <a16:creationId xmlns:a16="http://schemas.microsoft.com/office/drawing/2014/main" id="{FAEBBAC6-D62C-4368-AD60-0DD2C10DA64D}"/>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a:extLst>
              <a:ext uri="{FF2B5EF4-FFF2-40B4-BE49-F238E27FC236}">
                <a16:creationId xmlns:a16="http://schemas.microsoft.com/office/drawing/2014/main" id="{92092DEB-5200-4757-A811-79D6FF5D8CE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686E96D-2A36-48B3-A87B-63811AD8510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a:extLst>
              <a:ext uri="{FF2B5EF4-FFF2-40B4-BE49-F238E27FC236}">
                <a16:creationId xmlns:a16="http://schemas.microsoft.com/office/drawing/2014/main" id="{B45C4ECD-8BDF-43C6-99D4-FBEFE652FE4A}"/>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1281D4-4E22-4F94-BAF4-1B9CEE4D4A7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en.wikipedia.org/wiki/The_Carnegie_Foundation_for_the_Advancement_of_Teaching"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en.wikipedia.org/wiki/TIAA-CREF" TargetMode="Externa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bjs.gov/content/pub/pdf/ecp.pdf"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1</a:t>
            </a:fld>
            <a:endParaRPr lang="en-US"/>
          </a:p>
        </p:txBody>
      </p:sp>
    </p:spTree>
    <p:extLst>
      <p:ext uri="{BB962C8B-B14F-4D97-AF65-F5344CB8AC3E}">
        <p14:creationId xmlns:p14="http://schemas.microsoft.com/office/powerpoint/2010/main" val="2802728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IEA – International Educational Association </a:t>
            </a:r>
            <a:endParaRPr lang="en-US" dirty="0">
              <a:cs typeface="Calibri"/>
            </a:endParaRPr>
          </a:p>
          <a:p>
            <a:r>
              <a:rPr lang="en-US" dirty="0"/>
              <a:t>OECD – organization for Economic Cooperation &amp; Development</a:t>
            </a:r>
            <a:endParaRPr lang="en-US" dirty="0">
              <a:cs typeface="Calibri"/>
            </a:endParaRPr>
          </a:p>
          <a:p>
            <a:r>
              <a:rPr lang="en-US" dirty="0"/>
              <a:t>What are these two organizations doing for International students – they are conducting assessments.</a:t>
            </a:r>
          </a:p>
          <a:p>
            <a:r>
              <a:rPr lang="en-US" dirty="0"/>
              <a:t>How often do they World-Wide conduct assessments – every three, four- and five-year assessments.</a:t>
            </a:r>
            <a:endParaRPr lang="en-US" dirty="0">
              <a:cs typeface="Calibri"/>
            </a:endParaRPr>
          </a:p>
          <a:p>
            <a:r>
              <a:rPr lang="en-US" dirty="0"/>
              <a:t>Why are they important? - helps to improve the education and build better lives in each individual.</a:t>
            </a:r>
            <a:endParaRPr lang="en-US" dirty="0">
              <a:cs typeface="Calibri"/>
            </a:endParaRPr>
          </a:p>
          <a:p>
            <a:endParaRPr lang="en-US" dirty="0"/>
          </a:p>
          <a:p>
            <a:endParaRPr lang="en-US" dirty="0">
              <a:cs typeface="Calibri"/>
            </a:endParaRPr>
          </a:p>
          <a:p>
            <a:r>
              <a:rPr lang="en-US" dirty="0"/>
              <a:t>IEA (International Association for the Evaluation of Educational Achievement). </a:t>
            </a:r>
            <a:endParaRPr lang="en-US" dirty="0">
              <a:cs typeface="Calibri"/>
            </a:endParaRPr>
          </a:p>
          <a:p>
            <a:r>
              <a:rPr lang="en-US" dirty="0"/>
              <a:t>Since 1958, IEA conducting TIMSS and PIRLS assessments for 8th and 4th graders and measured students’ mastery of subjects such as mathematics, science, and reading.  there are more than 60 countries actively involved in IEA network.</a:t>
            </a:r>
            <a:endParaRPr lang="en-US" dirty="0">
              <a:cs typeface="Calibri"/>
            </a:endParaRPr>
          </a:p>
          <a:p>
            <a:r>
              <a:rPr lang="en-US" dirty="0"/>
              <a:t>  </a:t>
            </a:r>
            <a:endParaRPr lang="en-US" dirty="0">
              <a:cs typeface="Calibri"/>
            </a:endParaRPr>
          </a:p>
          <a:p>
            <a:r>
              <a:rPr lang="en-US" dirty="0"/>
              <a:t>OECD </a:t>
            </a:r>
            <a:endParaRPr lang="en-US" dirty="0">
              <a:cs typeface="Calibri"/>
            </a:endParaRPr>
          </a:p>
          <a:p>
            <a:r>
              <a:rPr lang="en-US" dirty="0"/>
              <a:t>The Organization for Economic Co-operation and Development (OECD) conducting PISA in more than 70 countries. For more than 50 years, the OECD has been a valuable source internationally. </a:t>
            </a:r>
            <a:r>
              <a:rPr lang="en-US" i="1" dirty="0"/>
              <a:t>The OECD plays an important role in sharing information, data and measuring progress on poverty eradication or inequality for the betterment of humanity and children.</a:t>
            </a:r>
            <a:br>
              <a:rPr lang="en-US" dirty="0">
                <a:cs typeface="+mn-lt"/>
              </a:rPr>
            </a:br>
            <a:endParaRPr lang="en-US" dirty="0">
              <a:cs typeface="Calibri" panose="020F0502020204030204"/>
            </a:endParaRPr>
          </a:p>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fld id="{5C1281D4-4E22-4F94-BAF4-1B9CEE4D4A79}" type="slidenum">
              <a:rPr lang="en-US" smtClean="0"/>
              <a:t>3</a:t>
            </a:fld>
            <a:endParaRPr lang="en-US"/>
          </a:p>
        </p:txBody>
      </p:sp>
    </p:spTree>
    <p:extLst>
      <p:ext uri="{BB962C8B-B14F-4D97-AF65-F5344CB8AC3E}">
        <p14:creationId xmlns:p14="http://schemas.microsoft.com/office/powerpoint/2010/main" val="4195651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assessment (PISA, TIMMS, PIRLS)</a:t>
            </a:r>
          </a:p>
          <a:p>
            <a:r>
              <a:rPr lang="en-US" dirty="0" err="1"/>
              <a:t>Programme</a:t>
            </a:r>
            <a:r>
              <a:rPr lang="en-US" dirty="0"/>
              <a:t> for International Student Assessment --- PISA is a worldwide exam administered every three years that measures 15-year-olds in 72 countries. </a:t>
            </a:r>
            <a:endParaRPr lang="en-US" dirty="0">
              <a:cs typeface="Calibri"/>
            </a:endParaRPr>
          </a:p>
          <a:p>
            <a:r>
              <a:rPr lang="en-US" dirty="0"/>
              <a:t> in reading, mathematics and science. </a:t>
            </a:r>
            <a:endParaRPr lang="en-US" dirty="0">
              <a:cs typeface="Calibri"/>
            </a:endParaRPr>
          </a:p>
          <a:p>
            <a:r>
              <a:rPr lang="en-US" dirty="0"/>
              <a:t>Why choose 15-year-olds? Because in most countries, at the age of 15, students can decide whether or not they want to continue their education.  </a:t>
            </a:r>
          </a:p>
          <a:p>
            <a:r>
              <a:rPr lang="en-US" dirty="0"/>
              <a:t>PISA – OECD conducts, every 3 years, for 15-year-old student, in 70 countries, last one in 2015 – math &amp; science, reading. PISA a</a:t>
            </a:r>
            <a:r>
              <a:rPr lang="en-US" sz="1200" b="0" i="0" u="none" strike="noStrike" kern="1200" baseline="0" dirty="0">
                <a:solidFill>
                  <a:schemeClr val="tx1"/>
                </a:solidFill>
                <a:latin typeface="+mn-lt"/>
                <a:ea typeface="+mn-ea"/>
                <a:cs typeface="+mn-cs"/>
              </a:rPr>
              <a:t>ssessments are designed to measure</a:t>
            </a:r>
            <a:endParaRPr lang="en-US" sz="1200" b="0" i="0" u="none" strike="noStrike" kern="1200" baseline="0" dirty="0">
              <a:solidFill>
                <a:schemeClr val="tx1"/>
              </a:solidFill>
              <a:latin typeface="+mn-lt"/>
              <a:cs typeface="Calibri"/>
            </a:endParaRPr>
          </a:p>
          <a:p>
            <a:r>
              <a:rPr lang="en-US" sz="1200" b="0" i="0" u="none" strike="noStrike" kern="1200" baseline="0" dirty="0">
                <a:solidFill>
                  <a:schemeClr val="tx1"/>
                </a:solidFill>
                <a:latin typeface="+mn-lt"/>
                <a:ea typeface="+mn-ea"/>
                <a:cs typeface="+mn-cs"/>
              </a:rPr>
              <a:t>practical applications of knowledge.</a:t>
            </a:r>
          </a:p>
          <a:p>
            <a:endParaRPr lang="en-US" dirty="0">
              <a:cs typeface="Calibri"/>
            </a:endParaRPr>
          </a:p>
          <a:p>
            <a:r>
              <a:rPr lang="en-US" b="1" dirty="0"/>
              <a:t>TIMSS </a:t>
            </a:r>
            <a:r>
              <a:rPr lang="en-US" dirty="0"/>
              <a:t>Trends in International Mathematics and Science Study </a:t>
            </a:r>
            <a:endParaRPr lang="en-US" b="1" dirty="0">
              <a:cs typeface="Calibri"/>
            </a:endParaRPr>
          </a:p>
          <a:p>
            <a:r>
              <a:rPr lang="en-US" dirty="0"/>
              <a:t>Since 1995,  TIMSS is administered every four years, at the fourth and eighth grades., 70 countries, last one in 2015, math &amp; science</a:t>
            </a:r>
          </a:p>
          <a:p>
            <a:endParaRPr lang="en-US" dirty="0">
              <a:cs typeface="Calibri"/>
            </a:endParaRPr>
          </a:p>
          <a:p>
            <a:r>
              <a:rPr lang="en-US" b="1" dirty="0">
                <a:cs typeface="Calibri"/>
              </a:rPr>
              <a:t>PIRLS</a:t>
            </a:r>
          </a:p>
          <a:p>
            <a:r>
              <a:rPr lang="en-US" b="1" dirty="0"/>
              <a:t>Progress In International Reading Literacy Study</a:t>
            </a:r>
            <a:endParaRPr lang="en-US" b="1" dirty="0">
              <a:cs typeface="Calibri"/>
            </a:endParaRPr>
          </a:p>
          <a:p>
            <a:r>
              <a:rPr lang="en-US" dirty="0"/>
              <a:t>Since 2001, PIRLS is administered </a:t>
            </a:r>
            <a:r>
              <a:rPr lang="en-US" dirty="0" err="1"/>
              <a:t>ny</a:t>
            </a:r>
            <a:r>
              <a:rPr lang="en-US" dirty="0"/>
              <a:t> IEA every five years, for 4th graders, 60 Countries, last one conducted in 2016, reading</a:t>
            </a:r>
            <a:endParaRPr lang="en-US" dirty="0">
              <a:cs typeface="Calibri"/>
            </a:endParaRPr>
          </a:p>
          <a:p>
            <a:endParaRPr lang="en-US" b="1" dirty="0"/>
          </a:p>
          <a:p>
            <a:r>
              <a:rPr lang="en-US" b="1" dirty="0"/>
              <a:t>Why PISA is important to our story?</a:t>
            </a:r>
            <a:endParaRPr lang="en-US" b="1" dirty="0">
              <a:cs typeface="Calibri"/>
            </a:endParaRPr>
          </a:p>
          <a:p>
            <a:endParaRPr lang="en-US" b="1" dirty="0">
              <a:cs typeface="Calibri"/>
            </a:endParaRPr>
          </a:p>
          <a:p>
            <a:endParaRPr lang="en-US" b="1" dirty="0">
              <a:cs typeface="Calibri"/>
            </a:endParaRPr>
          </a:p>
          <a:p>
            <a:endParaRPr lang="en-US" dirty="0"/>
          </a:p>
          <a:p>
            <a:r>
              <a:rPr lang="en-US" dirty="0"/>
              <a:t>  </a:t>
            </a:r>
          </a:p>
          <a:p>
            <a:endParaRPr lang="en-US" dirty="0">
              <a:cs typeface="Calibri"/>
            </a:endParaRPr>
          </a:p>
        </p:txBody>
      </p:sp>
      <p:sp>
        <p:nvSpPr>
          <p:cNvPr id="4" name="Slide Number Placeholder 3"/>
          <p:cNvSpPr>
            <a:spLocks noGrp="1"/>
          </p:cNvSpPr>
          <p:nvPr>
            <p:ph type="sldNum" sz="quarter" idx="5"/>
          </p:nvPr>
        </p:nvSpPr>
        <p:spPr/>
        <p:txBody>
          <a:bodyPr/>
          <a:lstStyle/>
          <a:p>
            <a:fld id="{5C1281D4-4E22-4F94-BAF4-1B9CEE4D4A79}" type="slidenum">
              <a:rPr lang="en-US" smtClean="0"/>
              <a:t>4</a:t>
            </a:fld>
            <a:endParaRPr lang="en-US"/>
          </a:p>
        </p:txBody>
      </p:sp>
    </p:spTree>
    <p:extLst>
      <p:ext uri="{BB962C8B-B14F-4D97-AF65-F5344CB8AC3E}">
        <p14:creationId xmlns:p14="http://schemas.microsoft.com/office/powerpoint/2010/main" val="2177154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**PISA is important because to our story because out of 70 countries tested, the USA is ranked 31!</a:t>
            </a:r>
          </a:p>
          <a:p>
            <a:r>
              <a:rPr lang="en-US" dirty="0"/>
              <a:t>PISA shows a sharp decline from 4</a:t>
            </a:r>
            <a:r>
              <a:rPr lang="en-US" baseline="30000" dirty="0"/>
              <a:t>th</a:t>
            </a:r>
            <a:r>
              <a:rPr lang="en-US" dirty="0"/>
              <a:t> and 8</a:t>
            </a:r>
            <a:r>
              <a:rPr lang="en-US" baseline="30000" dirty="0"/>
              <a:t>th</a:t>
            </a:r>
            <a:r>
              <a:rPr lang="en-US" dirty="0"/>
              <a:t> grade scores(TIMMS &amp; PIRLS) – the gains of early education are not sustainable in the later years</a:t>
            </a:r>
          </a:p>
          <a:p>
            <a:endParaRPr lang="en-US" dirty="0"/>
          </a:p>
          <a:p>
            <a:r>
              <a:rPr lang="en-US" dirty="0"/>
              <a:t>The top spending on education and the lowest spending on education countries are?</a:t>
            </a:r>
          </a:p>
        </p:txBody>
      </p:sp>
      <p:sp>
        <p:nvSpPr>
          <p:cNvPr id="4" name="Slide Number Placeholder 3"/>
          <p:cNvSpPr>
            <a:spLocks noGrp="1"/>
          </p:cNvSpPr>
          <p:nvPr>
            <p:ph type="sldNum" sz="quarter" idx="5"/>
          </p:nvPr>
        </p:nvSpPr>
        <p:spPr/>
        <p:txBody>
          <a:bodyPr/>
          <a:lstStyle/>
          <a:p>
            <a:fld id="{5C1281D4-4E22-4F94-BAF4-1B9CEE4D4A79}" type="slidenum">
              <a:rPr lang="en-US" smtClean="0"/>
              <a:t>5</a:t>
            </a:fld>
            <a:endParaRPr lang="en-US"/>
          </a:p>
        </p:txBody>
      </p:sp>
    </p:spTree>
    <p:extLst>
      <p:ext uri="{BB962C8B-B14F-4D97-AF65-F5344CB8AC3E}">
        <p14:creationId xmlns:p14="http://schemas.microsoft.com/office/powerpoint/2010/main" val="26238380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51 million students attending public schools in the United States.</a:t>
            </a:r>
          </a:p>
          <a:p>
            <a:r>
              <a:rPr lang="en-US" dirty="0"/>
              <a:t>The average student to teacher ration is 16 – in the highest PISA country the ratio is XX, the lowest XX</a:t>
            </a:r>
          </a:p>
          <a:p>
            <a:r>
              <a:rPr lang="en-US" dirty="0"/>
              <a:t>The per student expense is $13k, which equates to over $650 billion! That is more several small countries in PISA survey.</a:t>
            </a:r>
          </a:p>
          <a:p>
            <a:r>
              <a:rPr lang="en-US" dirty="0"/>
              <a:t>20 million total students will attend college in 2018, with 57% of them female. </a:t>
            </a:r>
          </a:p>
          <a:p>
            <a:endParaRPr lang="en-US" dirty="0"/>
          </a:p>
        </p:txBody>
      </p:sp>
      <p:sp>
        <p:nvSpPr>
          <p:cNvPr id="4" name="Slide Number Placeholder 3"/>
          <p:cNvSpPr>
            <a:spLocks noGrp="1"/>
          </p:cNvSpPr>
          <p:nvPr>
            <p:ph type="sldNum" sz="quarter" idx="5"/>
          </p:nvPr>
        </p:nvSpPr>
        <p:spPr/>
        <p:txBody>
          <a:bodyPr/>
          <a:lstStyle/>
          <a:p>
            <a:fld id="{5C1281D4-4E22-4F94-BAF4-1B9CEE4D4A79}" type="slidenum">
              <a:rPr lang="en-US" smtClean="0"/>
              <a:t>6</a:t>
            </a:fld>
            <a:endParaRPr lang="en-US"/>
          </a:p>
        </p:txBody>
      </p:sp>
    </p:spTree>
    <p:extLst>
      <p:ext uri="{BB962C8B-B14F-4D97-AF65-F5344CB8AC3E}">
        <p14:creationId xmlns:p14="http://schemas.microsoft.com/office/powerpoint/2010/main" val="536705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map shows (2018) Public education school rankings</a:t>
            </a:r>
          </a:p>
          <a:p>
            <a:endParaRPr lang="en-US"/>
          </a:p>
          <a:p>
            <a:r>
              <a:rPr lang="en-US"/>
              <a:t>Which states are top and bottom of PISA rankings?</a:t>
            </a:r>
          </a:p>
          <a:p>
            <a:endParaRPr lang="en-US"/>
          </a:p>
          <a:p>
            <a:r>
              <a:rPr lang="en-US"/>
              <a:t> Need PISA data to correlate for Mega States – check state PISA scores</a:t>
            </a:r>
          </a:p>
          <a:p>
            <a:r>
              <a:rPr lang="en-US"/>
              <a:t>TIMSS and PIRLS is ranked above avg  in mega states</a:t>
            </a:r>
          </a:p>
          <a:p>
            <a:endParaRPr lang="en-US"/>
          </a:p>
          <a:p>
            <a:r>
              <a:rPr lang="en-US"/>
              <a:t>Intresting facts: Define “Mega States -One-third of all public schools in USA are in these 5 states.</a:t>
            </a:r>
          </a:p>
          <a:p>
            <a:r>
              <a:rPr lang="en-US"/>
              <a:t>Demographics: Mega States serve more than half of the nation’s English language learners (ELL), as well as more than one-third of all families below the poverty line.</a:t>
            </a:r>
          </a:p>
          <a:p>
            <a:r>
              <a:rPr lang="en-US"/>
              <a:t>STATS: 18.7 million students, 2.9 million ELL students, Range of per-pupil expenditures [$8,562 (TX) to$17,746 (NY)]</a:t>
            </a:r>
          </a:p>
          <a:p>
            <a:endParaRPr lang="en-US"/>
          </a:p>
          <a:p>
            <a:endParaRPr lang="en-US">
              <a:cs typeface="Calibri"/>
            </a:endParaRPr>
          </a:p>
        </p:txBody>
      </p:sp>
      <p:sp>
        <p:nvSpPr>
          <p:cNvPr id="4" name="Slide Number Placeholder 3"/>
          <p:cNvSpPr>
            <a:spLocks noGrp="1"/>
          </p:cNvSpPr>
          <p:nvPr>
            <p:ph type="sldNum" sz="quarter" idx="5"/>
          </p:nvPr>
        </p:nvSpPr>
        <p:spPr/>
        <p:txBody>
          <a:bodyPr/>
          <a:lstStyle/>
          <a:p>
            <a:fld id="{5C1281D4-4E22-4F94-BAF4-1B9CEE4D4A79}" type="slidenum">
              <a:rPr lang="en-US" smtClean="0"/>
              <a:t>7</a:t>
            </a:fld>
            <a:endParaRPr lang="en-US"/>
          </a:p>
        </p:txBody>
      </p:sp>
    </p:spTree>
    <p:extLst>
      <p:ext uri="{BB962C8B-B14F-4D97-AF65-F5344CB8AC3E}">
        <p14:creationId xmlns:p14="http://schemas.microsoft.com/office/powerpoint/2010/main" val="1911570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tx1">
                    <a:lumMod val="50000"/>
                    <a:lumOff val="50000"/>
                  </a:schemeClr>
                </a:solidFill>
                <a:latin typeface="Cambria Math" panose="02040503050406030204" pitchFamily="18" charset="0"/>
                <a:ea typeface="Cambria Math" panose="02040503050406030204" pitchFamily="18" charset="0"/>
              </a:rPr>
              <a:t>“Quality” and “Safety” as key dimensions.</a:t>
            </a:r>
            <a:endParaRPr lang="en-US" sz="1200" b="0" dirty="0">
              <a:solidFill>
                <a:schemeClr val="tx1">
                  <a:lumMod val="50000"/>
                  <a:lumOff val="50000"/>
                </a:schemeClr>
              </a:solidFill>
              <a:latin typeface="Cambria Math"/>
              <a:ea typeface="Cambria Math"/>
            </a:endParaRPr>
          </a:p>
          <a:p>
            <a:r>
              <a:rPr lang="en-US" sz="1200" b="0" dirty="0">
                <a:solidFill>
                  <a:schemeClr val="tx1">
                    <a:lumMod val="50000"/>
                    <a:lumOff val="50000"/>
                  </a:schemeClr>
                </a:solidFill>
                <a:latin typeface="Cambria Math"/>
                <a:ea typeface="Cambria Math"/>
              </a:rPr>
              <a:t>Factors included in order to determine the best and worst states for public-school education like</a:t>
            </a:r>
          </a:p>
          <a:p>
            <a:r>
              <a:rPr lang="en-US" sz="1200" b="0" dirty="0">
                <a:solidFill>
                  <a:schemeClr val="tx1">
                    <a:lumMod val="50000"/>
                    <a:lumOff val="50000"/>
                  </a:schemeClr>
                </a:solidFill>
                <a:latin typeface="Cambria Math"/>
                <a:ea typeface="Cambria Math"/>
              </a:rPr>
              <a:t>Drop-out Rate, Test Scores, Pupil-Teacher Ratio, Graduation Rates, Assessment criteria </a:t>
            </a:r>
            <a:endParaRPr lang="en-US" sz="1200" b="0" dirty="0">
              <a:cs typeface="Calibri"/>
            </a:endParaRPr>
          </a:p>
          <a:p>
            <a:r>
              <a:rPr lang="en-US" sz="1200" b="0" dirty="0">
                <a:solidFill>
                  <a:schemeClr val="tx1">
                    <a:lumMod val="50000"/>
                    <a:lumOff val="50000"/>
                  </a:schemeClr>
                </a:solidFill>
                <a:latin typeface="Cambria Math"/>
                <a:ea typeface="Cambria Math"/>
              </a:rPr>
              <a:t>New Hampshire is standing in top 5 states.  New Mexico is rated last</a:t>
            </a:r>
            <a:endParaRPr lang="en-US" b="0" dirty="0"/>
          </a:p>
          <a:p>
            <a:r>
              <a:rPr lang="en-US" b="0" dirty="0"/>
              <a:t>At this point we have completed the first part of our story – I would like to turn the story over to my team member Zack to continue </a:t>
            </a:r>
            <a:r>
              <a:rPr lang="en-US" b="0" dirty="0">
                <a:sym typeface="Wingdings" panose="05000000000000000000" pitchFamily="2" charset="2"/>
              </a:rPr>
              <a:t></a:t>
            </a:r>
          </a:p>
          <a:p>
            <a:endParaRPr lang="en-US" b="0" dirty="0">
              <a:sym typeface="Wingdings" panose="05000000000000000000" pitchFamily="2" charset="2"/>
            </a:endParaRPr>
          </a:p>
          <a:p>
            <a:pPr fontAlgn="base">
              <a:spcBef>
                <a:spcPts val="0"/>
              </a:spcBef>
            </a:pPr>
            <a:r>
              <a:rPr lang="en-US" sz="1200" b="1" dirty="0"/>
              <a:t>Quality</a:t>
            </a:r>
            <a:r>
              <a:rPr lang="en-US" sz="1200" dirty="0"/>
              <a:t> – Total Points: 80 </a:t>
            </a:r>
          </a:p>
          <a:p>
            <a:pPr fontAlgn="base">
              <a:spcBef>
                <a:spcPts val="0"/>
              </a:spcBef>
            </a:pPr>
            <a:r>
              <a:rPr lang="en-US" sz="1200" dirty="0"/>
              <a:t>Presence of Public Schools in “Top 700 Best U.S. Schools”</a:t>
            </a:r>
          </a:p>
          <a:p>
            <a:pPr fontAlgn="base">
              <a:spcBef>
                <a:spcPts val="0"/>
              </a:spcBef>
            </a:pPr>
            <a:r>
              <a:rPr lang="en-US" sz="1200" dirty="0"/>
              <a:t>Blue Ribbon Schools per Capita: </a:t>
            </a:r>
          </a:p>
          <a:p>
            <a:pPr fontAlgn="base">
              <a:spcBef>
                <a:spcPts val="0"/>
              </a:spcBef>
            </a:pPr>
            <a:r>
              <a:rPr lang="en-US" sz="1200" dirty="0"/>
              <a:t>High School Graduation Rate Among Low-Income Students: </a:t>
            </a:r>
          </a:p>
          <a:p>
            <a:pPr fontAlgn="base">
              <a:spcBef>
                <a:spcPts val="0"/>
              </a:spcBef>
            </a:pPr>
            <a:r>
              <a:rPr lang="en-US" sz="1200" dirty="0"/>
              <a:t>Projected High School Graduation Rate Increase Between 2018-2019 and 2031-2032 School Years</a:t>
            </a:r>
          </a:p>
          <a:p>
            <a:pPr fontAlgn="base">
              <a:spcBef>
                <a:spcPts val="0"/>
              </a:spcBef>
            </a:pPr>
            <a:r>
              <a:rPr lang="en-US" sz="1200" dirty="0"/>
              <a:t>Dropout Rate</a:t>
            </a:r>
          </a:p>
          <a:p>
            <a:pPr fontAlgn="base">
              <a:spcBef>
                <a:spcPts val="0"/>
              </a:spcBef>
            </a:pPr>
            <a:r>
              <a:rPr lang="en-US" sz="1200" dirty="0"/>
              <a:t>Math Test Scores:</a:t>
            </a:r>
          </a:p>
          <a:p>
            <a:pPr fontAlgn="base">
              <a:spcBef>
                <a:spcPts val="0"/>
              </a:spcBef>
            </a:pPr>
            <a:r>
              <a:rPr lang="en-US" sz="1200" dirty="0"/>
              <a:t>Reading Test Scores</a:t>
            </a:r>
          </a:p>
          <a:p>
            <a:pPr fontAlgn="base"/>
            <a:r>
              <a:rPr lang="en-US" sz="1200" b="1" dirty="0"/>
              <a:t>Safety</a:t>
            </a:r>
            <a:r>
              <a:rPr lang="en-US" sz="1200" dirty="0"/>
              <a:t> – Total Points: 20</a:t>
            </a:r>
          </a:p>
          <a:p>
            <a:pPr fontAlgn="base">
              <a:spcBef>
                <a:spcPts val="0"/>
              </a:spcBef>
            </a:pPr>
            <a:r>
              <a:rPr lang="en-US" sz="1200" dirty="0"/>
              <a:t>Share of Threatened/Injured High School Students</a:t>
            </a:r>
          </a:p>
          <a:p>
            <a:pPr fontAlgn="base">
              <a:spcBef>
                <a:spcPts val="0"/>
              </a:spcBef>
            </a:pPr>
            <a:r>
              <a:rPr lang="en-US" sz="1200" dirty="0"/>
              <a:t>Share of High School Students Not Attending School Due to Safety Concerns</a:t>
            </a:r>
          </a:p>
          <a:p>
            <a:pPr fontAlgn="base">
              <a:spcBef>
                <a:spcPts val="0"/>
              </a:spcBef>
            </a:pPr>
            <a:r>
              <a:rPr lang="en-US" sz="1200" dirty="0"/>
              <a:t>Share of Families Who Agree Their Children Go to Safe Schools</a:t>
            </a:r>
          </a:p>
          <a:p>
            <a:pPr fontAlgn="base">
              <a:spcBef>
                <a:spcPts val="0"/>
              </a:spcBef>
            </a:pPr>
            <a:r>
              <a:rPr lang="en-US" sz="1200" dirty="0"/>
              <a:t>Share of High School Students with Access to Illegal Drugs</a:t>
            </a:r>
            <a:br>
              <a:rPr lang="en-US" sz="1200" dirty="0"/>
            </a:br>
            <a:r>
              <a:rPr lang="en-US" sz="1200" dirty="0"/>
              <a:t>Share of High School Students Participating in Violence</a:t>
            </a:r>
          </a:p>
          <a:p>
            <a:pPr fontAlgn="base">
              <a:spcBef>
                <a:spcPts val="0"/>
              </a:spcBef>
            </a:pPr>
            <a:r>
              <a:rPr lang="en-US" sz="1200" dirty="0"/>
              <a:t>Share of Armed High School Students: Full Weight </a:t>
            </a:r>
            <a:br>
              <a:rPr lang="en-US" sz="1200" dirty="0"/>
            </a:br>
            <a:r>
              <a:rPr lang="en-US" sz="1200" dirty="0"/>
              <a:t>Number of School Shootings (2000-present (May 10, 2019))</a:t>
            </a:r>
          </a:p>
          <a:p>
            <a:endParaRPr lang="en-US" b="0" dirty="0"/>
          </a:p>
        </p:txBody>
      </p:sp>
      <p:sp>
        <p:nvSpPr>
          <p:cNvPr id="4" name="Slide Number Placeholder 3"/>
          <p:cNvSpPr>
            <a:spLocks noGrp="1"/>
          </p:cNvSpPr>
          <p:nvPr>
            <p:ph type="sldNum" sz="quarter" idx="5"/>
          </p:nvPr>
        </p:nvSpPr>
        <p:spPr/>
        <p:txBody>
          <a:bodyPr/>
          <a:lstStyle/>
          <a:p>
            <a:fld id="{5C1281D4-4E22-4F94-BAF4-1B9CEE4D4A79}" type="slidenum">
              <a:rPr lang="en-US" smtClean="0"/>
              <a:t>8</a:t>
            </a:fld>
            <a:endParaRPr lang="en-US"/>
          </a:p>
        </p:txBody>
      </p:sp>
    </p:spTree>
    <p:extLst>
      <p:ext uri="{BB962C8B-B14F-4D97-AF65-F5344CB8AC3E}">
        <p14:creationId xmlns:p14="http://schemas.microsoft.com/office/powerpoint/2010/main" val="3190775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National Assessment of Education Progress</a:t>
            </a:r>
          </a:p>
          <a:p>
            <a:r>
              <a:rPr lang="en-US"/>
              <a:t>	-federally run – national</a:t>
            </a:r>
          </a:p>
          <a:p>
            <a:r>
              <a:rPr lang="en-US"/>
              <a:t>	-every 2 years</a:t>
            </a:r>
          </a:p>
          <a:p>
            <a:r>
              <a:rPr lang="en-US"/>
              <a:t>	-subsample of pop</a:t>
            </a:r>
          </a:p>
          <a:p>
            <a:r>
              <a:rPr lang="en-US"/>
              <a:t>	-only state and national data</a:t>
            </a:r>
          </a:p>
          <a:p>
            <a:r>
              <a:rPr lang="en-US"/>
              <a:t>-----------------------------------------------------------------------------------</a:t>
            </a:r>
          </a:p>
          <a:p>
            <a:r>
              <a:rPr lang="en-US"/>
              <a:t>Math:</a:t>
            </a:r>
          </a:p>
          <a:p>
            <a:r>
              <a:rPr lang="en-US"/>
              <a:t>	-Scores for Grade 4 and Grade 8 are out of 500</a:t>
            </a:r>
          </a:p>
          <a:p>
            <a:r>
              <a:rPr lang="en-US"/>
              <a:t>	-In 2005, the 12</a:t>
            </a:r>
            <a:r>
              <a:rPr lang="en-US" baseline="30000"/>
              <a:t>th</a:t>
            </a:r>
            <a:r>
              <a:rPr lang="en-US"/>
              <a:t> grade mathematics assessment changed, so the scale is 0-300</a:t>
            </a:r>
          </a:p>
          <a:p>
            <a:r>
              <a:rPr lang="en-US"/>
              <a:t>		-readjusted content as well (more advanced math topics)</a:t>
            </a:r>
          </a:p>
          <a:p>
            <a:r>
              <a:rPr lang="en-US"/>
              <a:t>			-based on state standards and international measures</a:t>
            </a:r>
          </a:p>
          <a:p>
            <a:r>
              <a:rPr lang="en-US"/>
              <a:t>-----------------------------------------------------------------------------------</a:t>
            </a:r>
          </a:p>
          <a:p>
            <a:r>
              <a:rPr lang="en-US"/>
              <a:t>Science:</a:t>
            </a:r>
          </a:p>
          <a:p>
            <a:r>
              <a:rPr lang="en-US"/>
              <a:t>	-Scores for Grade 4, Grade 8, and Grade 12 are out of 300</a:t>
            </a:r>
          </a:p>
          <a:p>
            <a:r>
              <a:rPr lang="en-US"/>
              <a:t>	-In 2009, the Science framework was changed</a:t>
            </a:r>
          </a:p>
          <a:p>
            <a:r>
              <a:rPr lang="en-US"/>
              <a:t>		-more subjects, changes in some subjects (space science)	</a:t>
            </a:r>
          </a:p>
          <a:p>
            <a:r>
              <a:rPr lang="en-US"/>
              <a:t>		-increased conceptual questions (Identifying and Using Science principles)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Different levels explained -&gt; based on panel of educators/content experts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-currently in a trail stage of most current rankings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-may keep or change</a:t>
            </a:r>
          </a:p>
        </p:txBody>
      </p:sp>
      <p:sp>
        <p:nvSpPr>
          <p:cNvPr id="4" name="Slide Number Placeholder 3"/>
          <p:cNvSpPr>
            <a:spLocks noGrp="1"/>
          </p:cNvSpPr>
          <p:nvPr>
            <p:ph type="sldNum" sz="quarter" idx="5"/>
          </p:nvPr>
        </p:nvSpPr>
        <p:spPr/>
        <p:txBody>
          <a:bodyPr/>
          <a:lstStyle/>
          <a:p>
            <a:fld id="{5C1281D4-4E22-4F94-BAF4-1B9CEE4D4A79}" type="slidenum">
              <a:rPr lang="en-US" smtClean="0"/>
              <a:t>11</a:t>
            </a:fld>
            <a:endParaRPr lang="en-US"/>
          </a:p>
        </p:txBody>
      </p:sp>
    </p:spTree>
    <p:extLst>
      <p:ext uri="{BB962C8B-B14F-4D97-AF65-F5344CB8AC3E}">
        <p14:creationId xmlns:p14="http://schemas.microsoft.com/office/powerpoint/2010/main" val="2098726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Math and Science – 2015 (most recent year of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Drop in proficiency levels between 4</a:t>
            </a:r>
            <a:r>
              <a:rPr lang="en-US" baseline="30000"/>
              <a:t>th</a:t>
            </a:r>
            <a:r>
              <a:rPr lang="en-US"/>
              <a:t>, 8</a:t>
            </a:r>
            <a:r>
              <a:rPr lang="en-US" baseline="30000"/>
              <a:t>th</a:t>
            </a:r>
            <a:r>
              <a:rPr lang="en-US"/>
              <a:t>, and 12</a:t>
            </a:r>
            <a:r>
              <a:rPr lang="en-US" baseline="30000"/>
              <a:t>th</a:t>
            </a:r>
            <a:r>
              <a:rPr lang="en-US"/>
              <a:t> Grade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-more pronounced for grade 12</a:t>
            </a:r>
          </a:p>
          <a:p>
            <a:r>
              <a:rPr lang="en-US"/>
              <a:t>--------------------------------------------------------------------------------------------------------------------------------------------</a:t>
            </a:r>
          </a:p>
          <a:p>
            <a:r>
              <a:rPr lang="en-US"/>
              <a:t>Similar drop in Intl testing  - the gains of early education in 4</a:t>
            </a:r>
            <a:r>
              <a:rPr lang="en-US" baseline="30000"/>
              <a:t>th</a:t>
            </a:r>
            <a:r>
              <a:rPr lang="en-US"/>
              <a:t> and 8</a:t>
            </a:r>
            <a:r>
              <a:rPr lang="en-US" baseline="30000"/>
              <a:t>th</a:t>
            </a:r>
            <a:r>
              <a:rPr lang="en-US"/>
              <a:t> grade are not sustainable in the later high school years.</a:t>
            </a:r>
          </a:p>
          <a:p>
            <a:r>
              <a:rPr lang="en-US"/>
              <a:t>	-This is consistent with PISA results.</a:t>
            </a:r>
          </a:p>
        </p:txBody>
      </p:sp>
      <p:sp>
        <p:nvSpPr>
          <p:cNvPr id="4" name="Slide Number Placeholder 3"/>
          <p:cNvSpPr>
            <a:spLocks noGrp="1"/>
          </p:cNvSpPr>
          <p:nvPr>
            <p:ph type="sldNum" sz="quarter" idx="5"/>
          </p:nvPr>
        </p:nvSpPr>
        <p:spPr/>
        <p:txBody>
          <a:bodyPr/>
          <a:lstStyle/>
          <a:p>
            <a:fld id="{5C1281D4-4E22-4F94-BAF4-1B9CEE4D4A79}" type="slidenum">
              <a:rPr lang="en-US" smtClean="0"/>
              <a:t>12</a:t>
            </a:fld>
            <a:endParaRPr lang="en-US"/>
          </a:p>
        </p:txBody>
      </p:sp>
    </p:spTree>
    <p:extLst>
      <p:ext uri="{BB962C8B-B14F-4D97-AF65-F5344CB8AC3E}">
        <p14:creationId xmlns:p14="http://schemas.microsoft.com/office/powerpoint/2010/main" val="71484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Rankings of the states based on most recent NAEP scores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Math: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-2015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-MA, NH, NJ near top (MA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-AL, LA, NM bottom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-Top states much more proficient than middle/bottom</a:t>
            </a:r>
          </a:p>
          <a:p>
            <a:r>
              <a:rPr lang="en-US"/>
              <a:t>---------------------------------------------------------------------------</a:t>
            </a:r>
          </a:p>
          <a:p>
            <a:r>
              <a:rPr lang="en-US"/>
              <a:t>Science:</a:t>
            </a:r>
          </a:p>
          <a:p>
            <a:r>
              <a:rPr lang="en-US"/>
              <a:t>	2011/2015 Average -&gt; missing data from 2015</a:t>
            </a:r>
          </a:p>
          <a:p>
            <a:r>
              <a:rPr lang="en-US"/>
              <a:t>	-NH, VT, UT at top</a:t>
            </a:r>
          </a:p>
          <a:p>
            <a:r>
              <a:rPr lang="en-US"/>
              <a:t>	-LA, NM, AL still at bottom, with DC</a:t>
            </a:r>
          </a:p>
          <a:p>
            <a:r>
              <a:rPr lang="en-US"/>
              <a:t>	-similar trend to math, but no top peak</a:t>
            </a:r>
          </a:p>
        </p:txBody>
      </p:sp>
      <p:sp>
        <p:nvSpPr>
          <p:cNvPr id="4" name="Slide Number Placeholder 3"/>
          <p:cNvSpPr>
            <a:spLocks noGrp="1"/>
          </p:cNvSpPr>
          <p:nvPr>
            <p:ph type="sldNum" sz="quarter" idx="5"/>
          </p:nvPr>
        </p:nvSpPr>
        <p:spPr/>
        <p:txBody>
          <a:bodyPr/>
          <a:lstStyle/>
          <a:p>
            <a:fld id="{5C1281D4-4E22-4F94-BAF4-1B9CEE4D4A79}" type="slidenum">
              <a:rPr lang="en-US" smtClean="0"/>
              <a:t>13</a:t>
            </a:fld>
            <a:endParaRPr lang="en-US"/>
          </a:p>
        </p:txBody>
      </p:sp>
    </p:spTree>
    <p:extLst>
      <p:ext uri="{BB962C8B-B14F-4D97-AF65-F5344CB8AC3E}">
        <p14:creationId xmlns:p14="http://schemas.microsoft.com/office/powerpoint/2010/main" val="1160584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Took top and bottom states from PISA ranking</a:t>
            </a:r>
          </a:p>
          <a:p>
            <a:r>
              <a:rPr lang="en-US"/>
              <a:t>	-</a:t>
            </a:r>
            <a:r>
              <a:rPr lang="en-US" sz="1050"/>
              <a:t>Compared to the states in the NAEP score ranking to ensure states represented the top and bottom</a:t>
            </a:r>
          </a:p>
          <a:p>
            <a:endParaRPr lang="en-US"/>
          </a:p>
          <a:p>
            <a:r>
              <a:rPr lang="en-US"/>
              <a:t>Also looked at New Hampshire</a:t>
            </a:r>
          </a:p>
          <a:p>
            <a:r>
              <a:rPr lang="en-US"/>
              <a:t>	-Near top</a:t>
            </a:r>
          </a:p>
          <a:p>
            <a:r>
              <a:rPr lang="en-US"/>
              <a:t>	-where we live</a:t>
            </a:r>
          </a:p>
          <a:p>
            <a:r>
              <a:rPr lang="en-US"/>
              <a:t>	-Nathan knows it</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14</a:t>
            </a:fld>
            <a:endParaRPr lang="en-US"/>
          </a:p>
        </p:txBody>
      </p:sp>
    </p:spTree>
    <p:extLst>
      <p:ext uri="{BB962C8B-B14F-4D97-AF65-F5344CB8AC3E}">
        <p14:creationId xmlns:p14="http://schemas.microsoft.com/office/powerpoint/2010/main" val="3358846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Took top and bottom states from PISA ranking</a:t>
            </a:r>
          </a:p>
          <a:p>
            <a:r>
              <a:rPr lang="en-US"/>
              <a:t>	-</a:t>
            </a:r>
            <a:r>
              <a:rPr lang="en-US" sz="1050"/>
              <a:t>Compared to the states in the NAEP score ranking to ensure states represented the top and bottom</a:t>
            </a:r>
          </a:p>
          <a:p>
            <a:endParaRPr lang="en-US"/>
          </a:p>
          <a:p>
            <a:r>
              <a:rPr lang="en-US"/>
              <a:t>Also looked at New Hampshire</a:t>
            </a:r>
          </a:p>
          <a:p>
            <a:r>
              <a:rPr lang="en-US"/>
              <a:t>	-Near top</a:t>
            </a:r>
          </a:p>
          <a:p>
            <a:r>
              <a:rPr lang="en-US"/>
              <a:t>	-where we live</a:t>
            </a:r>
          </a:p>
          <a:p>
            <a:r>
              <a:rPr lang="en-US"/>
              <a:t>	-Nathan knows it</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15</a:t>
            </a:fld>
            <a:endParaRPr lang="en-US"/>
          </a:p>
        </p:txBody>
      </p:sp>
    </p:spTree>
    <p:extLst>
      <p:ext uri="{BB962C8B-B14F-4D97-AF65-F5344CB8AC3E}">
        <p14:creationId xmlns:p14="http://schemas.microsoft.com/office/powerpoint/2010/main" val="3354170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NEAP States money</a:t>
            </a:r>
          </a:p>
          <a:p>
            <a:r>
              <a:rPr lang="en-US"/>
              <a:t>	-GDP % and $/student</a:t>
            </a:r>
          </a:p>
          <a:p>
            <a:r>
              <a:rPr lang="en-US"/>
              <a:t>	-Averaged for past 7 years to smooth it out</a:t>
            </a:r>
          </a:p>
          <a:p>
            <a:r>
              <a:rPr lang="en-US"/>
              <a:t>----------------------------------------------------------------------------</a:t>
            </a:r>
          </a:p>
          <a:p>
            <a:r>
              <a:rPr lang="en-US"/>
              <a:t>National Ranges:</a:t>
            </a:r>
          </a:p>
          <a:p>
            <a:r>
              <a:rPr lang="en-US"/>
              <a:t>	GDP: 1.381% (DC) to 5.349% (VT)</a:t>
            </a:r>
          </a:p>
          <a:p>
            <a:r>
              <a:rPr lang="en-US"/>
              <a:t>		-average: 3.4%</a:t>
            </a:r>
          </a:p>
          <a:p>
            <a:r>
              <a:rPr lang="en-US"/>
              <a:t>	$/Student: $6,533.29 (UT) - $20,611.85 (DC)</a:t>
            </a:r>
          </a:p>
          <a:p>
            <a:r>
              <a:rPr lang="en-US"/>
              <a:t>		-average: $8,614.85</a:t>
            </a:r>
          </a:p>
          <a:p>
            <a:r>
              <a:rPr lang="en-US"/>
              <a:t>----------------------------------------------------------------------------</a:t>
            </a:r>
          </a:p>
          <a:p>
            <a:r>
              <a:rPr lang="en-US"/>
              <a:t>GDP:</a:t>
            </a:r>
          </a:p>
          <a:p>
            <a:r>
              <a:rPr lang="en-US"/>
              <a:t>	-Not much difference in percent GDP between the states</a:t>
            </a:r>
          </a:p>
          <a:p>
            <a:r>
              <a:rPr lang="en-US"/>
              <a:t>	-NM is not on bottom</a:t>
            </a:r>
          </a:p>
          <a:p>
            <a:r>
              <a:rPr lang="en-US"/>
              <a:t>----------------------------------------------------------------------------</a:t>
            </a:r>
          </a:p>
          <a:p>
            <a:r>
              <a:rPr lang="en-US"/>
              <a:t>$/Student:</a:t>
            </a:r>
          </a:p>
          <a:p>
            <a:r>
              <a:rPr lang="en-US"/>
              <a:t>	-more in line with ranking</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16</a:t>
            </a:fld>
            <a:endParaRPr lang="en-US"/>
          </a:p>
        </p:txBody>
      </p:sp>
    </p:spTree>
    <p:extLst>
      <p:ext uri="{BB962C8B-B14F-4D97-AF65-F5344CB8AC3E}">
        <p14:creationId xmlns:p14="http://schemas.microsoft.com/office/powerpoint/2010/main" val="2026148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Absences - 2015:</a:t>
            </a:r>
          </a:p>
          <a:p>
            <a:r>
              <a:rPr lang="en-US"/>
              <a:t>	-inverse to ranking</a:t>
            </a:r>
          </a:p>
          <a:p>
            <a:r>
              <a:rPr lang="en-US"/>
              <a:t>		-MA, NJ, NH high</a:t>
            </a:r>
          </a:p>
          <a:p>
            <a:r>
              <a:rPr lang="en-US"/>
              <a:t>		-LA low</a:t>
            </a:r>
          </a:p>
          <a:p>
            <a:r>
              <a:rPr lang="en-US"/>
              <a:t>		-NM very low</a:t>
            </a:r>
          </a:p>
          <a:p>
            <a:r>
              <a:rPr lang="en-US"/>
              <a:t>	-possible factors:</a:t>
            </a:r>
          </a:p>
          <a:p>
            <a:r>
              <a:rPr lang="en-US"/>
              <a:t>		-better school infrastructures -&gt; more processes in place to allow it (subs, </a:t>
            </a:r>
            <a:r>
              <a:rPr lang="en-US" err="1"/>
              <a:t>etc</a:t>
            </a:r>
            <a:r>
              <a:rPr lang="en-US"/>
              <a:t>)</a:t>
            </a:r>
          </a:p>
          <a:p>
            <a:r>
              <a:rPr lang="en-US"/>
              <a:t>		-no pressure to against calling in</a:t>
            </a:r>
          </a:p>
          <a:p>
            <a:r>
              <a:rPr lang="en-US"/>
              <a:t>--------------------------------------------------------------------------------------------------------------------</a:t>
            </a:r>
          </a:p>
          <a:p>
            <a:r>
              <a:rPr lang="en-US"/>
              <a:t>Student/Teacher Ratio - 2017:</a:t>
            </a:r>
          </a:p>
          <a:p>
            <a:r>
              <a:rPr lang="en-US"/>
              <a:t>	-generally lower in states with higher ranking, vice-versa  </a:t>
            </a:r>
          </a:p>
        </p:txBody>
      </p:sp>
      <p:sp>
        <p:nvSpPr>
          <p:cNvPr id="4" name="Slide Number Placeholder 3"/>
          <p:cNvSpPr>
            <a:spLocks noGrp="1"/>
          </p:cNvSpPr>
          <p:nvPr>
            <p:ph type="sldNum" sz="quarter" idx="5"/>
          </p:nvPr>
        </p:nvSpPr>
        <p:spPr/>
        <p:txBody>
          <a:bodyPr/>
          <a:lstStyle/>
          <a:p>
            <a:fld id="{5C1281D4-4E22-4F94-BAF4-1B9CEE4D4A79}" type="slidenum">
              <a:rPr lang="en-US" smtClean="0"/>
              <a:t>17</a:t>
            </a:fld>
            <a:endParaRPr lang="en-US"/>
          </a:p>
        </p:txBody>
      </p:sp>
    </p:spTree>
    <p:extLst>
      <p:ext uri="{BB962C8B-B14F-4D97-AF65-F5344CB8AC3E}">
        <p14:creationId xmlns:p14="http://schemas.microsoft.com/office/powerpoint/2010/main" val="2774851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reflects data as reported by state education agencies to </a:t>
            </a:r>
            <a:r>
              <a:rPr lang="en-US" sz="1200" kern="1200" err="1">
                <a:solidFill>
                  <a:schemeClr val="tx1"/>
                </a:solidFill>
                <a:effectLst/>
                <a:latin typeface="+mn-lt"/>
                <a:ea typeface="+mn-ea"/>
                <a:cs typeface="+mn-cs"/>
              </a:rPr>
              <a:t>ED</a:t>
            </a:r>
            <a:r>
              <a:rPr lang="en-US" sz="1200" i="1" kern="1200" err="1">
                <a:solidFill>
                  <a:schemeClr val="tx1"/>
                </a:solidFill>
                <a:effectLst/>
                <a:latin typeface="+mn-lt"/>
                <a:ea typeface="+mn-ea"/>
                <a:cs typeface="+mn-cs"/>
              </a:rPr>
              <a:t>Facts</a:t>
            </a:r>
            <a:endParaRPr lang="en-US" sz="1200" i="1"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	-</a:t>
            </a:r>
            <a:r>
              <a:rPr lang="en-US" sz="1200" kern="1200">
                <a:solidFill>
                  <a:schemeClr val="tx1"/>
                </a:solidFill>
                <a:effectLst/>
                <a:latin typeface="+mn-lt"/>
                <a:ea typeface="+mn-ea"/>
                <a:cs typeface="+mn-cs"/>
              </a:rPr>
              <a:t>ED checks, but data anomalies may still be present</a:t>
            </a:r>
          </a:p>
          <a:p>
            <a:r>
              <a:rPr lang="en-US" sz="1200" kern="1200">
                <a:solidFill>
                  <a:schemeClr val="tx1"/>
                </a:solidFill>
                <a:effectLst/>
                <a:latin typeface="+mn-lt"/>
                <a:ea typeface="+mn-ea"/>
                <a:cs typeface="+mn-cs"/>
              </a:rPr>
              <a:t>-------------------------------------------------------------------------------</a:t>
            </a:r>
          </a:p>
          <a:p>
            <a:r>
              <a:rPr lang="en-US" sz="1200" kern="1200">
                <a:solidFill>
                  <a:schemeClr val="tx1"/>
                </a:solidFill>
                <a:effectLst/>
                <a:latin typeface="+mn-lt"/>
                <a:ea typeface="+mn-ea"/>
                <a:cs typeface="+mn-cs"/>
              </a:rPr>
              <a:t>FERPA (Family Educational Rights and Privacy Act) is reasoning for bins</a:t>
            </a:r>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18</a:t>
            </a:fld>
            <a:endParaRPr lang="en-US"/>
          </a:p>
        </p:txBody>
      </p:sp>
    </p:spTree>
    <p:extLst>
      <p:ext uri="{BB962C8B-B14F-4D97-AF65-F5344CB8AC3E}">
        <p14:creationId xmlns:p14="http://schemas.microsoft.com/office/powerpoint/2010/main" val="26889269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4-Year Adjusted Cohort Rate for 2017 (most recent year):</a:t>
            </a:r>
          </a:p>
          <a:p>
            <a:r>
              <a:rPr lang="en-US"/>
              <a:t>	</a:t>
            </a:r>
            <a:r>
              <a:rPr lang="en-US" sz="1200" kern="1200">
                <a:solidFill>
                  <a:schemeClr val="tx1"/>
                </a:solidFill>
                <a:effectLst/>
                <a:latin typeface="+mn-lt"/>
                <a:ea typeface="+mn-ea"/>
                <a:cs typeface="+mn-cs"/>
              </a:rPr>
              <a:t>Number of cohort members who earned a regular high school diploma within 4 years/</a:t>
            </a:r>
          </a:p>
          <a:p>
            <a:r>
              <a:rPr lang="en-US" sz="1200" kern="1200">
                <a:solidFill>
                  <a:schemeClr val="tx1"/>
                </a:solidFill>
                <a:effectLst/>
                <a:latin typeface="+mn-lt"/>
                <a:ea typeface="+mn-ea"/>
                <a:cs typeface="+mn-cs"/>
              </a:rPr>
              <a:t>	Number of first-time 9th graders in fall 2011 (starting cohort) + students who transferred in - students who transferred out, emigrated, or died in the 4 years</a:t>
            </a:r>
            <a:endParaRPr lang="en-US"/>
          </a:p>
          <a:p>
            <a:r>
              <a:rPr lang="en-US"/>
              <a:t>------------------------------------------------------------------------------------------------------</a:t>
            </a:r>
          </a:p>
          <a:p>
            <a:r>
              <a:rPr lang="en-US"/>
              <a:t>Most districts in each state have graduation rates of 80-100%</a:t>
            </a:r>
          </a:p>
          <a:p>
            <a:r>
              <a:rPr lang="en-US" sz="1050"/>
              <a:t>	-NM is exception, with 60-79%</a:t>
            </a:r>
            <a:endParaRPr lang="en-US"/>
          </a:p>
          <a:p>
            <a:r>
              <a:rPr lang="en-US"/>
              <a:t>------------------------------------------------------------------------------------------------------</a:t>
            </a:r>
          </a:p>
          <a:p>
            <a:r>
              <a:rPr lang="en-US"/>
              <a:t>Higher counts in 80-100% compared to other ranges within the top states (MA, NJ, NH)</a:t>
            </a:r>
          </a:p>
          <a:p>
            <a:r>
              <a:rPr lang="en-US"/>
              <a:t>	-LA still has a large portion in 80-100%, but it has higher counts in 60-79% as well</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19</a:t>
            </a:fld>
            <a:endParaRPr lang="en-US"/>
          </a:p>
        </p:txBody>
      </p:sp>
    </p:spTree>
    <p:extLst>
      <p:ext uri="{BB962C8B-B14F-4D97-AF65-F5344CB8AC3E}">
        <p14:creationId xmlns:p14="http://schemas.microsoft.com/office/powerpoint/2010/main" val="357962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Math State Assessments -2017 (most recent year):</a:t>
            </a:r>
          </a:p>
          <a:p>
            <a:r>
              <a:rPr lang="en-US"/>
              <a:t>	-</a:t>
            </a:r>
            <a:r>
              <a:rPr lang="en-US" sz="1200" kern="1200">
                <a:solidFill>
                  <a:schemeClr val="tx1"/>
                </a:solidFill>
                <a:effectLst/>
                <a:latin typeface="+mn-lt"/>
                <a:ea typeface="+mn-ea"/>
                <a:cs typeface="+mn-cs"/>
              </a:rPr>
              <a:t>Students assessed annually in 3</a:t>
            </a:r>
            <a:r>
              <a:rPr lang="en-US" sz="1200" kern="1200" baseline="30000">
                <a:solidFill>
                  <a:schemeClr val="tx1"/>
                </a:solidFill>
                <a:effectLst/>
                <a:latin typeface="+mn-lt"/>
                <a:ea typeface="+mn-ea"/>
                <a:cs typeface="+mn-cs"/>
              </a:rPr>
              <a:t>rd</a:t>
            </a:r>
            <a:r>
              <a:rPr lang="en-US" sz="1200" kern="1200">
                <a:solidFill>
                  <a:schemeClr val="tx1"/>
                </a:solidFill>
                <a:effectLst/>
                <a:latin typeface="+mn-lt"/>
                <a:ea typeface="+mn-ea"/>
                <a:cs typeface="+mn-cs"/>
              </a:rPr>
              <a:t> through 8</a:t>
            </a:r>
            <a:r>
              <a:rPr lang="en-US" sz="1200" kern="1200" baseline="30000">
                <a:solidFill>
                  <a:schemeClr val="tx1"/>
                </a:solidFill>
                <a:effectLst/>
                <a:latin typeface="+mn-lt"/>
                <a:ea typeface="+mn-ea"/>
                <a:cs typeface="+mn-cs"/>
              </a:rPr>
              <a:t>th</a:t>
            </a:r>
            <a:r>
              <a:rPr lang="en-US" sz="1200" kern="1200">
                <a:solidFill>
                  <a:schemeClr val="tx1"/>
                </a:solidFill>
                <a:effectLst/>
                <a:latin typeface="+mn-lt"/>
                <a:ea typeface="+mn-ea"/>
                <a:cs typeface="+mn-cs"/>
              </a:rPr>
              <a:t> grade, and at least once in high school</a:t>
            </a:r>
          </a:p>
          <a:p>
            <a:r>
              <a:rPr lang="en-US" sz="1200"/>
              <a:t>	-’Proficient or Above’ defined as the number of students achieving the ‘proficient’ or ‘advanced’ rating</a:t>
            </a:r>
          </a:p>
          <a:p>
            <a:r>
              <a:rPr lang="en-US" sz="1200"/>
              <a:t>		-defined by State Education Agency</a:t>
            </a:r>
            <a:endParaRPr lang="en-US"/>
          </a:p>
          <a:p>
            <a:r>
              <a:rPr lang="en-US"/>
              <a:t>---------------------------------------------------------------------------------------------------------------</a:t>
            </a:r>
          </a:p>
          <a:p>
            <a:r>
              <a:rPr lang="en-US"/>
              <a:t>Most districts in each state have proficiency rates of 40-59%</a:t>
            </a:r>
          </a:p>
          <a:p>
            <a:r>
              <a:rPr lang="en-US" sz="1050"/>
              <a:t>	-NM is exception, with 0-19%</a:t>
            </a:r>
          </a:p>
          <a:p>
            <a:endParaRPr lang="en-US" sz="1050"/>
          </a:p>
          <a:p>
            <a:r>
              <a:rPr lang="en-US" sz="1050"/>
              <a:t>LA is higher than NJ</a:t>
            </a:r>
          </a:p>
          <a:p>
            <a:r>
              <a:rPr lang="en-US" sz="1050"/>
              <a:t>	-state requirements may be lower</a:t>
            </a:r>
          </a:p>
          <a:p>
            <a:endParaRPr lang="en-US"/>
          </a:p>
          <a:p>
            <a:r>
              <a:rPr lang="en-US"/>
              <a:t>States seem similar in proficiency level spread</a:t>
            </a:r>
          </a:p>
          <a:p>
            <a:r>
              <a:rPr lang="en-US" sz="1050"/>
              <a:t>	-Exception is NM</a:t>
            </a:r>
          </a:p>
          <a:p>
            <a:r>
              <a:rPr lang="en-US" sz="1050"/>
              <a:t>---------------------------------------------------------------------------------------------------------------</a:t>
            </a:r>
          </a:p>
          <a:p>
            <a:r>
              <a:rPr lang="en-US" sz="1050"/>
              <a:t>Trend -&gt; higher ranking states have better grade rates and better math proficiency</a:t>
            </a:r>
          </a:p>
        </p:txBody>
      </p:sp>
      <p:sp>
        <p:nvSpPr>
          <p:cNvPr id="4" name="Slide Number Placeholder 3"/>
          <p:cNvSpPr>
            <a:spLocks noGrp="1"/>
          </p:cNvSpPr>
          <p:nvPr>
            <p:ph type="sldNum" sz="quarter" idx="5"/>
          </p:nvPr>
        </p:nvSpPr>
        <p:spPr/>
        <p:txBody>
          <a:bodyPr/>
          <a:lstStyle/>
          <a:p>
            <a:fld id="{5C1281D4-4E22-4F94-BAF4-1B9CEE4D4A79}" type="slidenum">
              <a:rPr lang="en-US" smtClean="0"/>
              <a:t>20</a:t>
            </a:fld>
            <a:endParaRPr lang="en-US"/>
          </a:p>
        </p:txBody>
      </p:sp>
    </p:spTree>
    <p:extLst>
      <p:ext uri="{BB962C8B-B14F-4D97-AF65-F5344CB8AC3E}">
        <p14:creationId xmlns:p14="http://schemas.microsoft.com/office/powerpoint/2010/main" val="3606871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Average ACT and SAT scores by state</a:t>
            </a:r>
          </a:p>
          <a:p>
            <a:r>
              <a:rPr lang="en-US"/>
              <a:t>	-ACT is 2017 (out of 36)</a:t>
            </a:r>
          </a:p>
          <a:p>
            <a:r>
              <a:rPr lang="en-US"/>
              <a:t>	-SAT is 2018 (out of 1600)</a:t>
            </a:r>
          </a:p>
          <a:p>
            <a:r>
              <a:rPr lang="en-US"/>
              <a:t>----------------------------------------------</a:t>
            </a:r>
          </a:p>
          <a:p>
            <a:r>
              <a:rPr lang="en-US"/>
              <a:t>NM, LA more ACT</a:t>
            </a:r>
          </a:p>
          <a:p>
            <a:endParaRPr lang="en-US"/>
          </a:p>
          <a:p>
            <a:r>
              <a:rPr lang="en-US"/>
              <a:t>MA, NH, NJ more SAT</a:t>
            </a:r>
          </a:p>
          <a:p>
            <a:r>
              <a:rPr lang="en-US"/>
              <a:t>----------------------------------------------</a:t>
            </a:r>
          </a:p>
          <a:p>
            <a:r>
              <a:rPr lang="en-US"/>
              <a:t>Higher participation = lower average score comparatively</a:t>
            </a:r>
          </a:p>
          <a:p>
            <a:r>
              <a:rPr lang="en-US"/>
              <a:t>	-only best students taking it in low participation states?</a:t>
            </a:r>
          </a:p>
        </p:txBody>
      </p:sp>
      <p:sp>
        <p:nvSpPr>
          <p:cNvPr id="4" name="Slide Number Placeholder 3"/>
          <p:cNvSpPr>
            <a:spLocks noGrp="1"/>
          </p:cNvSpPr>
          <p:nvPr>
            <p:ph type="sldNum" sz="quarter" idx="5"/>
          </p:nvPr>
        </p:nvSpPr>
        <p:spPr/>
        <p:txBody>
          <a:bodyPr/>
          <a:lstStyle/>
          <a:p>
            <a:fld id="{5C1281D4-4E22-4F94-BAF4-1B9CEE4D4A79}" type="slidenum">
              <a:rPr lang="en-US" smtClean="0"/>
              <a:t>21</a:t>
            </a:fld>
            <a:endParaRPr lang="en-US"/>
          </a:p>
        </p:txBody>
      </p:sp>
    </p:spTree>
    <p:extLst>
      <p:ext uri="{BB962C8B-B14F-4D97-AF65-F5344CB8AC3E}">
        <p14:creationId xmlns:p14="http://schemas.microsoft.com/office/powerpoint/2010/main" val="4078674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 Enrollment – 2015 (most recent year)</a:t>
            </a:r>
          </a:p>
          <a:p>
            <a:r>
              <a:rPr lang="en-US"/>
              <a:t>-----------------------------------------------------------------------------------------------------</a:t>
            </a:r>
          </a:p>
          <a:p>
            <a:r>
              <a:rPr lang="en-US"/>
              <a:t>States with a higher ranking generally show a higher amount of districts with AP Enrollment</a:t>
            </a:r>
          </a:p>
          <a:p>
            <a:r>
              <a:rPr lang="en-US" sz="1050"/>
              <a:t>	-MA, NH, NJ all above 80%</a:t>
            </a:r>
          </a:p>
          <a:p>
            <a:r>
              <a:rPr lang="en-US" sz="1050"/>
              <a:t>	-LA is close to 60%</a:t>
            </a:r>
          </a:p>
          <a:p>
            <a:r>
              <a:rPr lang="en-US" sz="1050"/>
              <a:t>	-NM is below 40%</a:t>
            </a:r>
            <a:endParaRPr lang="en-US"/>
          </a:p>
          <a:p>
            <a:r>
              <a:rPr lang="en-US"/>
              <a:t>-----------------------------------------------------------------------------------------------------</a:t>
            </a:r>
          </a:p>
          <a:p>
            <a:r>
              <a:rPr lang="en-US"/>
              <a:t>There appears to be a relationship between having a higher AP enrollment and ranking</a:t>
            </a:r>
          </a:p>
          <a:p>
            <a:r>
              <a:rPr lang="en-US"/>
              <a:t>	-Ratio of Yes/No decreases at lower ranks, then more No for NM</a:t>
            </a:r>
          </a:p>
        </p:txBody>
      </p:sp>
      <p:sp>
        <p:nvSpPr>
          <p:cNvPr id="4" name="Slide Number Placeholder 3"/>
          <p:cNvSpPr>
            <a:spLocks noGrp="1"/>
          </p:cNvSpPr>
          <p:nvPr>
            <p:ph type="sldNum" sz="quarter" idx="5"/>
          </p:nvPr>
        </p:nvSpPr>
        <p:spPr/>
        <p:txBody>
          <a:bodyPr/>
          <a:lstStyle/>
          <a:p>
            <a:fld id="{5C1281D4-4E22-4F94-BAF4-1B9CEE4D4A79}" type="slidenum">
              <a:rPr lang="en-US" smtClean="0"/>
              <a:t>22</a:t>
            </a:fld>
            <a:endParaRPr lang="en-US"/>
          </a:p>
        </p:txBody>
      </p:sp>
    </p:spTree>
    <p:extLst>
      <p:ext uri="{BB962C8B-B14F-4D97-AF65-F5344CB8AC3E}">
        <p14:creationId xmlns:p14="http://schemas.microsoft.com/office/powerpoint/2010/main" val="3812871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Percentage of students in the district enrolled in AP Mathematics – 2015 (most recent year):</a:t>
            </a:r>
          </a:p>
          <a:p>
            <a:r>
              <a:rPr lang="en-US"/>
              <a:t>------------------------------------------------------------------------------------------------------ </a:t>
            </a:r>
          </a:p>
          <a:p>
            <a:r>
              <a:rPr lang="en-US"/>
              <a:t>Clearly highest -&gt; Asian</a:t>
            </a:r>
          </a:p>
          <a:p>
            <a:r>
              <a:rPr lang="en-US"/>
              <a:t>	-across all states regardless of rank</a:t>
            </a:r>
          </a:p>
          <a:p>
            <a:r>
              <a:rPr lang="en-US"/>
              <a:t>	-cultural?</a:t>
            </a:r>
          </a:p>
          <a:p>
            <a:r>
              <a:rPr lang="en-US"/>
              <a:t>------------------------------------------------------------------------------------------------------</a:t>
            </a:r>
          </a:p>
          <a:p>
            <a:r>
              <a:rPr lang="en-US"/>
              <a:t>Rest of the races are similar to each other across states</a:t>
            </a:r>
          </a:p>
          <a:p>
            <a:r>
              <a:rPr lang="en-US"/>
              <a:t>------------------------------------------------------------------------------------------------------</a:t>
            </a:r>
          </a:p>
          <a:p>
            <a:r>
              <a:rPr lang="en-US"/>
              <a:t>Looked at race for the math proficiency and grad rates:</a:t>
            </a:r>
          </a:p>
          <a:p>
            <a:r>
              <a:rPr lang="en-US"/>
              <a:t>	-very similar trends</a:t>
            </a:r>
          </a:p>
          <a:p>
            <a:r>
              <a:rPr lang="en-US"/>
              <a:t>	-redundant to show</a:t>
            </a:r>
          </a:p>
          <a:p>
            <a:r>
              <a:rPr lang="en-US"/>
              <a:t>------------------------------------------------------------------------------------------------------</a:t>
            </a:r>
          </a:p>
          <a:p>
            <a:r>
              <a:rPr lang="en-US"/>
              <a:t>Transition to Nathan:</a:t>
            </a:r>
          </a:p>
          <a:p>
            <a:r>
              <a:rPr lang="en-US"/>
              <a:t>	-About trends</a:t>
            </a:r>
          </a:p>
          <a:p>
            <a:r>
              <a:rPr lang="en-US"/>
              <a:t>	-Resident education expert</a:t>
            </a:r>
          </a:p>
        </p:txBody>
      </p:sp>
      <p:sp>
        <p:nvSpPr>
          <p:cNvPr id="4" name="Slide Number Placeholder 3"/>
          <p:cNvSpPr>
            <a:spLocks noGrp="1"/>
          </p:cNvSpPr>
          <p:nvPr>
            <p:ph type="sldNum" sz="quarter" idx="5"/>
          </p:nvPr>
        </p:nvSpPr>
        <p:spPr/>
        <p:txBody>
          <a:bodyPr/>
          <a:lstStyle/>
          <a:p>
            <a:fld id="{5C1281D4-4E22-4F94-BAF4-1B9CEE4D4A79}" type="slidenum">
              <a:rPr lang="en-US" smtClean="0"/>
              <a:t>23</a:t>
            </a:fld>
            <a:endParaRPr lang="en-US"/>
          </a:p>
        </p:txBody>
      </p:sp>
    </p:spTree>
    <p:extLst>
      <p:ext uri="{BB962C8B-B14F-4D97-AF65-F5344CB8AC3E}">
        <p14:creationId xmlns:p14="http://schemas.microsoft.com/office/powerpoint/2010/main" val="1879314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Math and Science – 2015 (most recent year of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Drop in proficiency levels between 4</a:t>
            </a:r>
            <a:r>
              <a:rPr lang="en-US" baseline="30000"/>
              <a:t>th</a:t>
            </a:r>
            <a:r>
              <a:rPr lang="en-US"/>
              <a:t>, 8</a:t>
            </a:r>
            <a:r>
              <a:rPr lang="en-US" baseline="30000"/>
              <a:t>th</a:t>
            </a:r>
            <a:r>
              <a:rPr lang="en-US"/>
              <a:t>, and 12</a:t>
            </a:r>
            <a:r>
              <a:rPr lang="en-US" baseline="30000"/>
              <a:t>th</a:t>
            </a:r>
            <a:r>
              <a:rPr lang="en-US"/>
              <a:t> Grade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-more pronounced for grade 12</a:t>
            </a:r>
          </a:p>
          <a:p>
            <a:r>
              <a:rPr lang="en-US"/>
              <a:t>--------------------------------------------------------------------------------------------------------------------------------------------</a:t>
            </a:r>
          </a:p>
          <a:p>
            <a:r>
              <a:rPr lang="en-US"/>
              <a:t>Similar drop in Intl testing  - the gains of early education in 4</a:t>
            </a:r>
            <a:r>
              <a:rPr lang="en-US" baseline="30000"/>
              <a:t>th</a:t>
            </a:r>
            <a:r>
              <a:rPr lang="en-US"/>
              <a:t> and 8</a:t>
            </a:r>
            <a:r>
              <a:rPr lang="en-US" baseline="30000"/>
              <a:t>th</a:t>
            </a:r>
            <a:r>
              <a:rPr lang="en-US"/>
              <a:t> grade are not sustainable in the later high school years.</a:t>
            </a:r>
          </a:p>
          <a:p>
            <a:r>
              <a:rPr lang="en-US"/>
              <a:t>	-This is consistent with PISA results.</a:t>
            </a:r>
          </a:p>
        </p:txBody>
      </p:sp>
      <p:sp>
        <p:nvSpPr>
          <p:cNvPr id="4" name="Slide Number Placeholder 3"/>
          <p:cNvSpPr>
            <a:spLocks noGrp="1"/>
          </p:cNvSpPr>
          <p:nvPr>
            <p:ph type="sldNum" sz="quarter" idx="5"/>
          </p:nvPr>
        </p:nvSpPr>
        <p:spPr/>
        <p:txBody>
          <a:bodyPr/>
          <a:lstStyle/>
          <a:p>
            <a:fld id="{5C1281D4-4E22-4F94-BAF4-1B9CEE4D4A79}" type="slidenum">
              <a:rPr lang="en-US" smtClean="0"/>
              <a:t>25</a:t>
            </a:fld>
            <a:endParaRPr lang="en-US"/>
          </a:p>
        </p:txBody>
      </p:sp>
    </p:spTree>
    <p:extLst>
      <p:ext uri="{BB962C8B-B14F-4D97-AF65-F5344CB8AC3E}">
        <p14:creationId xmlns:p14="http://schemas.microsoft.com/office/powerpoint/2010/main" val="2244288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HS have been off the radar – attention and efforts were focused on standards for K-8, and thus graduation requirements &amp; testing were driving HS curriculum and output (AP, SAT, ACT, PSAT), </a:t>
            </a:r>
          </a:p>
          <a:p>
            <a:endParaRPr lang="en-US" dirty="0"/>
          </a:p>
        </p:txBody>
      </p:sp>
      <p:sp>
        <p:nvSpPr>
          <p:cNvPr id="4" name="Slide Number Placeholder 3"/>
          <p:cNvSpPr>
            <a:spLocks noGrp="1"/>
          </p:cNvSpPr>
          <p:nvPr>
            <p:ph type="sldNum" sz="quarter" idx="5"/>
          </p:nvPr>
        </p:nvSpPr>
        <p:spPr/>
        <p:txBody>
          <a:bodyPr/>
          <a:lstStyle/>
          <a:p>
            <a:fld id="{5C1281D4-4E22-4F94-BAF4-1B9CEE4D4A79}" type="slidenum">
              <a:rPr lang="en-US" smtClean="0"/>
              <a:t>26</a:t>
            </a:fld>
            <a:endParaRPr lang="en-US"/>
          </a:p>
        </p:txBody>
      </p:sp>
    </p:spTree>
    <p:extLst>
      <p:ext uri="{BB962C8B-B14F-4D97-AF65-F5344CB8AC3E}">
        <p14:creationId xmlns:p14="http://schemas.microsoft.com/office/powerpoint/2010/main" val="16764930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policy trends that span the following issues: </a:t>
            </a:r>
          </a:p>
        </p:txBody>
      </p:sp>
      <p:sp>
        <p:nvSpPr>
          <p:cNvPr id="4" name="Slide Number Placeholder 3"/>
          <p:cNvSpPr>
            <a:spLocks noGrp="1"/>
          </p:cNvSpPr>
          <p:nvPr>
            <p:ph type="sldNum" sz="quarter" idx="5"/>
          </p:nvPr>
        </p:nvSpPr>
        <p:spPr/>
        <p:txBody>
          <a:bodyPr/>
          <a:lstStyle/>
          <a:p>
            <a:fld id="{5C1281D4-4E22-4F94-BAF4-1B9CEE4D4A79}" type="slidenum">
              <a:rPr lang="en-US" smtClean="0"/>
              <a:t>29</a:t>
            </a:fld>
            <a:endParaRPr lang="en-US"/>
          </a:p>
        </p:txBody>
      </p:sp>
    </p:spTree>
    <p:extLst>
      <p:ext uri="{BB962C8B-B14F-4D97-AF65-F5344CB8AC3E}">
        <p14:creationId xmlns:p14="http://schemas.microsoft.com/office/powerpoint/2010/main" val="1703187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ESSA Requirements: </a:t>
            </a:r>
            <a:r>
              <a:rPr lang="en-US" sz="1200" b="1" i="0" u="none" strike="noStrike" kern="1200" baseline="0" dirty="0">
                <a:solidFill>
                  <a:schemeClr val="tx1"/>
                </a:solidFill>
                <a:latin typeface="+mn-lt"/>
                <a:ea typeface="+mn-ea"/>
                <a:cs typeface="+mn-cs"/>
              </a:rPr>
              <a:t>1 State Vision, 2 Accountability Systems &amp; Accountability, 3 School Support and Improvement, 4 Supporting Excellent Educators, 5 Supporting All Students </a:t>
            </a:r>
            <a:endParaRPr lang="en-US" dirty="0"/>
          </a:p>
          <a:p>
            <a:endParaRPr lang="en-US" dirty="0"/>
          </a:p>
        </p:txBody>
      </p:sp>
      <p:sp>
        <p:nvSpPr>
          <p:cNvPr id="4" name="Slide Number Placeholder 3"/>
          <p:cNvSpPr>
            <a:spLocks noGrp="1"/>
          </p:cNvSpPr>
          <p:nvPr>
            <p:ph type="sldNum" sz="quarter" idx="5"/>
          </p:nvPr>
        </p:nvSpPr>
        <p:spPr/>
        <p:txBody>
          <a:bodyPr/>
          <a:lstStyle/>
          <a:p>
            <a:fld id="{5C1281D4-4E22-4F94-BAF4-1B9CEE4D4A79}" type="slidenum">
              <a:rPr lang="en-US" smtClean="0"/>
              <a:t>30</a:t>
            </a:fld>
            <a:endParaRPr lang="en-US"/>
          </a:p>
        </p:txBody>
      </p:sp>
    </p:spTree>
    <p:extLst>
      <p:ext uri="{BB962C8B-B14F-4D97-AF65-F5344CB8AC3E}">
        <p14:creationId xmlns:p14="http://schemas.microsoft.com/office/powerpoint/2010/main" val="1175063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spc="35" dirty="0">
                <a:latin typeface="+mn-lt"/>
                <a:cs typeface="Calibri"/>
              </a:rPr>
              <a:t>SI - Personalized </a:t>
            </a:r>
            <a:r>
              <a:rPr lang="en-US" sz="1200" spc="26" dirty="0">
                <a:latin typeface="+mn-lt"/>
                <a:cs typeface="Calibri"/>
              </a:rPr>
              <a:t>learning </a:t>
            </a:r>
            <a:r>
              <a:rPr lang="en-US" sz="1200" spc="31" dirty="0">
                <a:latin typeface="+mn-lt"/>
                <a:cs typeface="Calibri"/>
              </a:rPr>
              <a:t>is </a:t>
            </a:r>
            <a:r>
              <a:rPr lang="en-US" sz="1200" spc="40" dirty="0">
                <a:latin typeface="+mn-lt"/>
                <a:cs typeface="Calibri"/>
              </a:rPr>
              <a:t>emphasized </a:t>
            </a:r>
            <a:r>
              <a:rPr lang="en-US" sz="1200" spc="9" dirty="0">
                <a:latin typeface="+mn-lt"/>
                <a:cs typeface="Calibri"/>
              </a:rPr>
              <a:t>in </a:t>
            </a:r>
            <a:r>
              <a:rPr lang="en-US" sz="1200" spc="40" dirty="0">
                <a:latin typeface="+mn-lt"/>
                <a:cs typeface="Calibri"/>
              </a:rPr>
              <a:t>school </a:t>
            </a:r>
            <a:r>
              <a:rPr lang="en-US" sz="1200" spc="18" dirty="0">
                <a:latin typeface="+mn-lt"/>
                <a:cs typeface="Calibri"/>
              </a:rPr>
              <a:t>improvement</a:t>
            </a:r>
            <a:r>
              <a:rPr lang="en-US" sz="1200" spc="49" dirty="0">
                <a:latin typeface="+mn-lt"/>
                <a:cs typeface="Calibri"/>
              </a:rPr>
              <a:t> </a:t>
            </a:r>
            <a:r>
              <a:rPr lang="en-US" sz="1200" spc="26" dirty="0">
                <a:latin typeface="+mn-lt"/>
                <a:cs typeface="Calibri"/>
              </a:rPr>
              <a:t>strategies</a:t>
            </a:r>
          </a:p>
          <a:p>
            <a:r>
              <a:rPr lang="en-US" dirty="0"/>
              <a:t>SV - </a:t>
            </a:r>
            <a:r>
              <a:rPr lang="en-US" sz="1200" spc="44" dirty="0">
                <a:latin typeface="+mn-lt"/>
                <a:cs typeface="Calibri"/>
              </a:rPr>
              <a:t>Competency-based </a:t>
            </a:r>
            <a:r>
              <a:rPr lang="en-US" sz="1200" spc="35" dirty="0">
                <a:latin typeface="+mn-lt"/>
                <a:cs typeface="Calibri"/>
              </a:rPr>
              <a:t>practices </a:t>
            </a:r>
            <a:r>
              <a:rPr lang="en-US" sz="1200" spc="26" dirty="0">
                <a:latin typeface="+mn-lt"/>
                <a:cs typeface="Calibri"/>
              </a:rPr>
              <a:t>are </a:t>
            </a:r>
            <a:r>
              <a:rPr lang="en-US" sz="1200" spc="22" dirty="0">
                <a:latin typeface="+mn-lt"/>
                <a:cs typeface="Calibri"/>
              </a:rPr>
              <a:t>integrated </a:t>
            </a:r>
            <a:r>
              <a:rPr lang="en-US" sz="1200" spc="4" dirty="0">
                <a:latin typeface="+mn-lt"/>
                <a:cs typeface="Calibri"/>
              </a:rPr>
              <a:t>into </a:t>
            </a:r>
            <a:r>
              <a:rPr lang="en-US" sz="1200" spc="40" dirty="0">
                <a:latin typeface="+mn-lt"/>
                <a:cs typeface="Calibri"/>
              </a:rPr>
              <a:t>a </a:t>
            </a:r>
            <a:r>
              <a:rPr lang="en-US" sz="1200" spc="26" dirty="0">
                <a:latin typeface="+mn-lt"/>
                <a:cs typeface="Calibri"/>
              </a:rPr>
              <a:t>vision </a:t>
            </a:r>
            <a:r>
              <a:rPr lang="en-US" sz="1200" dirty="0">
                <a:latin typeface="+mn-lt"/>
                <a:cs typeface="Calibri"/>
              </a:rPr>
              <a:t>for</a:t>
            </a:r>
            <a:r>
              <a:rPr lang="en-US" sz="1200" spc="110" dirty="0">
                <a:latin typeface="+mn-lt"/>
                <a:cs typeface="Calibri"/>
              </a:rPr>
              <a:t> </a:t>
            </a:r>
            <a:r>
              <a:rPr lang="en-US" sz="1200" spc="22" dirty="0">
                <a:latin typeface="+mn-lt"/>
                <a:cs typeface="Calibri"/>
              </a:rPr>
              <a:t>personalization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 </a:t>
            </a:r>
            <a:r>
              <a:rPr lang="en-US" sz="1200" spc="55" dirty="0">
                <a:latin typeface="+mn-lt"/>
                <a:cs typeface="Calibri"/>
              </a:rPr>
              <a:t>The </a:t>
            </a:r>
            <a:r>
              <a:rPr lang="en-US" sz="1200" spc="45" dirty="0">
                <a:latin typeface="+mn-lt"/>
                <a:cs typeface="Calibri"/>
              </a:rPr>
              <a:t>academic </a:t>
            </a:r>
            <a:r>
              <a:rPr lang="en-US" sz="1200" spc="30" dirty="0">
                <a:latin typeface="+mn-lt"/>
                <a:cs typeface="Calibri"/>
              </a:rPr>
              <a:t>proficiency </a:t>
            </a:r>
            <a:r>
              <a:rPr lang="en-US" sz="1200" spc="20" dirty="0">
                <a:latin typeface="+mn-lt"/>
                <a:cs typeface="Calibri"/>
              </a:rPr>
              <a:t>indicator </a:t>
            </a:r>
            <a:r>
              <a:rPr lang="en-US" sz="1200" spc="30" dirty="0">
                <a:latin typeface="+mn-lt"/>
                <a:cs typeface="Calibri"/>
              </a:rPr>
              <a:t>incorporates </a:t>
            </a:r>
            <a:r>
              <a:rPr lang="en-US" sz="1200" spc="55" dirty="0">
                <a:latin typeface="+mn-lt"/>
                <a:cs typeface="Calibri"/>
              </a:rPr>
              <a:t>scale </a:t>
            </a:r>
            <a:r>
              <a:rPr lang="en-US" sz="1200" spc="50" dirty="0">
                <a:latin typeface="+mn-lt"/>
                <a:cs typeface="Calibri"/>
              </a:rPr>
              <a:t>scores </a:t>
            </a:r>
            <a:r>
              <a:rPr lang="en-US" sz="1200" spc="5" dirty="0">
                <a:latin typeface="+mn-lt"/>
                <a:cs typeface="Calibri"/>
              </a:rPr>
              <a:t>and/or </a:t>
            </a:r>
            <a:r>
              <a:rPr lang="en-US" sz="1200" spc="35" dirty="0">
                <a:latin typeface="+mn-lt"/>
                <a:cs typeface="Calibri"/>
              </a:rPr>
              <a:t>performance </a:t>
            </a:r>
            <a:r>
              <a:rPr lang="en-US" sz="1200" spc="40" dirty="0">
                <a:latin typeface="+mn-lt"/>
                <a:cs typeface="Calibri"/>
              </a:rPr>
              <a:t>indices  </a:t>
            </a:r>
            <a:r>
              <a:rPr lang="en-US" sz="1200" dirty="0">
                <a:latin typeface="+mn-lt"/>
                <a:cs typeface="Calibri"/>
              </a:rPr>
              <a:t>that </a:t>
            </a:r>
            <a:r>
              <a:rPr lang="en-US" sz="1200" spc="35" dirty="0">
                <a:latin typeface="+mn-lt"/>
                <a:cs typeface="Calibri"/>
              </a:rPr>
              <a:t>account </a:t>
            </a:r>
            <a:r>
              <a:rPr lang="en-US" sz="1200" dirty="0">
                <a:latin typeface="+mn-lt"/>
                <a:cs typeface="Calibri"/>
              </a:rPr>
              <a:t>for </a:t>
            </a:r>
            <a:r>
              <a:rPr lang="en-US" sz="1200" spc="20" dirty="0">
                <a:latin typeface="+mn-lt"/>
                <a:cs typeface="Calibri"/>
              </a:rPr>
              <a:t>the </a:t>
            </a:r>
            <a:r>
              <a:rPr lang="en-US" sz="1200" spc="35" dirty="0">
                <a:latin typeface="+mn-lt"/>
                <a:cs typeface="Calibri"/>
              </a:rPr>
              <a:t>performance </a:t>
            </a:r>
            <a:r>
              <a:rPr lang="en-US" sz="1200" spc="30" dirty="0">
                <a:latin typeface="+mn-lt"/>
                <a:cs typeface="Calibri"/>
              </a:rPr>
              <a:t>level </a:t>
            </a:r>
            <a:r>
              <a:rPr lang="en-US" sz="1200" spc="10" dirty="0">
                <a:latin typeface="+mn-lt"/>
                <a:cs typeface="Calibri"/>
              </a:rPr>
              <a:t>of </a:t>
            </a:r>
            <a:r>
              <a:rPr lang="en-US" sz="1200" spc="55" dirty="0">
                <a:latin typeface="+mn-lt"/>
                <a:cs typeface="Calibri"/>
              </a:rPr>
              <a:t>each </a:t>
            </a:r>
            <a:r>
              <a:rPr lang="en-US" sz="1200" spc="25" dirty="0">
                <a:latin typeface="+mn-lt"/>
                <a:cs typeface="Calibri"/>
              </a:rPr>
              <a:t>student </a:t>
            </a:r>
            <a:r>
              <a:rPr lang="en-US" sz="1200" spc="10" dirty="0">
                <a:latin typeface="+mn-lt"/>
                <a:cs typeface="Calibri"/>
              </a:rPr>
              <a:t>in </a:t>
            </a:r>
            <a:r>
              <a:rPr lang="en-US" sz="1200" spc="45" dirty="0">
                <a:latin typeface="+mn-lt"/>
                <a:cs typeface="Calibri"/>
              </a:rPr>
              <a:t>a</a:t>
            </a:r>
            <a:r>
              <a:rPr lang="en-US" sz="1200" spc="110" dirty="0">
                <a:latin typeface="+mn-lt"/>
                <a:cs typeface="Calibri"/>
              </a:rPr>
              <a:t> </a:t>
            </a:r>
            <a:r>
              <a:rPr lang="en-US" sz="1200" spc="35" dirty="0">
                <a:latin typeface="+mn-lt"/>
                <a:cs typeface="Calibri"/>
              </a:rPr>
              <a:t>school.</a:t>
            </a:r>
            <a:endParaRPr lang="en-US" sz="1200" dirty="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EE- </a:t>
            </a:r>
            <a:r>
              <a:rPr lang="en-US" sz="1200" spc="31" dirty="0">
                <a:latin typeface="+mn-lt"/>
                <a:cs typeface="Calibri"/>
              </a:rPr>
              <a:t>Educator </a:t>
            </a:r>
            <a:r>
              <a:rPr lang="en-US" sz="1200" spc="22" dirty="0">
                <a:latin typeface="+mn-lt"/>
                <a:cs typeface="Calibri"/>
              </a:rPr>
              <a:t>preparation </a:t>
            </a:r>
            <a:r>
              <a:rPr lang="en-US" sz="1200" spc="35" dirty="0">
                <a:latin typeface="+mn-lt"/>
                <a:cs typeface="Calibri"/>
              </a:rPr>
              <a:t>programs </a:t>
            </a:r>
            <a:r>
              <a:rPr lang="en-US" sz="1200" spc="31" dirty="0">
                <a:latin typeface="+mn-lt"/>
                <a:cs typeface="Calibri"/>
              </a:rPr>
              <a:t>align </a:t>
            </a:r>
            <a:r>
              <a:rPr lang="en-US" sz="1200" spc="-4" dirty="0">
                <a:latin typeface="+mn-lt"/>
                <a:cs typeface="Calibri"/>
              </a:rPr>
              <a:t>to </a:t>
            </a:r>
            <a:r>
              <a:rPr lang="en-US" sz="1200" spc="26" dirty="0">
                <a:latin typeface="+mn-lt"/>
                <a:cs typeface="Calibri"/>
              </a:rPr>
              <a:t>student-centered learning</a:t>
            </a:r>
            <a:r>
              <a:rPr lang="en-US" sz="1200" spc="53" dirty="0">
                <a:latin typeface="+mn-lt"/>
                <a:cs typeface="Calibri"/>
              </a:rPr>
              <a:t> </a:t>
            </a:r>
            <a:r>
              <a:rPr lang="en-US" sz="1200" spc="35" dirty="0">
                <a:latin typeface="+mn-lt"/>
                <a:cs typeface="Calibri"/>
              </a:rPr>
              <a:t>systems.</a:t>
            </a:r>
          </a:p>
          <a:p>
            <a:pPr>
              <a:lnSpc>
                <a:spcPct val="100000"/>
              </a:lnSpc>
              <a:spcBef>
                <a:spcPts val="50"/>
              </a:spcBef>
            </a:pPr>
            <a:r>
              <a:rPr lang="en-US" sz="1200" dirty="0">
                <a:latin typeface="+mn-lt"/>
                <a:cs typeface="Calibri"/>
              </a:rPr>
              <a:t>SAS - </a:t>
            </a:r>
            <a:r>
              <a:rPr lang="en-US" sz="1200" spc="45" dirty="0">
                <a:latin typeface="+mn-lt"/>
                <a:cs typeface="Calibri"/>
              </a:rPr>
              <a:t>Technology </a:t>
            </a:r>
            <a:r>
              <a:rPr lang="en-US" sz="1200" spc="50" dirty="0">
                <a:latin typeface="+mn-lt"/>
                <a:cs typeface="Calibri"/>
              </a:rPr>
              <a:t>enhances </a:t>
            </a:r>
            <a:r>
              <a:rPr lang="en-US" sz="1200" spc="25" dirty="0">
                <a:latin typeface="+mn-lt"/>
                <a:cs typeface="Calibri"/>
              </a:rPr>
              <a:t>student </a:t>
            </a:r>
            <a:r>
              <a:rPr lang="en-US" sz="1200" spc="40" dirty="0">
                <a:latin typeface="+mn-lt"/>
                <a:cs typeface="Calibri"/>
              </a:rPr>
              <a:t>personalized </a:t>
            </a:r>
            <a:r>
              <a:rPr lang="en-US" sz="1200" spc="30" dirty="0">
                <a:latin typeface="+mn-lt"/>
                <a:cs typeface="Calibri"/>
              </a:rPr>
              <a:t>learning</a:t>
            </a:r>
            <a:r>
              <a:rPr lang="en-US" sz="1200" spc="-10" dirty="0">
                <a:latin typeface="+mn-lt"/>
                <a:cs typeface="Calibri"/>
              </a:rPr>
              <a:t> </a:t>
            </a:r>
            <a:r>
              <a:rPr lang="en-US" sz="1200" spc="40" dirty="0">
                <a:latin typeface="+mn-lt"/>
                <a:cs typeface="Calibri"/>
              </a:rPr>
              <a:t>experiences.</a:t>
            </a:r>
            <a:endParaRPr lang="en-US" sz="1200" dirty="0">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mn-lt"/>
              <a:cs typeface="Calibri"/>
            </a:endParaRPr>
          </a:p>
          <a:p>
            <a:endParaRPr lang="en-US" dirty="0"/>
          </a:p>
        </p:txBody>
      </p:sp>
      <p:sp>
        <p:nvSpPr>
          <p:cNvPr id="4" name="Slide Number Placeholder 3"/>
          <p:cNvSpPr>
            <a:spLocks noGrp="1"/>
          </p:cNvSpPr>
          <p:nvPr>
            <p:ph type="sldNum" sz="quarter" idx="5"/>
          </p:nvPr>
        </p:nvSpPr>
        <p:spPr/>
        <p:txBody>
          <a:bodyPr/>
          <a:lstStyle/>
          <a:p>
            <a:fld id="{5C1281D4-4E22-4F94-BAF4-1B9CEE4D4A79}" type="slidenum">
              <a:rPr lang="en-US" smtClean="0"/>
              <a:t>32</a:t>
            </a:fld>
            <a:endParaRPr lang="en-US"/>
          </a:p>
        </p:txBody>
      </p:sp>
    </p:spTree>
    <p:extLst>
      <p:ext uri="{BB962C8B-B14F-4D97-AF65-F5344CB8AC3E}">
        <p14:creationId xmlns:p14="http://schemas.microsoft.com/office/powerpoint/2010/main" val="19008266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 time in seats</a:t>
            </a:r>
          </a:p>
        </p:txBody>
      </p:sp>
      <p:sp>
        <p:nvSpPr>
          <p:cNvPr id="4" name="Slide Number Placeholder 3"/>
          <p:cNvSpPr>
            <a:spLocks noGrp="1"/>
          </p:cNvSpPr>
          <p:nvPr>
            <p:ph type="sldNum" sz="quarter" idx="5"/>
          </p:nvPr>
        </p:nvSpPr>
        <p:spPr/>
        <p:txBody>
          <a:bodyPr/>
          <a:lstStyle/>
          <a:p>
            <a:fld id="{5C1281D4-4E22-4F94-BAF4-1B9CEE4D4A79}" type="slidenum">
              <a:rPr lang="en-US" smtClean="0"/>
              <a:t>34</a:t>
            </a:fld>
            <a:endParaRPr lang="en-US"/>
          </a:p>
        </p:txBody>
      </p:sp>
    </p:spTree>
    <p:extLst>
      <p:ext uri="{BB962C8B-B14F-4D97-AF65-F5344CB8AC3E}">
        <p14:creationId xmlns:p14="http://schemas.microsoft.com/office/powerpoint/2010/main" val="358460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Widespread adoption of the 120-hour secondary standard did not occur until the </a:t>
            </a:r>
            <a:r>
              <a:rPr lang="en-US" sz="1200" b="0" i="0" u="none" strike="noStrike" kern="1200" dirty="0">
                <a:solidFill>
                  <a:schemeClr val="tx1"/>
                </a:solidFill>
                <a:effectLst/>
                <a:latin typeface="+mn-lt"/>
                <a:ea typeface="+mn-ea"/>
                <a:cs typeface="+mn-cs"/>
                <a:hlinkClick r:id="rId3" tooltip="The Carnegie Foundation for the Advancement of Teaching"/>
              </a:rPr>
              <a:t>Carnegie Foundation</a:t>
            </a:r>
            <a:r>
              <a:rPr lang="en-US" sz="1200" b="0" i="0" kern="1200" dirty="0">
                <a:solidFill>
                  <a:schemeClr val="tx1"/>
                </a:solidFill>
                <a:effectLst/>
                <a:latin typeface="+mn-lt"/>
                <a:ea typeface="+mn-ea"/>
                <a:cs typeface="+mn-cs"/>
              </a:rPr>
              <a:t> (established in 1906) began to provide retirement pensions (now known as </a:t>
            </a:r>
            <a:r>
              <a:rPr lang="en-US" sz="1200" b="0" i="0" u="none" strike="noStrike" kern="1200" dirty="0">
                <a:solidFill>
                  <a:schemeClr val="tx1"/>
                </a:solidFill>
                <a:effectLst/>
                <a:latin typeface="+mn-lt"/>
                <a:ea typeface="+mn-ea"/>
                <a:cs typeface="+mn-cs"/>
                <a:hlinkClick r:id="rId4" tooltip="TIAA-CREF"/>
              </a:rPr>
              <a:t>TIAA-CREF</a:t>
            </a:r>
            <a:r>
              <a:rPr lang="en-US" sz="1200" b="0" i="0" kern="1200" dirty="0">
                <a:solidFill>
                  <a:schemeClr val="tx1"/>
                </a:solidFill>
                <a:effectLst/>
                <a:latin typeface="+mn-lt"/>
                <a:ea typeface="+mn-ea"/>
                <a:cs typeface="+mn-cs"/>
              </a:rPr>
              <a:t>) for university professors with the qualification that universities must enforce the 120-hour secondary standard. By 1910, nearly all secondary institutions in the United States used the "Carnegie Unit" as a measure of secondary course work.</a:t>
            </a:r>
            <a:endParaRPr lang="en-US" dirty="0"/>
          </a:p>
        </p:txBody>
      </p:sp>
      <p:sp>
        <p:nvSpPr>
          <p:cNvPr id="4" name="Slide Number Placeholder 3"/>
          <p:cNvSpPr>
            <a:spLocks noGrp="1"/>
          </p:cNvSpPr>
          <p:nvPr>
            <p:ph type="sldNum" sz="quarter" idx="5"/>
          </p:nvPr>
        </p:nvSpPr>
        <p:spPr/>
        <p:txBody>
          <a:bodyPr/>
          <a:lstStyle/>
          <a:p>
            <a:fld id="{5C1281D4-4E22-4F94-BAF4-1B9CEE4D4A79}" type="slidenum">
              <a:rPr lang="en-US" smtClean="0"/>
              <a:t>35</a:t>
            </a:fld>
            <a:endParaRPr lang="en-US"/>
          </a:p>
        </p:txBody>
      </p:sp>
    </p:spTree>
    <p:extLst>
      <p:ext uri="{BB962C8B-B14F-4D97-AF65-F5344CB8AC3E}">
        <p14:creationId xmlns:p14="http://schemas.microsoft.com/office/powerpoint/2010/main" val="10253938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Incarceration population = . &gt; 40% had not received a high school diploma (2003)</a:t>
            </a:r>
            <a:r>
              <a:rPr lang="en-US" dirty="0">
                <a:hlinkClick r:id="rId3"/>
              </a:rPr>
              <a:t> https://www.bjs.gov/content/pub/pdf/ecp.pdf</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size fits all’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C1281D4-4E22-4F94-BAF4-1B9CEE4D4A79}" type="slidenum">
              <a:rPr lang="en-US" smtClean="0"/>
              <a:t>36</a:t>
            </a:fld>
            <a:endParaRPr lang="en-US"/>
          </a:p>
        </p:txBody>
      </p:sp>
    </p:spTree>
    <p:extLst>
      <p:ext uri="{BB962C8B-B14F-4D97-AF65-F5344CB8AC3E}">
        <p14:creationId xmlns:p14="http://schemas.microsoft.com/office/powerpoint/2010/main" val="42276076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thru color chart</a:t>
            </a:r>
          </a:p>
          <a:p>
            <a:r>
              <a:rPr lang="en-US"/>
              <a:t>Our five states &gt; NH is advanced</a:t>
            </a:r>
          </a:p>
        </p:txBody>
      </p:sp>
      <p:sp>
        <p:nvSpPr>
          <p:cNvPr id="4" name="Slide Number Placeholder 3"/>
          <p:cNvSpPr>
            <a:spLocks noGrp="1"/>
          </p:cNvSpPr>
          <p:nvPr>
            <p:ph type="sldNum" sz="quarter" idx="5"/>
          </p:nvPr>
        </p:nvSpPr>
        <p:spPr/>
        <p:txBody>
          <a:bodyPr/>
          <a:lstStyle/>
          <a:p>
            <a:fld id="{5C1281D4-4E22-4F94-BAF4-1B9CEE4D4A79}" type="slidenum">
              <a:rPr lang="en-US" smtClean="0"/>
              <a:t>38</a:t>
            </a:fld>
            <a:endParaRPr lang="en-US"/>
          </a:p>
        </p:txBody>
      </p:sp>
    </p:spTree>
    <p:extLst>
      <p:ext uri="{BB962C8B-B14F-4D97-AF65-F5344CB8AC3E}">
        <p14:creationId xmlns:p14="http://schemas.microsoft.com/office/powerpoint/2010/main" val="12972779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The goal is to structure learning opportunities that allow students to grapple with gaining meaningful knowledge and skills at a depth of understanding that they can transfer to new real-world situations. As a coherent system, NH PACE is designed to foster positive </a:t>
            </a:r>
            <a:r>
              <a:rPr lang="en-US" sz="1200" b="1"/>
              <a:t>organizational learning </a:t>
            </a:r>
            <a:r>
              <a:rPr lang="en-US" sz="1200"/>
              <a:t>and change by supporting the internally-driven motivation of educators instead of the all-too common top-down accountability approaches where the goals and methods of the accountability system are defined at the state or federal levels and districts are simply expected to comply.</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41</a:t>
            </a:fld>
            <a:endParaRPr lang="en-US"/>
          </a:p>
        </p:txBody>
      </p:sp>
    </p:spTree>
    <p:extLst>
      <p:ext uri="{BB962C8B-B14F-4D97-AF65-F5344CB8AC3E}">
        <p14:creationId xmlns:p14="http://schemas.microsoft.com/office/powerpoint/2010/main" val="16362046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The goal is to structure learning opportunities that allow students to grapple with gaining meaningful knowledge and skills at a depth of understanding that they can transfer to new real-world situations. As a coherent system, NH PACE is designed to foster positive </a:t>
            </a:r>
            <a:r>
              <a:rPr lang="en-US" sz="1200" b="1"/>
              <a:t>organizational learning </a:t>
            </a:r>
            <a:r>
              <a:rPr lang="en-US" sz="1200"/>
              <a:t>and change by supporting the internally-driven motivation of educators instead of the all-too common top-down accountability approaches where the goals and methods of the accountability system are defined at the state or federal levels and districts are simply expected to comply.</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42</a:t>
            </a:fld>
            <a:endParaRPr lang="en-US"/>
          </a:p>
        </p:txBody>
      </p:sp>
    </p:spTree>
    <p:extLst>
      <p:ext uri="{BB962C8B-B14F-4D97-AF65-F5344CB8AC3E}">
        <p14:creationId xmlns:p14="http://schemas.microsoft.com/office/powerpoint/2010/main" val="38825992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 Grad Rates, Teacher Absent – 2017</a:t>
            </a:r>
          </a:p>
          <a:p>
            <a:r>
              <a:rPr lang="en-US"/>
              <a:t>S/TR – 2016</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44</a:t>
            </a:fld>
            <a:endParaRPr lang="en-US"/>
          </a:p>
        </p:txBody>
      </p:sp>
    </p:spTree>
    <p:extLst>
      <p:ext uri="{BB962C8B-B14F-4D97-AF65-F5344CB8AC3E}">
        <p14:creationId xmlns:p14="http://schemas.microsoft.com/office/powerpoint/2010/main" val="40800947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NH Stats</a:t>
            </a:r>
          </a:p>
          <a:p>
            <a:r>
              <a:rPr lang="en-US" sz="1200" b="0" i="0" u="none" strike="noStrike" kern="1200">
                <a:solidFill>
                  <a:schemeClr val="tx1"/>
                </a:solidFill>
                <a:effectLst/>
                <a:latin typeface="+mn-lt"/>
                <a:ea typeface="+mn-ea"/>
                <a:cs typeface="+mn-cs"/>
              </a:rPr>
              <a:t>There are </a:t>
            </a:r>
            <a:r>
              <a:rPr lang="en-US" sz="1200" b="1" i="0" u="none" strike="noStrike" kern="1200">
                <a:solidFill>
                  <a:schemeClr val="tx1"/>
                </a:solidFill>
                <a:effectLst/>
                <a:latin typeface="+mn-lt"/>
                <a:ea typeface="+mn-ea"/>
                <a:cs typeface="+mn-cs"/>
              </a:rPr>
              <a:t>187 high schools in New Hampshire</a:t>
            </a:r>
            <a:r>
              <a:rPr lang="en-US" sz="1200" b="0" i="0" u="none" strike="noStrike" kern="1200">
                <a:solidFill>
                  <a:schemeClr val="tx1"/>
                </a:solidFill>
                <a:effectLst/>
                <a:latin typeface="+mn-lt"/>
                <a:ea typeface="+mn-ea"/>
                <a:cs typeface="+mn-cs"/>
              </a:rPr>
              <a:t>, made up of </a:t>
            </a:r>
            <a:r>
              <a:rPr lang="en-US" sz="1200" b="1" i="0" u="none" strike="noStrike" kern="1200">
                <a:solidFill>
                  <a:schemeClr val="tx1"/>
                </a:solidFill>
                <a:effectLst/>
                <a:latin typeface="+mn-lt"/>
                <a:ea typeface="+mn-ea"/>
                <a:cs typeface="+mn-cs"/>
              </a:rPr>
              <a:t>111 public schools and 76 private schools</a:t>
            </a:r>
            <a:r>
              <a:rPr lang="en-US" sz="1200" b="0" i="0" u="none" strike="noStrike" kern="1200">
                <a:solidFill>
                  <a:schemeClr val="tx1"/>
                </a:solidFill>
                <a:effectLst/>
                <a:latin typeface="+mn-lt"/>
                <a:ea typeface="+mn-ea"/>
                <a:cs typeface="+mn-cs"/>
              </a:rPr>
              <a:t>. New Hampshire ranks as the 41st state in terms of student enrollment and 42nd in terms of total number of schools. It ranks 5th for the student/teacher ratio and sits 2nd for the percentage of students on free or reduced lunches. https://high-schools.com/directory/nh/</a:t>
            </a:r>
          </a:p>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45</a:t>
            </a:fld>
            <a:endParaRPr lang="en-US"/>
          </a:p>
        </p:txBody>
      </p:sp>
    </p:spTree>
    <p:extLst>
      <p:ext uri="{BB962C8B-B14F-4D97-AF65-F5344CB8AC3E}">
        <p14:creationId xmlns:p14="http://schemas.microsoft.com/office/powerpoint/2010/main" val="2163747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47</a:t>
            </a:fld>
            <a:endParaRPr lang="en-US"/>
          </a:p>
        </p:txBody>
      </p:sp>
    </p:spTree>
    <p:extLst>
      <p:ext uri="{BB962C8B-B14F-4D97-AF65-F5344CB8AC3E}">
        <p14:creationId xmlns:p14="http://schemas.microsoft.com/office/powerpoint/2010/main" val="2952566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C1281D4-4E22-4F94-BAF4-1B9CEE4D4A79}" type="slidenum">
              <a:rPr lang="en-US" smtClean="0"/>
              <a:t>48</a:t>
            </a:fld>
            <a:endParaRPr lang="en-US"/>
          </a:p>
        </p:txBody>
      </p:sp>
    </p:spTree>
    <p:extLst>
      <p:ext uri="{BB962C8B-B14F-4D97-AF65-F5344CB8AC3E}">
        <p14:creationId xmlns:p14="http://schemas.microsoft.com/office/powerpoint/2010/main" val="1217501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E0A33-C623-4244-B77F-6ECDE1549C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9E51B5-1732-4F8C-9930-6330035B4A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FE2D70-32C6-42CA-AEC2-EE0EA630E6CA}"/>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5" name="Footer Placeholder 4">
            <a:extLst>
              <a:ext uri="{FF2B5EF4-FFF2-40B4-BE49-F238E27FC236}">
                <a16:creationId xmlns:a16="http://schemas.microsoft.com/office/drawing/2014/main" id="{627B3951-638A-4E5C-A5F7-5171482A3308}"/>
              </a:ext>
            </a:extLst>
          </p:cNvPr>
          <p:cNvSpPr>
            <a:spLocks noGrp="1"/>
          </p:cNvSpPr>
          <p:nvPr>
            <p:ph type="ftr" sz="quarter" idx="11"/>
          </p:nvPr>
        </p:nvSpPr>
        <p:spPr/>
        <p:txBody>
          <a:bodyPr/>
          <a:lstStyle/>
          <a:p>
            <a:pPr marL="11206">
              <a:spcBef>
                <a:spcPts val="31"/>
              </a:spcBef>
            </a:pPr>
            <a:r>
              <a:rPr lang="en-US" spc="31"/>
              <a:t>KnowledgeWorks.org</a:t>
            </a:r>
          </a:p>
        </p:txBody>
      </p:sp>
      <p:sp>
        <p:nvSpPr>
          <p:cNvPr id="6" name="Slide Number Placeholder 5">
            <a:extLst>
              <a:ext uri="{FF2B5EF4-FFF2-40B4-BE49-F238E27FC236}">
                <a16:creationId xmlns:a16="http://schemas.microsoft.com/office/drawing/2014/main" id="{482947C9-4810-4CC8-8D1A-A8607D34A76E}"/>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2754641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922E0-C6F3-4652-A327-6532F9561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A5E6BB-695F-4313-A9B3-596E05B473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892AA5-3001-431A-9D8E-B7BAA8CCA1E5}"/>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5" name="Footer Placeholder 4">
            <a:extLst>
              <a:ext uri="{FF2B5EF4-FFF2-40B4-BE49-F238E27FC236}">
                <a16:creationId xmlns:a16="http://schemas.microsoft.com/office/drawing/2014/main" id="{5EC13701-C0FA-4668-95BC-1A0CAD683069}"/>
              </a:ext>
            </a:extLst>
          </p:cNvPr>
          <p:cNvSpPr>
            <a:spLocks noGrp="1"/>
          </p:cNvSpPr>
          <p:nvPr>
            <p:ph type="ftr" sz="quarter" idx="11"/>
          </p:nvPr>
        </p:nvSpPr>
        <p:spPr/>
        <p:txBody>
          <a:bodyPr/>
          <a:lstStyle/>
          <a:p>
            <a:pPr marL="11206">
              <a:spcBef>
                <a:spcPts val="31"/>
              </a:spcBef>
            </a:pPr>
            <a:r>
              <a:rPr lang="en-US" spc="31"/>
              <a:t>KnowledgeWorks.org</a:t>
            </a:r>
          </a:p>
        </p:txBody>
      </p:sp>
      <p:sp>
        <p:nvSpPr>
          <p:cNvPr id="6" name="Slide Number Placeholder 5">
            <a:extLst>
              <a:ext uri="{FF2B5EF4-FFF2-40B4-BE49-F238E27FC236}">
                <a16:creationId xmlns:a16="http://schemas.microsoft.com/office/drawing/2014/main" id="{A07197F4-0A17-4A71-90D3-9E54A4236981}"/>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339237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D6803-1770-4500-B97D-A08C9D5FEB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540B74-6187-4236-8D5B-0B05143C5D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5F7CDE-864C-48BE-BFA7-9384FBF0E43A}"/>
              </a:ext>
            </a:extLst>
          </p:cNvPr>
          <p:cNvSpPr>
            <a:spLocks noGrp="1"/>
          </p:cNvSpPr>
          <p:nvPr>
            <p:ph type="dt" sz="half" idx="10"/>
          </p:nvPr>
        </p:nvSpPr>
        <p:spPr/>
        <p:txBody>
          <a:bodyPr/>
          <a:lstStyle/>
          <a:p>
            <a:fld id="{D34DD3DA-E127-4F95-8404-ED3472597443}" type="datetimeFigureOut">
              <a:rPr lang="en-US" smtClean="0"/>
              <a:t>8/7/2019</a:t>
            </a:fld>
            <a:endParaRPr lang="en-US"/>
          </a:p>
        </p:txBody>
      </p:sp>
      <p:sp>
        <p:nvSpPr>
          <p:cNvPr id="5" name="Footer Placeholder 4">
            <a:extLst>
              <a:ext uri="{FF2B5EF4-FFF2-40B4-BE49-F238E27FC236}">
                <a16:creationId xmlns:a16="http://schemas.microsoft.com/office/drawing/2014/main" id="{75C5E313-96CD-4AD0-AC64-FB18546A1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A30DBE-D9D7-499B-A59D-09C707113F49}"/>
              </a:ext>
            </a:extLst>
          </p:cNvPr>
          <p:cNvSpPr>
            <a:spLocks noGrp="1"/>
          </p:cNvSpPr>
          <p:nvPr>
            <p:ph type="sldNum" sz="quarter" idx="12"/>
          </p:nvPr>
        </p:nvSpPr>
        <p:spPr/>
        <p:txBody>
          <a:bodyPr/>
          <a:lstStyle/>
          <a:p>
            <a:fld id="{AF6CDF79-4B9A-4BF2-AD5C-3E6E8126C5C8}" type="slidenum">
              <a:rPr lang="en-US" smtClean="0"/>
              <a:t>‹#›</a:t>
            </a:fld>
            <a:endParaRPr lang="en-US"/>
          </a:p>
        </p:txBody>
      </p:sp>
    </p:spTree>
    <p:extLst>
      <p:ext uri="{BB962C8B-B14F-4D97-AF65-F5344CB8AC3E}">
        <p14:creationId xmlns:p14="http://schemas.microsoft.com/office/powerpoint/2010/main" val="333833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B5880-AEE2-47C4-8BEE-4994901C56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760840-529B-4D1A-8883-396684A15A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6DFEC27-00C4-4D82-B5F3-79E0E35D8A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B0E244-C794-4F62-9770-769F3B7751B0}"/>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6" name="Footer Placeholder 5">
            <a:extLst>
              <a:ext uri="{FF2B5EF4-FFF2-40B4-BE49-F238E27FC236}">
                <a16:creationId xmlns:a16="http://schemas.microsoft.com/office/drawing/2014/main" id="{CC7D462F-B96B-4CA8-A2B4-BEAAF6CEC626}"/>
              </a:ext>
            </a:extLst>
          </p:cNvPr>
          <p:cNvSpPr>
            <a:spLocks noGrp="1"/>
          </p:cNvSpPr>
          <p:nvPr>
            <p:ph type="ftr" sz="quarter" idx="11"/>
          </p:nvPr>
        </p:nvSpPr>
        <p:spPr/>
        <p:txBody>
          <a:bodyPr/>
          <a:lstStyle/>
          <a:p>
            <a:pPr marL="11206">
              <a:spcBef>
                <a:spcPts val="31"/>
              </a:spcBef>
            </a:pPr>
            <a:r>
              <a:rPr lang="en-US" spc="31"/>
              <a:t>KnowledgeWorks.org</a:t>
            </a:r>
          </a:p>
        </p:txBody>
      </p:sp>
      <p:sp>
        <p:nvSpPr>
          <p:cNvPr id="7" name="Slide Number Placeholder 6">
            <a:extLst>
              <a:ext uri="{FF2B5EF4-FFF2-40B4-BE49-F238E27FC236}">
                <a16:creationId xmlns:a16="http://schemas.microsoft.com/office/drawing/2014/main" id="{839BD17E-71F6-4C2C-87DB-B0A2258ACC87}"/>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4172577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3DFF-CC2F-4719-9ACC-9DB7E746DD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A18763-9DA6-495D-8146-548BF33673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72A4E1-2E76-42A3-AF7D-9D931B5E80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18C576-085B-4BA9-97F6-ECB27BE041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DE79BC-FB79-4F68-BE08-7E332EA81F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5379EA-0683-4385-ACD2-92D41FE3A950}"/>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8" name="Footer Placeholder 7">
            <a:extLst>
              <a:ext uri="{FF2B5EF4-FFF2-40B4-BE49-F238E27FC236}">
                <a16:creationId xmlns:a16="http://schemas.microsoft.com/office/drawing/2014/main" id="{5C28F843-E372-4179-809F-D512D3928B25}"/>
              </a:ext>
            </a:extLst>
          </p:cNvPr>
          <p:cNvSpPr>
            <a:spLocks noGrp="1"/>
          </p:cNvSpPr>
          <p:nvPr>
            <p:ph type="ftr" sz="quarter" idx="11"/>
          </p:nvPr>
        </p:nvSpPr>
        <p:spPr/>
        <p:txBody>
          <a:bodyPr/>
          <a:lstStyle/>
          <a:p>
            <a:pPr marL="11206">
              <a:spcBef>
                <a:spcPts val="31"/>
              </a:spcBef>
            </a:pPr>
            <a:r>
              <a:rPr lang="en-US" spc="31"/>
              <a:t>KnowledgeWorks.org</a:t>
            </a:r>
          </a:p>
        </p:txBody>
      </p:sp>
      <p:sp>
        <p:nvSpPr>
          <p:cNvPr id="9" name="Slide Number Placeholder 8">
            <a:extLst>
              <a:ext uri="{FF2B5EF4-FFF2-40B4-BE49-F238E27FC236}">
                <a16:creationId xmlns:a16="http://schemas.microsoft.com/office/drawing/2014/main" id="{753FF266-9809-4295-8BAE-1EAEDE824288}"/>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3632431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CE5B-2FF4-4603-89B5-B9F06956B6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CA3F31-B337-4240-B8BF-C4183F321809}"/>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4" name="Footer Placeholder 3">
            <a:extLst>
              <a:ext uri="{FF2B5EF4-FFF2-40B4-BE49-F238E27FC236}">
                <a16:creationId xmlns:a16="http://schemas.microsoft.com/office/drawing/2014/main" id="{055FCB4A-78E4-4888-B902-D786F392E8CE}"/>
              </a:ext>
            </a:extLst>
          </p:cNvPr>
          <p:cNvSpPr>
            <a:spLocks noGrp="1"/>
          </p:cNvSpPr>
          <p:nvPr>
            <p:ph type="ftr" sz="quarter" idx="11"/>
          </p:nvPr>
        </p:nvSpPr>
        <p:spPr/>
        <p:txBody>
          <a:bodyPr/>
          <a:lstStyle/>
          <a:p>
            <a:pPr marL="11206">
              <a:spcBef>
                <a:spcPts val="31"/>
              </a:spcBef>
            </a:pPr>
            <a:r>
              <a:rPr lang="en-US" spc="31"/>
              <a:t>KnowledgeWorks.org</a:t>
            </a:r>
          </a:p>
        </p:txBody>
      </p:sp>
      <p:sp>
        <p:nvSpPr>
          <p:cNvPr id="5" name="Slide Number Placeholder 4">
            <a:extLst>
              <a:ext uri="{FF2B5EF4-FFF2-40B4-BE49-F238E27FC236}">
                <a16:creationId xmlns:a16="http://schemas.microsoft.com/office/drawing/2014/main" id="{54B2A668-2A36-46D5-89DD-FF6A2CA30BA8}"/>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2203542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5D7042-63B6-416A-8BF8-CA82B3153046}"/>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3" name="Footer Placeholder 2">
            <a:extLst>
              <a:ext uri="{FF2B5EF4-FFF2-40B4-BE49-F238E27FC236}">
                <a16:creationId xmlns:a16="http://schemas.microsoft.com/office/drawing/2014/main" id="{C12C21F8-98BB-46CC-A5CE-EFA26EACC408}"/>
              </a:ext>
            </a:extLst>
          </p:cNvPr>
          <p:cNvSpPr>
            <a:spLocks noGrp="1"/>
          </p:cNvSpPr>
          <p:nvPr>
            <p:ph type="ftr" sz="quarter" idx="11"/>
          </p:nvPr>
        </p:nvSpPr>
        <p:spPr/>
        <p:txBody>
          <a:bodyPr/>
          <a:lstStyle/>
          <a:p>
            <a:pPr marL="11206">
              <a:spcBef>
                <a:spcPts val="31"/>
              </a:spcBef>
            </a:pPr>
            <a:r>
              <a:rPr lang="en-US" spc="31"/>
              <a:t>KnowledgeWorks.org</a:t>
            </a:r>
          </a:p>
        </p:txBody>
      </p:sp>
      <p:sp>
        <p:nvSpPr>
          <p:cNvPr id="4" name="Slide Number Placeholder 3">
            <a:extLst>
              <a:ext uri="{FF2B5EF4-FFF2-40B4-BE49-F238E27FC236}">
                <a16:creationId xmlns:a16="http://schemas.microsoft.com/office/drawing/2014/main" id="{C795FEFE-350D-428E-8C45-9DF3FEC66E49}"/>
              </a:ext>
            </a:extLst>
          </p:cNvPr>
          <p:cNvSpPr>
            <a:spLocks noGrp="1"/>
          </p:cNvSpPr>
          <p:nvPr>
            <p:ph type="sldNum" sz="quarter" idx="12"/>
          </p:nvPr>
        </p:nvSpPr>
        <p:spPr>
          <a:xfrm>
            <a:off x="8610600" y="6356350"/>
            <a:ext cx="2743200" cy="365125"/>
          </a:xfrm>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
        <p:nvSpPr>
          <p:cNvPr id="6" name="SmartArt Placeholder 5">
            <a:extLst>
              <a:ext uri="{FF2B5EF4-FFF2-40B4-BE49-F238E27FC236}">
                <a16:creationId xmlns:a16="http://schemas.microsoft.com/office/drawing/2014/main" id="{69F6D216-2737-4A0A-A09E-9AED5327153E}"/>
              </a:ext>
            </a:extLst>
          </p:cNvPr>
          <p:cNvSpPr>
            <a:spLocks noGrp="1"/>
          </p:cNvSpPr>
          <p:nvPr>
            <p:ph type="dgm" sz="quarter" idx="13"/>
          </p:nvPr>
        </p:nvSpPr>
        <p:spPr>
          <a:xfrm>
            <a:off x="5567363" y="638175"/>
            <a:ext cx="180975" cy="44450"/>
          </a:xfrm>
          <a:prstGeom prst="frame">
            <a:avLst/>
          </a:prstGeom>
        </p:spPr>
        <p:txBody>
          <a:bodyPr/>
          <a:lstStyle/>
          <a:p>
            <a:endParaRPr lang="en-US"/>
          </a:p>
        </p:txBody>
      </p:sp>
    </p:spTree>
    <p:extLst>
      <p:ext uri="{BB962C8B-B14F-4D97-AF65-F5344CB8AC3E}">
        <p14:creationId xmlns:p14="http://schemas.microsoft.com/office/powerpoint/2010/main" val="2465018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C622-865C-4B58-B099-829176E888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62E086-A2F8-4C22-BDBF-9C3CC259F4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2961A0-F42F-478A-BCEE-C37994AA7E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E82295-C6D0-49D9-9013-2E71D4C7CBE2}"/>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6" name="Footer Placeholder 5">
            <a:extLst>
              <a:ext uri="{FF2B5EF4-FFF2-40B4-BE49-F238E27FC236}">
                <a16:creationId xmlns:a16="http://schemas.microsoft.com/office/drawing/2014/main" id="{880E8EF0-DEB9-4654-9DE7-8C098E3DE34C}"/>
              </a:ext>
            </a:extLst>
          </p:cNvPr>
          <p:cNvSpPr>
            <a:spLocks noGrp="1"/>
          </p:cNvSpPr>
          <p:nvPr>
            <p:ph type="ftr" sz="quarter" idx="11"/>
          </p:nvPr>
        </p:nvSpPr>
        <p:spPr/>
        <p:txBody>
          <a:bodyPr/>
          <a:lstStyle/>
          <a:p>
            <a:pPr marL="11206">
              <a:spcBef>
                <a:spcPts val="31"/>
              </a:spcBef>
            </a:pPr>
            <a:r>
              <a:rPr lang="en-US" spc="31"/>
              <a:t>KnowledgeWorks.org</a:t>
            </a:r>
          </a:p>
        </p:txBody>
      </p:sp>
      <p:sp>
        <p:nvSpPr>
          <p:cNvPr id="7" name="Slide Number Placeholder 6">
            <a:extLst>
              <a:ext uri="{FF2B5EF4-FFF2-40B4-BE49-F238E27FC236}">
                <a16:creationId xmlns:a16="http://schemas.microsoft.com/office/drawing/2014/main" id="{2A11AA2F-5DBA-4379-B25F-94EADA0E5CAA}"/>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730884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4DD1-B3E0-488A-A0F7-DB84EB5A23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BD4784-0799-4FE6-B84E-5D95E9A6D7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650C87-7396-4EF7-95BE-518A13DFCB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8B5E8-035A-4CF0-959E-73C8F1A11DA3}"/>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6" name="Footer Placeholder 5">
            <a:extLst>
              <a:ext uri="{FF2B5EF4-FFF2-40B4-BE49-F238E27FC236}">
                <a16:creationId xmlns:a16="http://schemas.microsoft.com/office/drawing/2014/main" id="{6DCA999C-DE69-47CB-A396-C076A7832689}"/>
              </a:ext>
            </a:extLst>
          </p:cNvPr>
          <p:cNvSpPr>
            <a:spLocks noGrp="1"/>
          </p:cNvSpPr>
          <p:nvPr>
            <p:ph type="ftr" sz="quarter" idx="11"/>
          </p:nvPr>
        </p:nvSpPr>
        <p:spPr/>
        <p:txBody>
          <a:bodyPr/>
          <a:lstStyle/>
          <a:p>
            <a:pPr marL="11206">
              <a:spcBef>
                <a:spcPts val="31"/>
              </a:spcBef>
            </a:pPr>
            <a:r>
              <a:rPr lang="en-US" spc="31"/>
              <a:t>KnowledgeWorks.org</a:t>
            </a:r>
          </a:p>
        </p:txBody>
      </p:sp>
      <p:sp>
        <p:nvSpPr>
          <p:cNvPr id="7" name="Slide Number Placeholder 6">
            <a:extLst>
              <a:ext uri="{FF2B5EF4-FFF2-40B4-BE49-F238E27FC236}">
                <a16:creationId xmlns:a16="http://schemas.microsoft.com/office/drawing/2014/main" id="{0591D1B0-B4B5-41D3-AFF4-1FDA92B7E49B}"/>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242550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86B2-8B25-4E0C-AB2E-7A3D316C6C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A0F551-B6A2-460F-9C65-22BFAF8F83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85ECC0-3484-4A8B-9B23-00CC9DE58DD2}"/>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5" name="Footer Placeholder 4">
            <a:extLst>
              <a:ext uri="{FF2B5EF4-FFF2-40B4-BE49-F238E27FC236}">
                <a16:creationId xmlns:a16="http://schemas.microsoft.com/office/drawing/2014/main" id="{B9586209-A088-4B74-B79F-A8A278A888DA}"/>
              </a:ext>
            </a:extLst>
          </p:cNvPr>
          <p:cNvSpPr>
            <a:spLocks noGrp="1"/>
          </p:cNvSpPr>
          <p:nvPr>
            <p:ph type="ftr" sz="quarter" idx="11"/>
          </p:nvPr>
        </p:nvSpPr>
        <p:spPr/>
        <p:txBody>
          <a:bodyPr/>
          <a:lstStyle/>
          <a:p>
            <a:pPr marL="11206">
              <a:spcBef>
                <a:spcPts val="31"/>
              </a:spcBef>
            </a:pPr>
            <a:r>
              <a:rPr lang="en-US" spc="31"/>
              <a:t>KnowledgeWorks.org</a:t>
            </a:r>
          </a:p>
        </p:txBody>
      </p:sp>
      <p:sp>
        <p:nvSpPr>
          <p:cNvPr id="6" name="Slide Number Placeholder 5">
            <a:extLst>
              <a:ext uri="{FF2B5EF4-FFF2-40B4-BE49-F238E27FC236}">
                <a16:creationId xmlns:a16="http://schemas.microsoft.com/office/drawing/2014/main" id="{4429D5DD-D1DD-4602-814D-CE873A2D7FDE}"/>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315191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80125B-32E2-4854-B38D-F0942D6F1F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7CFFBF-93DE-4333-A91B-DB41F26D45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E3C1F-FA81-4C1A-B5E0-3176F31B874E}"/>
              </a:ext>
            </a:extLst>
          </p:cNvPr>
          <p:cNvSpPr>
            <a:spLocks noGrp="1"/>
          </p:cNvSpPr>
          <p:nvPr>
            <p:ph type="dt" sz="half" idx="10"/>
          </p:nvPr>
        </p:nvSpPr>
        <p:spPr/>
        <p:txBody>
          <a:bodyPr/>
          <a:lstStyle/>
          <a:p>
            <a:fld id="{1D8BD707-D9CF-40AE-B4C6-C98DA3205C09}" type="datetimeFigureOut">
              <a:rPr lang="en-US" smtClean="0"/>
              <a:t>8/7/2019</a:t>
            </a:fld>
            <a:endParaRPr lang="en-US"/>
          </a:p>
        </p:txBody>
      </p:sp>
      <p:sp>
        <p:nvSpPr>
          <p:cNvPr id="5" name="Footer Placeholder 4">
            <a:extLst>
              <a:ext uri="{FF2B5EF4-FFF2-40B4-BE49-F238E27FC236}">
                <a16:creationId xmlns:a16="http://schemas.microsoft.com/office/drawing/2014/main" id="{73A10B6A-721B-44FB-8E16-9DBD9D7758E0}"/>
              </a:ext>
            </a:extLst>
          </p:cNvPr>
          <p:cNvSpPr>
            <a:spLocks noGrp="1"/>
          </p:cNvSpPr>
          <p:nvPr>
            <p:ph type="ftr" sz="quarter" idx="11"/>
          </p:nvPr>
        </p:nvSpPr>
        <p:spPr/>
        <p:txBody>
          <a:bodyPr/>
          <a:lstStyle/>
          <a:p>
            <a:pPr marL="11206">
              <a:spcBef>
                <a:spcPts val="31"/>
              </a:spcBef>
            </a:pPr>
            <a:r>
              <a:rPr lang="en-US" spc="31"/>
              <a:t>KnowledgeWorks.org</a:t>
            </a:r>
          </a:p>
        </p:txBody>
      </p:sp>
      <p:sp>
        <p:nvSpPr>
          <p:cNvPr id="6" name="Slide Number Placeholder 5">
            <a:extLst>
              <a:ext uri="{FF2B5EF4-FFF2-40B4-BE49-F238E27FC236}">
                <a16:creationId xmlns:a16="http://schemas.microsoft.com/office/drawing/2014/main" id="{93CD35E3-9A90-4743-B6BB-A9BC5A09255A}"/>
              </a:ext>
            </a:extLst>
          </p:cNvPr>
          <p:cNvSpPr>
            <a:spLocks noGrp="1"/>
          </p:cNvSpPr>
          <p:nvPr>
            <p:ph type="sldNum" sz="quarter" idx="12"/>
          </p:nvPr>
        </p:nvSpPr>
        <p:spPr/>
        <p:txBody>
          <a:body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2001350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503944" y="445208"/>
            <a:ext cx="3198091" cy="230832"/>
          </a:xfrm>
        </p:spPr>
        <p:txBody>
          <a:bodyPr lIns="0" tIns="0" rIns="0" bIns="0"/>
          <a:lstStyle>
            <a:lvl1pPr>
              <a:defRPr sz="1500" b="1" i="0">
                <a:solidFill>
                  <a:schemeClr val="bg1"/>
                </a:solidFill>
                <a:latin typeface="Calibri"/>
                <a:cs typeface="Calibri"/>
              </a:defRPr>
            </a:lvl1pPr>
          </a:lstStyle>
          <a:p>
            <a:endParaRPr/>
          </a:p>
        </p:txBody>
      </p:sp>
      <p:sp>
        <p:nvSpPr>
          <p:cNvPr id="3" name="Holder 3"/>
          <p:cNvSpPr>
            <a:spLocks noGrp="1"/>
          </p:cNvSpPr>
          <p:nvPr>
            <p:ph sz="half" idx="2"/>
          </p:nvPr>
        </p:nvSpPr>
        <p:spPr>
          <a:xfrm>
            <a:off x="677333" y="1533523"/>
            <a:ext cx="4938376" cy="203774"/>
          </a:xfrm>
          <a:prstGeom prst="rect">
            <a:avLst/>
          </a:prstGeom>
        </p:spPr>
        <p:txBody>
          <a:bodyPr wrap="square" lIns="0" tIns="0" rIns="0" bIns="0">
            <a:spAutoFit/>
          </a:bodyPr>
          <a:lstStyle>
            <a:lvl1pPr>
              <a:defRPr sz="1324" b="0" i="0">
                <a:solidFill>
                  <a:srgbClr val="4D4D4F"/>
                </a:solidFill>
                <a:latin typeface="Calibri"/>
                <a:cs typeface="Calibri"/>
              </a:defRPr>
            </a:lvl1pPr>
          </a:lstStyle>
          <a:p>
            <a:endParaRPr/>
          </a:p>
        </p:txBody>
      </p:sp>
      <p:sp>
        <p:nvSpPr>
          <p:cNvPr id="4" name="Holder 4"/>
          <p:cNvSpPr>
            <a:spLocks noGrp="1"/>
          </p:cNvSpPr>
          <p:nvPr>
            <p:ph sz="half" idx="3"/>
          </p:nvPr>
        </p:nvSpPr>
        <p:spPr>
          <a:xfrm>
            <a:off x="6496243" y="1556271"/>
            <a:ext cx="4960697" cy="162993"/>
          </a:xfrm>
          <a:prstGeom prst="rect">
            <a:avLst/>
          </a:prstGeom>
        </p:spPr>
        <p:txBody>
          <a:bodyPr wrap="square" lIns="0" tIns="0" rIns="0" bIns="0">
            <a:spAutoFit/>
          </a:bodyPr>
          <a:lstStyle>
            <a:lvl1pPr>
              <a:defRPr sz="1059" b="0" i="0">
                <a:solidFill>
                  <a:srgbClr val="4D4D4F"/>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defRPr sz="618" b="0" i="0">
                <a:solidFill>
                  <a:srgbClr val="4D4D4F"/>
                </a:solidFill>
                <a:latin typeface="Calibri"/>
                <a:cs typeface="Calibri"/>
              </a:defRPr>
            </a:lvl1pPr>
          </a:lstStyle>
          <a:p>
            <a:pPr marL="11206">
              <a:spcBef>
                <a:spcPts val="31"/>
              </a:spcBef>
            </a:pPr>
            <a:r>
              <a:rPr lang="en-US" spc="31"/>
              <a:t>KnowledgeWorks.org</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8/7/2019</a:t>
            </a:fld>
            <a:endParaRPr lang="en-US"/>
          </a:p>
        </p:txBody>
      </p:sp>
      <p:sp>
        <p:nvSpPr>
          <p:cNvPr id="7" name="Holder 7"/>
          <p:cNvSpPr>
            <a:spLocks noGrp="1"/>
          </p:cNvSpPr>
          <p:nvPr>
            <p:ph type="sldNum" sz="quarter" idx="7"/>
          </p:nvPr>
        </p:nvSpPr>
        <p:spPr/>
        <p:txBody>
          <a:bodyPr lIns="0" tIns="0" rIns="0" bIns="0"/>
          <a:lstStyle>
            <a:lvl1pPr>
              <a:defRPr sz="618" b="0" i="0">
                <a:solidFill>
                  <a:srgbClr val="4D4D4F"/>
                </a:solidFill>
                <a:latin typeface="Calibri"/>
                <a:cs typeface="Calibri"/>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8652391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6161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18" b="0" i="0">
                <a:solidFill>
                  <a:srgbClr val="4D4D4F"/>
                </a:solidFill>
                <a:latin typeface="Calibri"/>
                <a:cs typeface="Calibri"/>
              </a:defRPr>
            </a:lvl1pPr>
          </a:lstStyle>
          <a:p>
            <a:pPr marL="11206">
              <a:spcBef>
                <a:spcPts val="31"/>
              </a:spcBef>
            </a:pPr>
            <a:r>
              <a:rPr lang="en-US" spc="31"/>
              <a:t>KnowledgeWorks.org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8/7/2019</a:t>
            </a:fld>
            <a:endParaRPr lang="en-US"/>
          </a:p>
        </p:txBody>
      </p:sp>
      <p:sp>
        <p:nvSpPr>
          <p:cNvPr id="6" name="Holder 6"/>
          <p:cNvSpPr>
            <a:spLocks noGrp="1"/>
          </p:cNvSpPr>
          <p:nvPr>
            <p:ph type="sldNum" sz="quarter" idx="7"/>
          </p:nvPr>
        </p:nvSpPr>
        <p:spPr/>
        <p:txBody>
          <a:bodyPr lIns="0" tIns="0" rIns="0" bIns="0"/>
          <a:lstStyle>
            <a:lvl1pPr>
              <a:defRPr sz="618" b="0" i="0">
                <a:solidFill>
                  <a:srgbClr val="4D4D4F"/>
                </a:solidFill>
                <a:latin typeface="Calibri"/>
                <a:cs typeface="Calibri"/>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41767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503944" y="445208"/>
            <a:ext cx="3198091" cy="230832"/>
          </a:xfrm>
        </p:spPr>
        <p:txBody>
          <a:bodyPr lIns="0" tIns="0" rIns="0" bIns="0"/>
          <a:lstStyle>
            <a:lvl1pPr>
              <a:defRPr sz="15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618" b="0" i="0">
                <a:solidFill>
                  <a:srgbClr val="4D4D4F"/>
                </a:solidFill>
                <a:latin typeface="Calibri"/>
                <a:cs typeface="Calibri"/>
              </a:defRPr>
            </a:lvl1pPr>
          </a:lstStyle>
          <a:p>
            <a:pPr marL="11206">
              <a:spcBef>
                <a:spcPts val="31"/>
              </a:spcBef>
            </a:pPr>
            <a:r>
              <a:rPr lang="en-US" spc="31"/>
              <a:t>KnowledgeWorks.org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8/7/2019</a:t>
            </a:fld>
            <a:endParaRPr lang="en-US"/>
          </a:p>
        </p:txBody>
      </p:sp>
      <p:sp>
        <p:nvSpPr>
          <p:cNvPr id="6" name="Holder 6"/>
          <p:cNvSpPr>
            <a:spLocks noGrp="1"/>
          </p:cNvSpPr>
          <p:nvPr>
            <p:ph type="sldNum" sz="quarter" idx="7"/>
          </p:nvPr>
        </p:nvSpPr>
        <p:spPr/>
        <p:txBody>
          <a:bodyPr lIns="0" tIns="0" rIns="0" bIns="0"/>
          <a:lstStyle>
            <a:lvl1pPr>
              <a:defRPr sz="618" b="0" i="0">
                <a:solidFill>
                  <a:srgbClr val="4D4D4F"/>
                </a:solidFill>
                <a:latin typeface="Calibri"/>
                <a:cs typeface="Calibri"/>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255042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503944" y="445208"/>
            <a:ext cx="3198091" cy="230832"/>
          </a:xfrm>
        </p:spPr>
        <p:txBody>
          <a:bodyPr lIns="0" tIns="0" rIns="0" bIns="0"/>
          <a:lstStyle>
            <a:lvl1pPr>
              <a:defRPr sz="1500" b="1" i="0">
                <a:solidFill>
                  <a:schemeClr val="bg1"/>
                </a:solidFill>
                <a:latin typeface="Calibri"/>
                <a:cs typeface="Calibri"/>
              </a:defRPr>
            </a:lvl1pPr>
          </a:lstStyle>
          <a:p>
            <a:endParaRPr/>
          </a:p>
        </p:txBody>
      </p:sp>
      <p:sp>
        <p:nvSpPr>
          <p:cNvPr id="3" name="Holder 3"/>
          <p:cNvSpPr>
            <a:spLocks noGrp="1"/>
          </p:cNvSpPr>
          <p:nvPr>
            <p:ph sz="half" idx="2"/>
          </p:nvPr>
        </p:nvSpPr>
        <p:spPr>
          <a:xfrm>
            <a:off x="677333" y="1533523"/>
            <a:ext cx="4938376" cy="203774"/>
          </a:xfrm>
          <a:prstGeom prst="rect">
            <a:avLst/>
          </a:prstGeom>
        </p:spPr>
        <p:txBody>
          <a:bodyPr wrap="square" lIns="0" tIns="0" rIns="0" bIns="0">
            <a:spAutoFit/>
          </a:bodyPr>
          <a:lstStyle>
            <a:lvl1pPr>
              <a:defRPr sz="1324" b="0" i="0">
                <a:solidFill>
                  <a:srgbClr val="4D4D4F"/>
                </a:solidFill>
                <a:latin typeface="Calibri"/>
                <a:cs typeface="Calibri"/>
              </a:defRPr>
            </a:lvl1pPr>
          </a:lstStyle>
          <a:p>
            <a:endParaRPr/>
          </a:p>
        </p:txBody>
      </p:sp>
      <p:sp>
        <p:nvSpPr>
          <p:cNvPr id="4" name="Holder 4"/>
          <p:cNvSpPr>
            <a:spLocks noGrp="1"/>
          </p:cNvSpPr>
          <p:nvPr>
            <p:ph sz="half" idx="3"/>
          </p:nvPr>
        </p:nvSpPr>
        <p:spPr>
          <a:xfrm>
            <a:off x="6496243" y="1556271"/>
            <a:ext cx="4960697" cy="162993"/>
          </a:xfrm>
          <a:prstGeom prst="rect">
            <a:avLst/>
          </a:prstGeom>
        </p:spPr>
        <p:txBody>
          <a:bodyPr wrap="square" lIns="0" tIns="0" rIns="0" bIns="0">
            <a:spAutoFit/>
          </a:bodyPr>
          <a:lstStyle>
            <a:lvl1pPr>
              <a:defRPr sz="1059" b="0" i="0">
                <a:solidFill>
                  <a:srgbClr val="4D4D4F"/>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defRPr sz="618" b="0" i="0">
                <a:solidFill>
                  <a:srgbClr val="4D4D4F"/>
                </a:solidFill>
                <a:latin typeface="Calibri"/>
                <a:cs typeface="Calibri"/>
              </a:defRPr>
            </a:lvl1pPr>
          </a:lstStyle>
          <a:p>
            <a:pPr marL="11206">
              <a:spcBef>
                <a:spcPts val="31"/>
              </a:spcBef>
            </a:pPr>
            <a:r>
              <a:rPr lang="en-US" spc="31"/>
              <a:t>KnowledgeWorks.org</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8/7/2019</a:t>
            </a:fld>
            <a:endParaRPr lang="en-US"/>
          </a:p>
        </p:txBody>
      </p:sp>
      <p:sp>
        <p:nvSpPr>
          <p:cNvPr id="7" name="Holder 7"/>
          <p:cNvSpPr>
            <a:spLocks noGrp="1"/>
          </p:cNvSpPr>
          <p:nvPr>
            <p:ph type="sldNum" sz="quarter" idx="7"/>
          </p:nvPr>
        </p:nvSpPr>
        <p:spPr/>
        <p:txBody>
          <a:bodyPr lIns="0" tIns="0" rIns="0" bIns="0"/>
          <a:lstStyle>
            <a:lvl1pPr>
              <a:defRPr sz="618" b="0" i="0">
                <a:solidFill>
                  <a:srgbClr val="4D4D4F"/>
                </a:solidFill>
                <a:latin typeface="Calibri"/>
                <a:cs typeface="Calibri"/>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1685295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503944" y="445208"/>
            <a:ext cx="3198091" cy="230832"/>
          </a:xfrm>
        </p:spPr>
        <p:txBody>
          <a:bodyPr lIns="0" tIns="0" rIns="0" bIns="0"/>
          <a:lstStyle>
            <a:lvl1pPr>
              <a:defRPr sz="15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618" b="0" i="0">
                <a:solidFill>
                  <a:srgbClr val="4D4D4F"/>
                </a:solidFill>
                <a:latin typeface="Calibri"/>
                <a:cs typeface="Calibri"/>
              </a:defRPr>
            </a:lvl1pPr>
          </a:lstStyle>
          <a:p>
            <a:pPr marL="11206">
              <a:spcBef>
                <a:spcPts val="31"/>
              </a:spcBef>
            </a:pPr>
            <a:r>
              <a:rPr lang="en-US" spc="31"/>
              <a:t>KnowledgeWorks.org</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8/7/2019</a:t>
            </a:fld>
            <a:endParaRPr lang="en-US"/>
          </a:p>
        </p:txBody>
      </p:sp>
      <p:sp>
        <p:nvSpPr>
          <p:cNvPr id="5" name="Holder 5"/>
          <p:cNvSpPr>
            <a:spLocks noGrp="1"/>
          </p:cNvSpPr>
          <p:nvPr>
            <p:ph type="sldNum" sz="quarter" idx="7"/>
          </p:nvPr>
        </p:nvSpPr>
        <p:spPr/>
        <p:txBody>
          <a:bodyPr lIns="0" tIns="0" rIns="0" bIns="0"/>
          <a:lstStyle>
            <a:lvl1pPr>
              <a:defRPr sz="618" b="0" i="0">
                <a:solidFill>
                  <a:srgbClr val="4D4D4F"/>
                </a:solidFill>
                <a:latin typeface="Calibri"/>
                <a:cs typeface="Calibri"/>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11420373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18" b="0" i="0">
                <a:solidFill>
                  <a:srgbClr val="4D4D4F"/>
                </a:solidFill>
                <a:latin typeface="Calibri"/>
                <a:cs typeface="Calibri"/>
              </a:defRPr>
            </a:lvl1pPr>
          </a:lstStyle>
          <a:p>
            <a:pPr marL="11206">
              <a:spcBef>
                <a:spcPts val="31"/>
              </a:spcBef>
            </a:pPr>
            <a:r>
              <a:rPr lang="en-US" spc="31"/>
              <a:t>KnowledgeWorks.org</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8/7/2019</a:t>
            </a:fld>
            <a:endParaRPr lang="en-US"/>
          </a:p>
        </p:txBody>
      </p:sp>
      <p:sp>
        <p:nvSpPr>
          <p:cNvPr id="4" name="Holder 4"/>
          <p:cNvSpPr>
            <a:spLocks noGrp="1"/>
          </p:cNvSpPr>
          <p:nvPr>
            <p:ph type="sldNum" sz="quarter" idx="7"/>
          </p:nvPr>
        </p:nvSpPr>
        <p:spPr/>
        <p:txBody>
          <a:bodyPr lIns="0" tIns="0" rIns="0" bIns="0"/>
          <a:lstStyle>
            <a:lvl1pPr>
              <a:defRPr sz="618" b="0" i="0">
                <a:solidFill>
                  <a:srgbClr val="4D4D4F"/>
                </a:solidFill>
                <a:latin typeface="Calibri"/>
                <a:cs typeface="Calibri"/>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2972075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E24B-BD4C-4E20-9131-C853CBF551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B84814-FECC-4F41-96EB-5590DA958E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0848DE-F187-4813-8B19-660701D60E75}"/>
              </a:ext>
            </a:extLst>
          </p:cNvPr>
          <p:cNvSpPr>
            <a:spLocks noGrp="1"/>
          </p:cNvSpPr>
          <p:nvPr>
            <p:ph type="dt" sz="half" idx="10"/>
          </p:nvPr>
        </p:nvSpPr>
        <p:spPr/>
        <p:txBody>
          <a:bodyPr/>
          <a:lstStyle/>
          <a:p>
            <a:fld id="{D34DD3DA-E127-4F95-8404-ED3472597443}" type="datetimeFigureOut">
              <a:rPr lang="en-US" smtClean="0"/>
              <a:t>8/7/2019</a:t>
            </a:fld>
            <a:endParaRPr lang="en-US"/>
          </a:p>
        </p:txBody>
      </p:sp>
      <p:sp>
        <p:nvSpPr>
          <p:cNvPr id="5" name="Footer Placeholder 4">
            <a:extLst>
              <a:ext uri="{FF2B5EF4-FFF2-40B4-BE49-F238E27FC236}">
                <a16:creationId xmlns:a16="http://schemas.microsoft.com/office/drawing/2014/main" id="{648B446A-5CF0-40DC-8554-BC69A6D343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53C311-D461-4F76-B1FF-DF2DB5744214}"/>
              </a:ext>
            </a:extLst>
          </p:cNvPr>
          <p:cNvSpPr>
            <a:spLocks noGrp="1"/>
          </p:cNvSpPr>
          <p:nvPr>
            <p:ph type="sldNum" sz="quarter" idx="12"/>
          </p:nvPr>
        </p:nvSpPr>
        <p:spPr/>
        <p:txBody>
          <a:bodyPr/>
          <a:lstStyle/>
          <a:p>
            <a:fld id="{AF6CDF79-4B9A-4BF2-AD5C-3E6E8126C5C8}" type="slidenum">
              <a:rPr lang="en-US" smtClean="0"/>
              <a:t>‹#›</a:t>
            </a:fld>
            <a:endParaRPr lang="en-US"/>
          </a:p>
        </p:txBody>
      </p:sp>
    </p:spTree>
    <p:extLst>
      <p:ext uri="{BB962C8B-B14F-4D97-AF65-F5344CB8AC3E}">
        <p14:creationId xmlns:p14="http://schemas.microsoft.com/office/powerpoint/2010/main" val="25806608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B74D0-B1AE-4C2C-90EB-2248374548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764904-3A40-43CD-B6F1-4113AAA3E9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6D25B4-AB59-413D-BFC7-898A3E2F9980}"/>
              </a:ext>
            </a:extLst>
          </p:cNvPr>
          <p:cNvSpPr>
            <a:spLocks noGrp="1"/>
          </p:cNvSpPr>
          <p:nvPr>
            <p:ph type="dt" sz="half" idx="10"/>
          </p:nvPr>
        </p:nvSpPr>
        <p:spPr/>
        <p:txBody>
          <a:bodyPr/>
          <a:lstStyle/>
          <a:p>
            <a:fld id="{D34DD3DA-E127-4F95-8404-ED3472597443}" type="datetimeFigureOut">
              <a:rPr lang="en-US" smtClean="0"/>
              <a:t>8/7/2019</a:t>
            </a:fld>
            <a:endParaRPr lang="en-US"/>
          </a:p>
        </p:txBody>
      </p:sp>
      <p:sp>
        <p:nvSpPr>
          <p:cNvPr id="5" name="Footer Placeholder 4">
            <a:extLst>
              <a:ext uri="{FF2B5EF4-FFF2-40B4-BE49-F238E27FC236}">
                <a16:creationId xmlns:a16="http://schemas.microsoft.com/office/drawing/2014/main" id="{8A2D4146-E5A9-4CA9-B457-0A2B008EC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EEE88-296D-4866-927F-E7279E5E6B17}"/>
              </a:ext>
            </a:extLst>
          </p:cNvPr>
          <p:cNvSpPr>
            <a:spLocks noGrp="1"/>
          </p:cNvSpPr>
          <p:nvPr>
            <p:ph type="sldNum" sz="quarter" idx="12"/>
          </p:nvPr>
        </p:nvSpPr>
        <p:spPr/>
        <p:txBody>
          <a:bodyPr/>
          <a:lstStyle/>
          <a:p>
            <a:fld id="{AF6CDF79-4B9A-4BF2-AD5C-3E6E8126C5C8}" type="slidenum">
              <a:rPr lang="en-US" smtClean="0"/>
              <a:t>‹#›</a:t>
            </a:fld>
            <a:endParaRPr lang="en-US"/>
          </a:p>
        </p:txBody>
      </p:sp>
    </p:spTree>
    <p:extLst>
      <p:ext uri="{BB962C8B-B14F-4D97-AF65-F5344CB8AC3E}">
        <p14:creationId xmlns:p14="http://schemas.microsoft.com/office/powerpoint/2010/main" val="870120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F729BD-1C52-49C2-BC38-B854B8FC696D}"/>
              </a:ext>
            </a:extLst>
          </p:cNvPr>
          <p:cNvSpPr/>
          <p:nvPr userDrawn="1"/>
        </p:nvSpPr>
        <p:spPr>
          <a:xfrm>
            <a:off x="347709" y="309069"/>
            <a:ext cx="11496581" cy="6239861"/>
          </a:xfrm>
          <a:prstGeom prst="rect">
            <a:avLst/>
          </a:prstGeom>
          <a:solidFill>
            <a:schemeClr val="bg1"/>
          </a:solidFill>
          <a:effectLst>
            <a:glow rad="63500">
              <a:schemeClr val="tx1">
                <a:alpha val="25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EE0A3265-8C22-46BC-AB42-DB53C9E9E5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CF4FB2-E1F4-425E-9FF1-2202E88170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CC3303-6E33-4572-868B-7957E4FBF2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8/7/2019</a:t>
            </a:fld>
            <a:endParaRPr lang="en-US"/>
          </a:p>
        </p:txBody>
      </p:sp>
      <p:sp>
        <p:nvSpPr>
          <p:cNvPr id="5" name="Footer Placeholder 4">
            <a:extLst>
              <a:ext uri="{FF2B5EF4-FFF2-40B4-BE49-F238E27FC236}">
                <a16:creationId xmlns:a16="http://schemas.microsoft.com/office/drawing/2014/main" id="{111783C6-601B-4108-950F-65E6A8FDD5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11206">
              <a:spcBef>
                <a:spcPts val="31"/>
              </a:spcBef>
            </a:pPr>
            <a:r>
              <a:rPr lang="en-US" spc="31"/>
              <a:t>KnowledgeWorks.org</a:t>
            </a:r>
          </a:p>
        </p:txBody>
      </p:sp>
      <p:sp>
        <p:nvSpPr>
          <p:cNvPr id="6" name="Slide Number Placeholder 5">
            <a:extLst>
              <a:ext uri="{FF2B5EF4-FFF2-40B4-BE49-F238E27FC236}">
                <a16:creationId xmlns:a16="http://schemas.microsoft.com/office/drawing/2014/main" id="{FB534DE0-BE62-47FC-A24D-5DE5201A98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11248086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503944" y="445208"/>
            <a:ext cx="3198091" cy="261610"/>
          </a:xfrm>
          <a:prstGeom prst="rect">
            <a:avLst/>
          </a:prstGeom>
        </p:spPr>
        <p:txBody>
          <a:bodyPr wrap="square" lIns="0" tIns="0" rIns="0" bIns="0">
            <a:spAutoFit/>
          </a:bodyPr>
          <a:lstStyle>
            <a:lvl1pPr>
              <a:defRPr sz="1700" b="1" i="0">
                <a:solidFill>
                  <a:schemeClr val="bg1"/>
                </a:solidFill>
                <a:latin typeface="Calibri"/>
                <a:cs typeface="Calibri"/>
              </a:defRPr>
            </a:lvl1pPr>
          </a:lstStyle>
          <a:p>
            <a:endParaRPr/>
          </a:p>
        </p:txBody>
      </p:sp>
      <p:sp>
        <p:nvSpPr>
          <p:cNvPr id="3" name="Holder 3"/>
          <p:cNvSpPr>
            <a:spLocks noGrp="1"/>
          </p:cNvSpPr>
          <p:nvPr>
            <p:ph type="body" idx="1"/>
          </p:nvPr>
        </p:nvSpPr>
        <p:spPr>
          <a:xfrm>
            <a:off x="677334" y="1556316"/>
            <a:ext cx="10837333"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77334" y="6586394"/>
            <a:ext cx="1079885" cy="95091"/>
          </a:xfrm>
          <a:prstGeom prst="rect">
            <a:avLst/>
          </a:prstGeom>
        </p:spPr>
        <p:txBody>
          <a:bodyPr wrap="square" lIns="0" tIns="0" rIns="0" bIns="0">
            <a:spAutoFit/>
          </a:bodyPr>
          <a:lstStyle>
            <a:lvl1pPr>
              <a:defRPr sz="618" b="0" i="0">
                <a:solidFill>
                  <a:srgbClr val="4D4D4F"/>
                </a:solidFill>
                <a:latin typeface="Calibri"/>
                <a:cs typeface="Calibri"/>
              </a:defRPr>
            </a:lvl1pPr>
          </a:lstStyle>
          <a:p>
            <a:pPr marL="11206">
              <a:spcBef>
                <a:spcPts val="31"/>
              </a:spcBef>
            </a:pPr>
            <a:r>
              <a:rPr lang="en-US" spc="31"/>
              <a:t>KnowledgeWorks.org</a:t>
            </a: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8/7/2019</a:t>
            </a:fld>
            <a:endParaRPr lang="en-US"/>
          </a:p>
        </p:txBody>
      </p:sp>
      <p:sp>
        <p:nvSpPr>
          <p:cNvPr id="6" name="Holder 6"/>
          <p:cNvSpPr>
            <a:spLocks noGrp="1"/>
          </p:cNvSpPr>
          <p:nvPr>
            <p:ph type="sldNum" sz="quarter" idx="7"/>
          </p:nvPr>
        </p:nvSpPr>
        <p:spPr>
          <a:xfrm>
            <a:off x="8338952" y="6583264"/>
            <a:ext cx="3199630" cy="95091"/>
          </a:xfrm>
          <a:prstGeom prst="rect">
            <a:avLst/>
          </a:prstGeom>
        </p:spPr>
        <p:txBody>
          <a:bodyPr wrap="square" lIns="0" tIns="0" rIns="0" bIns="0">
            <a:spAutoFit/>
          </a:bodyPr>
          <a:lstStyle>
            <a:lvl1pPr>
              <a:defRPr sz="618" b="0" i="0">
                <a:solidFill>
                  <a:srgbClr val="4D4D4F"/>
                </a:solidFill>
                <a:latin typeface="Calibri"/>
                <a:cs typeface="Calibri"/>
              </a:defRPr>
            </a:lvl1pPr>
          </a:lstStyle>
          <a:p>
            <a:pPr marL="10086">
              <a:spcBef>
                <a:spcPts val="31"/>
              </a:spcBef>
            </a:pPr>
            <a:r>
              <a:rPr lang="en-US" spc="31"/>
              <a:t>Personalized Learning and </a:t>
            </a:r>
            <a:r>
              <a:rPr lang="en-US" spc="18"/>
              <a:t>the </a:t>
            </a:r>
            <a:r>
              <a:rPr lang="en-US" spc="35"/>
              <a:t>Every </a:t>
            </a:r>
            <a:r>
              <a:rPr lang="en-US" spc="26"/>
              <a:t>Student </a:t>
            </a:r>
            <a:r>
              <a:rPr lang="en-US" spc="49"/>
              <a:t>Succeeds </a:t>
            </a:r>
            <a:r>
              <a:rPr lang="en-US" spc="31"/>
              <a:t>Act</a:t>
            </a:r>
            <a:r>
              <a:rPr lang="en-US" spc="88"/>
              <a:t> </a:t>
            </a:r>
            <a:r>
              <a:rPr lang="en-US" spc="-154"/>
              <a:t>|</a:t>
            </a:r>
            <a:r>
              <a:rPr lang="en-US" spc="180"/>
              <a:t> </a:t>
            </a:r>
            <a:fld id="{81D60167-4931-47E6-BA6A-407CBD079E47}" type="slidenum">
              <a:rPr lang="en-US" b="1" spc="62" smtClean="0"/>
              <a:pPr marL="10086">
                <a:spcBef>
                  <a:spcPts val="31"/>
                </a:spcBef>
              </a:pPr>
              <a:t>‹#›</a:t>
            </a:fld>
            <a:endParaRPr lang="en-US" b="1" spc="62"/>
          </a:p>
        </p:txBody>
      </p:sp>
    </p:spTree>
    <p:extLst>
      <p:ext uri="{BB962C8B-B14F-4D97-AF65-F5344CB8AC3E}">
        <p14:creationId xmlns:p14="http://schemas.microsoft.com/office/powerpoint/2010/main" val="396436722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Lst>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hyperlink" Target="https://nces.ed.gov/programs/digest/d17/tables/dt17_303.30.asp" TargetMode="External"/><Relationship Id="rId3" Type="http://schemas.openxmlformats.org/officeDocument/2006/relationships/hyperlink" Target="http://nces.ed.gov/programs/digest/d17/tables/dt17_105.20.asp" TargetMode="External"/><Relationship Id="rId7" Type="http://schemas.openxmlformats.org/officeDocument/2006/relationships/hyperlink" Target="https://nces.ed.gov/programs/digest/d17/tables/dt17_105.30.asp"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hyperlink" Target="http://nces.ed.gov/programs/digest/d17/tables/dt17_219.10.asp" TargetMode="External"/><Relationship Id="rId5" Type="http://schemas.openxmlformats.org/officeDocument/2006/relationships/hyperlink" Target="https://nces.ed.gov/programs/digest/d17/tables/dt17_236.15.asp" TargetMode="External"/><Relationship Id="rId10" Type="http://schemas.openxmlformats.org/officeDocument/2006/relationships/hyperlink" Target="https://nces.ed.gov/blogs/nces/post/back-to-school-by-the-numbers-2018" TargetMode="External"/><Relationship Id="rId4" Type="http://schemas.openxmlformats.org/officeDocument/2006/relationships/hyperlink" Target="http://nces.ed.gov/programs/digest/d17/tables/dt17_208.20.asp" TargetMode="External"/><Relationship Id="rId9" Type="http://schemas.openxmlformats.org/officeDocument/2006/relationships/hyperlink" Target="https://nces.ed.gov/programs/digest/d17/tables/dt17_303.10.as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wallethub.com/edu/states-with-the-best-schools/533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www.nsf.gov/statistics/state-indicator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www.nationsreportcard.gov/ndecore/xplore/NDE" TargetMode="External"/><Relationship Id="rId4" Type="http://schemas.openxmlformats.org/officeDocument/2006/relationships/hyperlink" Target="https://nces.ed.gov/nationsreportcard/mathematics/achieve.aspx#grade12"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nationsreportcard.gov/ndecore/xplore/NDE" TargetMode="External"/><Relationship Id="rId5" Type="http://schemas.openxmlformats.org/officeDocument/2006/relationships/hyperlink" Target="https://nces.ed.gov/nationsreportcard/mathematics/achieve.aspx#grade12" TargetMode="External"/><Relationship Id="rId4" Type="http://schemas.openxmlformats.org/officeDocument/2006/relationships/hyperlink" Target="https://www.nsf.gov/statistics/state-indicator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hyperlink" Target="https://www.nationsreportcard.gov/ndecore/xplore/ND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nces.ed.gov/nationsreportcard/mathematics/achieve.aspx#grade12" TargetMode="External"/><Relationship Id="rId5" Type="http://schemas.openxmlformats.org/officeDocument/2006/relationships/hyperlink" Target="https://www.nsf.gov/statistics/state-indicators" TargetMode="Externa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www.nsf.gov/statistics/state-indicators" TargetMode="Externa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ocrdata.ed.gov/flex/Reports.aspx?type=district" TargetMode="External"/><Relationship Id="rId5" Type="http://schemas.openxmlformats.org/officeDocument/2006/relationships/hyperlink" Target="https://nces.ed.gov/ccd/elsi/" TargetMode="External"/><Relationship Id="rId4" Type="http://schemas.openxmlformats.org/officeDocument/2006/relationships/hyperlink" Target="https://www2.ed.gov/about/inits/ed/edfacts/data-files/index.html#acgr"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2.ed.gov/about/inits/ed/edfacts/data-files/index.html#acgr"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2.ed.gov/about/inits/ed/edfacts/data-files/index.html#acgr"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hyperlink" Target="https://nces.ed.gov/ccd/elsi/"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2.ed.gov/about/inits/ed/edfacts/data-files/index.html#acgr"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nces.ed.gov/ccd/els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ocrdata.ed.gov/flex/Reports.aspx?type=district"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hyperlink" Target="https://ocrdata.ed.gov/flex/Reports.aspx?type=district"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www.nationsreportcard.gov/ndecore/xplore/NDE" TargetMode="External"/><Relationship Id="rId5" Type="http://schemas.openxmlformats.org/officeDocument/2006/relationships/hyperlink" Target="https://nces.ed.gov/nationsreportcard/mathematics/achieve.aspx#grade12" TargetMode="External"/><Relationship Id="rId4" Type="http://schemas.openxmlformats.org/officeDocument/2006/relationships/hyperlink" Target="https://www.nsf.gov/statistics/state-indicators"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image" Target="../media/image30.png"/><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19" Type="http://schemas.openxmlformats.org/officeDocument/2006/relationships/image" Target="../media/image47.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3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62.jpg"/></Relationships>
</file>

<file path=ppt/slides/_rels/slide3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hyperlink" Target="https://www.facebook.com/reachinghighernh/videos/503413976800771/" TargetMode="External"/><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hyperlink" Target="https://reachinghighernh.org/2018/10/03/usdoe-applaud-innovative-assessment/"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7107-51B6-4BB8-86C6-063405D84C92}"/>
              </a:ext>
            </a:extLst>
          </p:cNvPr>
          <p:cNvSpPr>
            <a:spLocks noGrp="1"/>
          </p:cNvSpPr>
          <p:nvPr>
            <p:ph type="ctrTitle" idx="4294967295"/>
          </p:nvPr>
        </p:nvSpPr>
        <p:spPr>
          <a:xfrm>
            <a:off x="1771650" y="971551"/>
            <a:ext cx="9144000" cy="2603500"/>
          </a:xfrm>
        </p:spPr>
        <p:txBody>
          <a:bodyPr vert="horz" lIns="91440" tIns="45720" rIns="91440" bIns="45720" rtlCol="0" anchor="ctr">
            <a:normAutofit/>
          </a:bodyPr>
          <a:lstStyle/>
          <a:p>
            <a:pPr algn="ctr"/>
            <a:r>
              <a:rPr lang="en-US" b="1"/>
              <a:t>Status of K-12 Public-School Education</a:t>
            </a:r>
            <a:endParaRPr lang="en-US"/>
          </a:p>
        </p:txBody>
      </p:sp>
      <p:sp>
        <p:nvSpPr>
          <p:cNvPr id="3" name="Subtitle 2">
            <a:extLst>
              <a:ext uri="{FF2B5EF4-FFF2-40B4-BE49-F238E27FC236}">
                <a16:creationId xmlns:a16="http://schemas.microsoft.com/office/drawing/2014/main" id="{92B41BFB-D164-424B-8CBA-A94F0E837AB1}"/>
              </a:ext>
            </a:extLst>
          </p:cNvPr>
          <p:cNvSpPr>
            <a:spLocks noGrp="1"/>
          </p:cNvSpPr>
          <p:nvPr>
            <p:ph type="subTitle" idx="4294967295"/>
          </p:nvPr>
        </p:nvSpPr>
        <p:spPr>
          <a:xfrm>
            <a:off x="1524000" y="3732213"/>
            <a:ext cx="9144000" cy="1393825"/>
          </a:xfrm>
        </p:spPr>
        <p:txBody>
          <a:bodyPr vert="horz" lIns="91440" tIns="45720" rIns="91440" bIns="45720" rtlCol="0">
            <a:normAutofit/>
          </a:bodyPr>
          <a:lstStyle/>
          <a:p>
            <a:pPr marL="0" indent="0" algn="ctr">
              <a:spcAft>
                <a:spcPts val="600"/>
              </a:spcAft>
              <a:buNone/>
            </a:pPr>
            <a:r>
              <a:rPr lang="en-US"/>
              <a:t>Sindhu Veeramachaneni, Zachary </a:t>
            </a:r>
            <a:r>
              <a:rPr lang="en-US" err="1"/>
              <a:t>Zalman</a:t>
            </a:r>
            <a:r>
              <a:rPr lang="en-US"/>
              <a:t>, </a:t>
            </a:r>
            <a:endParaRPr lang="en-US" sz="2400"/>
          </a:p>
          <a:p>
            <a:pPr marL="0" indent="0" algn="ctr">
              <a:spcAft>
                <a:spcPts val="600"/>
              </a:spcAft>
              <a:buNone/>
            </a:pPr>
            <a:r>
              <a:rPr lang="en-US"/>
              <a:t>Nathan Harris </a:t>
            </a:r>
          </a:p>
        </p:txBody>
      </p:sp>
    </p:spTree>
    <p:extLst>
      <p:ext uri="{BB962C8B-B14F-4D97-AF65-F5344CB8AC3E}">
        <p14:creationId xmlns:p14="http://schemas.microsoft.com/office/powerpoint/2010/main" val="2789426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9FCAB9-93C3-4BDA-9E2F-9DD50CC363DA}"/>
              </a:ext>
            </a:extLst>
          </p:cNvPr>
          <p:cNvSpPr>
            <a:spLocks noGrp="1"/>
          </p:cNvSpPr>
          <p:nvPr>
            <p:ph type="title"/>
          </p:nvPr>
        </p:nvSpPr>
        <p:spPr>
          <a:xfrm>
            <a:off x="838200" y="387537"/>
            <a:ext cx="10515600" cy="1325563"/>
          </a:xfrm>
        </p:spPr>
        <p:txBody>
          <a:bodyPr>
            <a:normAutofit/>
          </a:bodyPr>
          <a:lstStyle/>
          <a:p>
            <a:pPr algn="ctr"/>
            <a:r>
              <a:rPr lang="en-US" sz="3200" b="1" dirty="0">
                <a:latin typeface="+mn-lt"/>
              </a:rPr>
              <a:t>Our Story Board for K-12 Public Education</a:t>
            </a:r>
          </a:p>
        </p:txBody>
      </p:sp>
      <p:graphicFrame>
        <p:nvGraphicFramePr>
          <p:cNvPr id="8" name="Diagram 7">
            <a:extLst>
              <a:ext uri="{FF2B5EF4-FFF2-40B4-BE49-F238E27FC236}">
                <a16:creationId xmlns:a16="http://schemas.microsoft.com/office/drawing/2014/main" id="{24A9ECB2-3EDE-412F-B04F-B00D37DFEC19}"/>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1348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lipart&#10;&#10;Description automatically generated">
            <a:extLst>
              <a:ext uri="{FF2B5EF4-FFF2-40B4-BE49-F238E27FC236}">
                <a16:creationId xmlns:a16="http://schemas.microsoft.com/office/drawing/2014/main" id="{77E74BA6-0212-4BDF-B0F7-367DB3F12848}"/>
              </a:ext>
            </a:extLst>
          </p:cNvPr>
          <p:cNvPicPr>
            <a:picLocks noChangeAspect="1"/>
          </p:cNvPicPr>
          <p:nvPr/>
        </p:nvPicPr>
        <p:blipFill rotWithShape="1">
          <a:blip r:embed="rId3">
            <a:extLst>
              <a:ext uri="{28A0092B-C50C-407E-A947-70E740481C1C}">
                <a14:useLocalDpi xmlns:a14="http://schemas.microsoft.com/office/drawing/2010/main" val="0"/>
              </a:ext>
            </a:extLst>
          </a:blip>
          <a:srcRect r="3231" b="26689"/>
          <a:stretch/>
        </p:blipFill>
        <p:spPr>
          <a:xfrm>
            <a:off x="1345652" y="2451263"/>
            <a:ext cx="4512956" cy="1863064"/>
          </a:xfrm>
          <a:prstGeom prst="rect">
            <a:avLst/>
          </a:prstGeom>
        </p:spPr>
      </p:pic>
      <p:pic>
        <p:nvPicPr>
          <p:cNvPr id="3" name="Picture 2">
            <a:extLst>
              <a:ext uri="{FF2B5EF4-FFF2-40B4-BE49-F238E27FC236}">
                <a16:creationId xmlns:a16="http://schemas.microsoft.com/office/drawing/2014/main" id="{90FE45C6-2D2E-4437-958F-245B8BE8BA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8147" y="419037"/>
            <a:ext cx="5798120" cy="5798120"/>
          </a:xfrm>
          <a:prstGeom prst="rect">
            <a:avLst/>
          </a:prstGeom>
        </p:spPr>
      </p:pic>
    </p:spTree>
    <p:extLst>
      <p:ext uri="{BB962C8B-B14F-4D97-AF65-F5344CB8AC3E}">
        <p14:creationId xmlns:p14="http://schemas.microsoft.com/office/powerpoint/2010/main" val="2477157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sign&#10;&#10;Description automatically generated">
            <a:extLst>
              <a:ext uri="{FF2B5EF4-FFF2-40B4-BE49-F238E27FC236}">
                <a16:creationId xmlns:a16="http://schemas.microsoft.com/office/drawing/2014/main" id="{47B5E910-1749-43D9-A80A-734000D16F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4042" y="2264660"/>
            <a:ext cx="4261143" cy="1980656"/>
          </a:xfrm>
          <a:prstGeom prst="rect">
            <a:avLst/>
          </a:prstGeom>
        </p:spPr>
      </p:pic>
      <p:pic>
        <p:nvPicPr>
          <p:cNvPr id="6" name="Picture 5" descr="A close up of a sign&#10;&#10;Description automatically generated">
            <a:extLst>
              <a:ext uri="{FF2B5EF4-FFF2-40B4-BE49-F238E27FC236}">
                <a16:creationId xmlns:a16="http://schemas.microsoft.com/office/drawing/2014/main" id="{662294CB-EC11-4AC5-9239-3EAB6B703E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1776" y="607725"/>
            <a:ext cx="2351347" cy="1994913"/>
          </a:xfrm>
          <a:prstGeom prst="rect">
            <a:avLst/>
          </a:prstGeom>
        </p:spPr>
      </p:pic>
      <p:pic>
        <p:nvPicPr>
          <p:cNvPr id="7" name="Picture 6">
            <a:extLst>
              <a:ext uri="{FF2B5EF4-FFF2-40B4-BE49-F238E27FC236}">
                <a16:creationId xmlns:a16="http://schemas.microsoft.com/office/drawing/2014/main" id="{86CB853B-32C1-435C-B6C5-83EF24307D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0686" y="2929773"/>
            <a:ext cx="4751369" cy="3207363"/>
          </a:xfrm>
          <a:prstGeom prst="rect">
            <a:avLst/>
          </a:prstGeom>
        </p:spPr>
      </p:pic>
    </p:spTree>
    <p:extLst>
      <p:ext uri="{BB962C8B-B14F-4D97-AF65-F5344CB8AC3E}">
        <p14:creationId xmlns:p14="http://schemas.microsoft.com/office/powerpoint/2010/main" val="3259692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9452B6D-52D7-4099-B8C7-24E8E3040C0D}"/>
              </a:ext>
            </a:extLst>
          </p:cNvPr>
          <p:cNvGrpSpPr/>
          <p:nvPr/>
        </p:nvGrpSpPr>
        <p:grpSpPr>
          <a:xfrm>
            <a:off x="385635" y="1652537"/>
            <a:ext cx="11078143" cy="3911503"/>
            <a:chOff x="381039" y="1427383"/>
            <a:chExt cx="11458679" cy="3911503"/>
          </a:xfrm>
        </p:grpSpPr>
        <p:pic>
          <p:nvPicPr>
            <p:cNvPr id="19" name="Picture 19" descr="A close up of a piece of paper&#10;&#10;Description generated with high confidence">
              <a:extLst>
                <a:ext uri="{FF2B5EF4-FFF2-40B4-BE49-F238E27FC236}">
                  <a16:creationId xmlns:a16="http://schemas.microsoft.com/office/drawing/2014/main" id="{EE943731-47BD-4B1D-AC39-9C798A71430F}"/>
                </a:ext>
              </a:extLst>
            </p:cNvPr>
            <p:cNvPicPr>
              <a:picLocks noChangeAspect="1"/>
            </p:cNvPicPr>
            <p:nvPr/>
          </p:nvPicPr>
          <p:blipFill>
            <a:blip r:embed="rId3"/>
            <a:stretch>
              <a:fillRect/>
            </a:stretch>
          </p:blipFill>
          <p:spPr>
            <a:xfrm>
              <a:off x="381039" y="1427383"/>
              <a:ext cx="6180785" cy="3744443"/>
            </a:xfrm>
            <a:prstGeom prst="rect">
              <a:avLst/>
            </a:prstGeom>
          </p:spPr>
        </p:pic>
        <p:pic>
          <p:nvPicPr>
            <p:cNvPr id="21" name="Picture 21" descr="A picture containing stationary&#10;&#10;Description generated with very high confidence">
              <a:extLst>
                <a:ext uri="{FF2B5EF4-FFF2-40B4-BE49-F238E27FC236}">
                  <a16:creationId xmlns:a16="http://schemas.microsoft.com/office/drawing/2014/main" id="{9F48E3C1-E851-48E5-8BC7-6DD8865520A4}"/>
                </a:ext>
              </a:extLst>
            </p:cNvPr>
            <p:cNvPicPr>
              <a:picLocks noChangeAspect="1"/>
            </p:cNvPicPr>
            <p:nvPr/>
          </p:nvPicPr>
          <p:blipFill>
            <a:blip r:embed="rId4"/>
            <a:stretch>
              <a:fillRect/>
            </a:stretch>
          </p:blipFill>
          <p:spPr>
            <a:xfrm>
              <a:off x="6550327" y="2217314"/>
              <a:ext cx="5289391" cy="3121572"/>
            </a:xfrm>
            <a:prstGeom prst="rect">
              <a:avLst/>
            </a:prstGeom>
          </p:spPr>
        </p:pic>
      </p:grpSp>
      <p:pic>
        <p:nvPicPr>
          <p:cNvPr id="25" name="Picture 25">
            <a:extLst>
              <a:ext uri="{FF2B5EF4-FFF2-40B4-BE49-F238E27FC236}">
                <a16:creationId xmlns:a16="http://schemas.microsoft.com/office/drawing/2014/main" id="{E779FC81-03A3-4BF7-8D9A-CB773C6FD8A7}"/>
              </a:ext>
            </a:extLst>
          </p:cNvPr>
          <p:cNvPicPr>
            <a:picLocks noChangeAspect="1"/>
          </p:cNvPicPr>
          <p:nvPr/>
        </p:nvPicPr>
        <p:blipFill>
          <a:blip r:embed="rId5"/>
          <a:stretch>
            <a:fillRect/>
          </a:stretch>
        </p:blipFill>
        <p:spPr>
          <a:xfrm>
            <a:off x="6363419" y="316487"/>
            <a:ext cx="2383767" cy="813759"/>
          </a:xfrm>
          <a:prstGeom prst="rect">
            <a:avLst/>
          </a:prstGeom>
        </p:spPr>
      </p:pic>
      <p:cxnSp>
        <p:nvCxnSpPr>
          <p:cNvPr id="2" name="Connector: Elbow 1">
            <a:extLst>
              <a:ext uri="{FF2B5EF4-FFF2-40B4-BE49-F238E27FC236}">
                <a16:creationId xmlns:a16="http://schemas.microsoft.com/office/drawing/2014/main" id="{B29BBD9B-FC31-40F8-937A-A52580FCB179}"/>
              </a:ext>
            </a:extLst>
          </p:cNvPr>
          <p:cNvCxnSpPr>
            <a:cxnSpLocks/>
            <a:endCxn id="25" idx="1"/>
          </p:cNvCxnSpPr>
          <p:nvPr/>
        </p:nvCxnSpPr>
        <p:spPr>
          <a:xfrm rot="5400000" flipH="1" flipV="1">
            <a:off x="5174396" y="944579"/>
            <a:ext cx="1410235" cy="967812"/>
          </a:xfrm>
          <a:prstGeom prst="bentConnector2">
            <a:avLst/>
          </a:prstGeom>
          <a:ln w="9525"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305164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11A9-8548-4301-A7AE-C0B1D538ABEE}"/>
              </a:ext>
            </a:extLst>
          </p:cNvPr>
          <p:cNvSpPr>
            <a:spLocks noGrp="1"/>
          </p:cNvSpPr>
          <p:nvPr>
            <p:ph type="title"/>
          </p:nvPr>
        </p:nvSpPr>
        <p:spPr/>
        <p:txBody>
          <a:bodyPr/>
          <a:lstStyle/>
          <a:p>
            <a:r>
              <a:rPr lang="en-US"/>
              <a:t>Summary: US Public Education by Numbers</a:t>
            </a:r>
          </a:p>
        </p:txBody>
      </p:sp>
      <p:sp>
        <p:nvSpPr>
          <p:cNvPr id="3" name="Content Placeholder 2">
            <a:extLst>
              <a:ext uri="{FF2B5EF4-FFF2-40B4-BE49-F238E27FC236}">
                <a16:creationId xmlns:a16="http://schemas.microsoft.com/office/drawing/2014/main" id="{35BE5CE0-A7D5-4B6B-9244-274875F7AD02}"/>
              </a:ext>
            </a:extLst>
          </p:cNvPr>
          <p:cNvSpPr>
            <a:spLocks noGrp="1"/>
          </p:cNvSpPr>
          <p:nvPr>
            <p:ph sz="half" idx="1"/>
          </p:nvPr>
        </p:nvSpPr>
        <p:spPr>
          <a:ln>
            <a:solidFill>
              <a:schemeClr val="accent1"/>
            </a:solidFill>
          </a:ln>
        </p:spPr>
        <p:txBody>
          <a:bodyPr>
            <a:normAutofit fontScale="62500" lnSpcReduction="20000"/>
          </a:bodyPr>
          <a:lstStyle/>
          <a:p>
            <a:pPr marL="0" indent="0">
              <a:buNone/>
            </a:pPr>
            <a:r>
              <a:rPr lang="en-US" sz="3200" b="1"/>
              <a:t>50.7 million</a:t>
            </a:r>
          </a:p>
          <a:p>
            <a:r>
              <a:rPr lang="en-US"/>
              <a:t>The </a:t>
            </a:r>
            <a:r>
              <a:rPr lang="en-US">
                <a:hlinkClick r:id="rId3"/>
              </a:rPr>
              <a:t>number of students expected to attend</a:t>
            </a:r>
            <a:r>
              <a:rPr lang="en-US"/>
              <a:t> public elementary and secondary schools this year—slightly more than in the 2017–18­ school year (50.6 million). About 5.9 million students are expected to attend private schools this year.</a:t>
            </a:r>
          </a:p>
          <a:p>
            <a:pPr marL="0" indent="0">
              <a:buNone/>
            </a:pPr>
            <a:r>
              <a:rPr lang="en-US" sz="2800" b="1"/>
              <a:t>16.0</a:t>
            </a:r>
          </a:p>
          <a:p>
            <a:r>
              <a:rPr lang="en-US"/>
              <a:t>The </a:t>
            </a:r>
            <a:r>
              <a:rPr lang="en-US">
                <a:hlinkClick r:id="rId4"/>
              </a:rPr>
              <a:t>expected number of public school students per teacher in fall 2018</a:t>
            </a:r>
            <a:r>
              <a:rPr lang="en-US"/>
              <a:t>. This ratio has remained consistent at around 16.0 since 2010. However, the pupil/teacher ratio is lower in private schools (12.3) and has fallen since 2010, when it was 13.0. </a:t>
            </a:r>
          </a:p>
          <a:p>
            <a:pPr marL="0" indent="0">
              <a:buNone/>
            </a:pPr>
            <a:r>
              <a:rPr lang="en-US" sz="3200" b="1"/>
              <a:t>$12,910</a:t>
            </a:r>
          </a:p>
          <a:p>
            <a:r>
              <a:rPr lang="en-US"/>
              <a:t>This is the </a:t>
            </a:r>
            <a:r>
              <a:rPr lang="en-US">
                <a:hlinkClick r:id="rId5"/>
              </a:rPr>
              <a:t>projected per-student expenditure</a:t>
            </a:r>
            <a:r>
              <a:rPr lang="en-US"/>
              <a:t> in public elementary and secondary schools in 2018–19. Total expenditures for public elementary and secondary schools are projected to be $654 billion for the 2018–19 school year.</a:t>
            </a:r>
          </a:p>
          <a:p>
            <a:endParaRPr lang="en-US"/>
          </a:p>
        </p:txBody>
      </p:sp>
      <p:sp>
        <p:nvSpPr>
          <p:cNvPr id="4" name="Content Placeholder 3">
            <a:extLst>
              <a:ext uri="{FF2B5EF4-FFF2-40B4-BE49-F238E27FC236}">
                <a16:creationId xmlns:a16="http://schemas.microsoft.com/office/drawing/2014/main" id="{E84C49BF-DEFA-420B-A4AF-AF2AA31B4CE1}"/>
              </a:ext>
            </a:extLst>
          </p:cNvPr>
          <p:cNvSpPr>
            <a:spLocks noGrp="1"/>
          </p:cNvSpPr>
          <p:nvPr>
            <p:ph sz="half" idx="2"/>
          </p:nvPr>
        </p:nvSpPr>
        <p:spPr>
          <a:ln>
            <a:solidFill>
              <a:schemeClr val="accent1"/>
            </a:solidFill>
          </a:ln>
        </p:spPr>
        <p:txBody>
          <a:bodyPr>
            <a:normAutofit fontScale="62500" lnSpcReduction="20000"/>
          </a:bodyPr>
          <a:lstStyle/>
          <a:p>
            <a:pPr marL="0" indent="0">
              <a:buNone/>
            </a:pPr>
            <a:r>
              <a:rPr lang="en-US" sz="3200" b="1"/>
              <a:t>3.6 million</a:t>
            </a:r>
          </a:p>
          <a:p>
            <a:r>
              <a:rPr lang="en-US"/>
              <a:t>The </a:t>
            </a:r>
            <a:r>
              <a:rPr lang="en-US">
                <a:hlinkClick r:id="rId6"/>
              </a:rPr>
              <a:t>number of students expected to graduate from high school</a:t>
            </a:r>
            <a:r>
              <a:rPr lang="en-US"/>
              <a:t> this academic year, including about 3.3 million from public schools and nearly 0.4 million from private schools.</a:t>
            </a:r>
          </a:p>
          <a:p>
            <a:pPr marL="0" indent="0">
              <a:buNone/>
            </a:pPr>
            <a:r>
              <a:rPr lang="en-US" sz="3200" b="1"/>
              <a:t>19.9 million</a:t>
            </a:r>
          </a:p>
          <a:p>
            <a:r>
              <a:rPr lang="en-US"/>
              <a:t>This is the </a:t>
            </a:r>
            <a:r>
              <a:rPr lang="en-US">
                <a:hlinkClick r:id="rId7"/>
              </a:rPr>
              <a:t>number of students expected to attend American colleges and universities</a:t>
            </a:r>
            <a:r>
              <a:rPr lang="en-US"/>
              <a:t> this fall—higher than the fall 2000 enrollment of 15.3 million but lower than the peak of 21.0 million in 2010. About 13.3 million students will attend four-year institutions and 6.7 million will attend </a:t>
            </a:r>
            <a:r>
              <a:rPr lang="en-US">
                <a:hlinkClick r:id="rId8"/>
              </a:rPr>
              <a:t>two-year institutions</a:t>
            </a:r>
            <a:r>
              <a:rPr lang="en-US"/>
              <a:t>.</a:t>
            </a:r>
          </a:p>
          <a:p>
            <a:pPr marL="0" indent="0">
              <a:buNone/>
            </a:pPr>
            <a:r>
              <a:rPr lang="en-US" sz="3200" b="1"/>
              <a:t>56.5%</a:t>
            </a:r>
          </a:p>
          <a:p>
            <a:r>
              <a:rPr lang="en-US"/>
              <a:t>The </a:t>
            </a:r>
            <a:r>
              <a:rPr lang="en-US" u="sng">
                <a:hlinkClick r:id="rId9"/>
              </a:rPr>
              <a:t>projected percentage of female postsecondary students in fall 2018</a:t>
            </a:r>
            <a:r>
              <a:rPr lang="en-US"/>
              <a:t>, for a total of about 11.2 million female students, compared with 8.7 million male students.</a:t>
            </a:r>
          </a:p>
          <a:p>
            <a:endParaRPr lang="en-US"/>
          </a:p>
        </p:txBody>
      </p:sp>
      <p:sp>
        <p:nvSpPr>
          <p:cNvPr id="5" name="Rectangle 4">
            <a:extLst>
              <a:ext uri="{FF2B5EF4-FFF2-40B4-BE49-F238E27FC236}">
                <a16:creationId xmlns:a16="http://schemas.microsoft.com/office/drawing/2014/main" id="{A37A9F76-6941-4B68-861D-49041FFACC3F}"/>
              </a:ext>
            </a:extLst>
          </p:cNvPr>
          <p:cNvSpPr/>
          <p:nvPr/>
        </p:nvSpPr>
        <p:spPr>
          <a:xfrm>
            <a:off x="773142" y="6176963"/>
            <a:ext cx="2528256" cy="369332"/>
          </a:xfrm>
          <a:prstGeom prst="rect">
            <a:avLst/>
          </a:prstGeom>
        </p:spPr>
        <p:txBody>
          <a:bodyPr wrap="none">
            <a:spAutoFit/>
          </a:bodyPr>
          <a:lstStyle/>
          <a:p>
            <a:r>
              <a:rPr lang="en-US" sz="600">
                <a:latin typeface="Lora"/>
              </a:rPr>
              <a:t>National Center for Education Statistics</a:t>
            </a:r>
          </a:p>
          <a:p>
            <a:r>
              <a:rPr lang="en-US" sz="600">
                <a:hlinkClick r:id="rId10"/>
              </a:rPr>
              <a:t>https://nces.ed.gov/blogs/nces/post/back-to-school-by-the-numbers-2018</a:t>
            </a:r>
            <a:endParaRPr lang="en-US" sz="600"/>
          </a:p>
          <a:p>
            <a:endParaRPr lang="en-US" sz="600"/>
          </a:p>
        </p:txBody>
      </p:sp>
    </p:spTree>
    <p:extLst>
      <p:ext uri="{BB962C8B-B14F-4D97-AF65-F5344CB8AC3E}">
        <p14:creationId xmlns:p14="http://schemas.microsoft.com/office/powerpoint/2010/main" val="2793190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A1957E-35FF-4AAA-BBB0-5AA26537D7D4}"/>
              </a:ext>
            </a:extLst>
          </p:cNvPr>
          <p:cNvSpPr txBox="1"/>
          <p:nvPr/>
        </p:nvSpPr>
        <p:spPr>
          <a:xfrm>
            <a:off x="481326" y="6104236"/>
            <a:ext cx="6531133" cy="184666"/>
          </a:xfrm>
          <a:prstGeom prst="rect">
            <a:avLst/>
          </a:prstGeom>
          <a:noFill/>
        </p:spPr>
        <p:txBody>
          <a:bodyPr wrap="square" rtlCol="0">
            <a:spAutoFit/>
          </a:bodyPr>
          <a:lstStyle/>
          <a:p>
            <a:r>
              <a:rPr lang="en-US" sz="600" i="1"/>
              <a:t>Sources: Data used to create this ranking were collected from the U.S. Census Bureau, U.S. Department of Education, National Conference of State Legislatures, National Center for Educational Statistics</a:t>
            </a:r>
            <a:endParaRPr lang="en-US" sz="600"/>
          </a:p>
        </p:txBody>
      </p:sp>
      <p:pic>
        <p:nvPicPr>
          <p:cNvPr id="7" name="Picture 6">
            <a:extLst>
              <a:ext uri="{FF2B5EF4-FFF2-40B4-BE49-F238E27FC236}">
                <a16:creationId xmlns:a16="http://schemas.microsoft.com/office/drawing/2014/main" id="{1E116634-43D2-4112-8126-D9753CC0DC03}"/>
              </a:ext>
            </a:extLst>
          </p:cNvPr>
          <p:cNvPicPr>
            <a:picLocks noChangeAspect="1"/>
          </p:cNvPicPr>
          <p:nvPr/>
        </p:nvPicPr>
        <p:blipFill>
          <a:blip r:embed="rId3"/>
          <a:stretch>
            <a:fillRect/>
          </a:stretch>
        </p:blipFill>
        <p:spPr>
          <a:xfrm>
            <a:off x="455001" y="586160"/>
            <a:ext cx="9462721" cy="5107085"/>
          </a:xfrm>
          <a:prstGeom prst="rect">
            <a:avLst/>
          </a:prstGeom>
        </p:spPr>
      </p:pic>
      <p:pic>
        <p:nvPicPr>
          <p:cNvPr id="8" name="Picture 7">
            <a:extLst>
              <a:ext uri="{FF2B5EF4-FFF2-40B4-BE49-F238E27FC236}">
                <a16:creationId xmlns:a16="http://schemas.microsoft.com/office/drawing/2014/main" id="{3596B269-8D4F-414E-B352-74BFE71F1A47}"/>
              </a:ext>
            </a:extLst>
          </p:cNvPr>
          <p:cNvPicPr>
            <a:picLocks noChangeAspect="1"/>
          </p:cNvPicPr>
          <p:nvPr/>
        </p:nvPicPr>
        <p:blipFill>
          <a:blip r:embed="rId4"/>
          <a:stretch>
            <a:fillRect/>
          </a:stretch>
        </p:blipFill>
        <p:spPr>
          <a:xfrm>
            <a:off x="455002" y="5200326"/>
            <a:ext cx="1819275" cy="809625"/>
          </a:xfrm>
          <a:prstGeom prst="rect">
            <a:avLst/>
          </a:prstGeom>
        </p:spPr>
      </p:pic>
      <p:sp>
        <p:nvSpPr>
          <p:cNvPr id="9" name="Rectangle 8">
            <a:extLst>
              <a:ext uri="{FF2B5EF4-FFF2-40B4-BE49-F238E27FC236}">
                <a16:creationId xmlns:a16="http://schemas.microsoft.com/office/drawing/2014/main" id="{233DB39F-46F2-4CC2-BC99-4850C7ED7927}"/>
              </a:ext>
            </a:extLst>
          </p:cNvPr>
          <p:cNvSpPr/>
          <p:nvPr/>
        </p:nvSpPr>
        <p:spPr>
          <a:xfrm>
            <a:off x="9120015" y="2330678"/>
            <a:ext cx="2835147" cy="923330"/>
          </a:xfrm>
          <a:prstGeom prst="rect">
            <a:avLst/>
          </a:prstGeom>
        </p:spPr>
        <p:txBody>
          <a:bodyPr wrap="square">
            <a:spAutoFit/>
          </a:bodyPr>
          <a:lstStyle/>
          <a:p>
            <a:r>
              <a:rPr lang="en-US"/>
              <a:t>Massachusetts is ranked first in public education.</a:t>
            </a:r>
          </a:p>
          <a:p>
            <a:endParaRPr lang="en-US"/>
          </a:p>
        </p:txBody>
      </p:sp>
    </p:spTree>
    <p:extLst>
      <p:ext uri="{BB962C8B-B14F-4D97-AF65-F5344CB8AC3E}">
        <p14:creationId xmlns:p14="http://schemas.microsoft.com/office/powerpoint/2010/main" val="2240503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DE80F5-CF1D-4F8F-B518-1384D55CBF7C}"/>
              </a:ext>
            </a:extLst>
          </p:cNvPr>
          <p:cNvSpPr/>
          <p:nvPr/>
        </p:nvSpPr>
        <p:spPr>
          <a:xfrm>
            <a:off x="10233221" y="1961033"/>
            <a:ext cx="1511875" cy="400110"/>
          </a:xfrm>
          <a:prstGeom prst="rect">
            <a:avLst/>
          </a:prstGeom>
        </p:spPr>
        <p:txBody>
          <a:bodyPr wrap="square">
            <a:spAutoFit/>
          </a:bodyPr>
          <a:lstStyle/>
          <a:p>
            <a:pPr algn="ctr"/>
            <a:endParaRPr lang="en-US" sz="2000" b="1">
              <a:solidFill>
                <a:schemeClr val="tx1">
                  <a:lumMod val="50000"/>
                  <a:lumOff val="50000"/>
                </a:schemeClr>
              </a:solidFill>
              <a:latin typeface="Cambria Math" panose="02040503050406030204" pitchFamily="18" charset="0"/>
              <a:ea typeface="Cambria Math" panose="02040503050406030204" pitchFamily="18" charset="0"/>
            </a:endParaRPr>
          </a:p>
        </p:txBody>
      </p:sp>
      <p:pic>
        <p:nvPicPr>
          <p:cNvPr id="3" name="Picture 5" descr="A screenshot of a cell phone&#10;&#10;Description generated with high confidence">
            <a:extLst>
              <a:ext uri="{FF2B5EF4-FFF2-40B4-BE49-F238E27FC236}">
                <a16:creationId xmlns:a16="http://schemas.microsoft.com/office/drawing/2014/main" id="{5E9B7B8F-4BE9-4FDA-81CB-EE12C06A71AB}"/>
              </a:ext>
            </a:extLst>
          </p:cNvPr>
          <p:cNvPicPr>
            <a:picLocks noChangeAspect="1"/>
          </p:cNvPicPr>
          <p:nvPr/>
        </p:nvPicPr>
        <p:blipFill>
          <a:blip r:embed="rId3"/>
          <a:stretch>
            <a:fillRect/>
          </a:stretch>
        </p:blipFill>
        <p:spPr>
          <a:xfrm>
            <a:off x="1057073" y="443740"/>
            <a:ext cx="10110280" cy="5863619"/>
          </a:xfrm>
          <a:prstGeom prst="rect">
            <a:avLst/>
          </a:prstGeom>
        </p:spPr>
      </p:pic>
      <p:sp>
        <p:nvSpPr>
          <p:cNvPr id="9" name="TextBox 8">
            <a:extLst>
              <a:ext uri="{FF2B5EF4-FFF2-40B4-BE49-F238E27FC236}">
                <a16:creationId xmlns:a16="http://schemas.microsoft.com/office/drawing/2014/main" id="{48CC373D-B51C-4128-A2E6-A2CA38662F77}"/>
              </a:ext>
            </a:extLst>
          </p:cNvPr>
          <p:cNvSpPr txBox="1"/>
          <p:nvPr/>
        </p:nvSpPr>
        <p:spPr>
          <a:xfrm>
            <a:off x="334964" y="6229594"/>
            <a:ext cx="8594784" cy="18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00"/>
              <a:t>Data Source: </a:t>
            </a:r>
            <a:r>
              <a:rPr lang="en-US" sz="600">
                <a:hlinkClick r:id="rId4"/>
              </a:rPr>
              <a:t>https://wallethub.com/edu/states-with-the-best-schools/5335/</a:t>
            </a:r>
            <a:r>
              <a:rPr lang="en-US" sz="600"/>
              <a:t> </a:t>
            </a:r>
          </a:p>
        </p:txBody>
      </p:sp>
      <p:sp>
        <p:nvSpPr>
          <p:cNvPr id="4" name="TextBox 3">
            <a:extLst>
              <a:ext uri="{FF2B5EF4-FFF2-40B4-BE49-F238E27FC236}">
                <a16:creationId xmlns:a16="http://schemas.microsoft.com/office/drawing/2014/main" id="{E6C730D3-03A6-4C83-B410-507FE95BB60E}"/>
              </a:ext>
            </a:extLst>
          </p:cNvPr>
          <p:cNvSpPr txBox="1"/>
          <p:nvPr/>
        </p:nvSpPr>
        <p:spPr>
          <a:xfrm>
            <a:off x="10194672" y="443740"/>
            <a:ext cx="1550424" cy="430887"/>
          </a:xfrm>
          <a:prstGeom prst="rect">
            <a:avLst/>
          </a:prstGeom>
          <a:noFill/>
        </p:spPr>
        <p:txBody>
          <a:bodyPr wrap="none" rtlCol="0">
            <a:spAutoFit/>
          </a:bodyPr>
          <a:lstStyle/>
          <a:p>
            <a:r>
              <a:rPr lang="en-US" sz="1100" dirty="0"/>
              <a:t>Color = Quality &amp; Safety</a:t>
            </a:r>
          </a:p>
          <a:p>
            <a:r>
              <a:rPr lang="en-US" sz="1100" dirty="0"/>
              <a:t>Size = State Ranking</a:t>
            </a:r>
          </a:p>
        </p:txBody>
      </p:sp>
    </p:spTree>
    <p:extLst>
      <p:ext uri="{BB962C8B-B14F-4D97-AF65-F5344CB8AC3E}">
        <p14:creationId xmlns:p14="http://schemas.microsoft.com/office/powerpoint/2010/main" val="2516315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B6198F-9C0A-49A9-8D4E-E192967F511E}"/>
              </a:ext>
            </a:extLst>
          </p:cNvPr>
          <p:cNvSpPr>
            <a:spLocks noGrp="1"/>
          </p:cNvSpPr>
          <p:nvPr>
            <p:ph idx="1"/>
          </p:nvPr>
        </p:nvSpPr>
        <p:spPr>
          <a:xfrm>
            <a:off x="1049005" y="2034851"/>
            <a:ext cx="8182723" cy="3329628"/>
          </a:xfrm>
        </p:spPr>
        <p:txBody>
          <a:bodyPr>
            <a:noAutofit/>
          </a:bodyPr>
          <a:lstStyle/>
          <a:p>
            <a:pPr fontAlgn="base">
              <a:spcBef>
                <a:spcPts val="0"/>
              </a:spcBef>
            </a:pPr>
            <a:r>
              <a:rPr lang="en-US" sz="1400" b="1" dirty="0"/>
              <a:t>Quality</a:t>
            </a:r>
            <a:r>
              <a:rPr lang="en-US" sz="1400" dirty="0"/>
              <a:t> – Total Points: 80 </a:t>
            </a:r>
          </a:p>
          <a:p>
            <a:pPr fontAlgn="base">
              <a:spcBef>
                <a:spcPts val="0"/>
              </a:spcBef>
            </a:pPr>
            <a:r>
              <a:rPr lang="en-US" sz="1400" dirty="0"/>
              <a:t>Presence of Public Schools in “Top 700 Best U.S. Schools”</a:t>
            </a:r>
          </a:p>
          <a:p>
            <a:pPr fontAlgn="base">
              <a:spcBef>
                <a:spcPts val="0"/>
              </a:spcBef>
            </a:pPr>
            <a:r>
              <a:rPr lang="en-US" sz="1400" dirty="0"/>
              <a:t>Blue Ribbon Schools per Capita: </a:t>
            </a:r>
          </a:p>
          <a:p>
            <a:pPr fontAlgn="base">
              <a:spcBef>
                <a:spcPts val="0"/>
              </a:spcBef>
            </a:pPr>
            <a:r>
              <a:rPr lang="en-US" sz="1400" dirty="0"/>
              <a:t>High School Graduation Rate Among Low-Income Students: </a:t>
            </a:r>
          </a:p>
          <a:p>
            <a:pPr fontAlgn="base">
              <a:spcBef>
                <a:spcPts val="0"/>
              </a:spcBef>
            </a:pPr>
            <a:r>
              <a:rPr lang="en-US" sz="1400" dirty="0"/>
              <a:t>Projected High School Graduation Rate Increase Between 2018-2019 and 2031-2032 School Years</a:t>
            </a:r>
          </a:p>
          <a:p>
            <a:pPr fontAlgn="base">
              <a:spcBef>
                <a:spcPts val="0"/>
              </a:spcBef>
            </a:pPr>
            <a:r>
              <a:rPr lang="en-US" sz="1400" dirty="0"/>
              <a:t>Dropout Rate</a:t>
            </a:r>
          </a:p>
          <a:p>
            <a:pPr fontAlgn="base">
              <a:spcBef>
                <a:spcPts val="0"/>
              </a:spcBef>
            </a:pPr>
            <a:r>
              <a:rPr lang="en-US" sz="1400" dirty="0"/>
              <a:t>Math Test Scores</a:t>
            </a:r>
          </a:p>
          <a:p>
            <a:pPr fontAlgn="base">
              <a:spcBef>
                <a:spcPts val="0"/>
              </a:spcBef>
            </a:pPr>
            <a:r>
              <a:rPr lang="en-US" sz="1400" dirty="0"/>
              <a:t>Reading Test Scores</a:t>
            </a:r>
          </a:p>
          <a:p>
            <a:pPr fontAlgn="base"/>
            <a:r>
              <a:rPr lang="en-US" sz="1400" b="1" dirty="0"/>
              <a:t>Safety</a:t>
            </a:r>
            <a:r>
              <a:rPr lang="en-US" sz="1400" dirty="0"/>
              <a:t> – Total Points: 20</a:t>
            </a:r>
          </a:p>
          <a:p>
            <a:pPr fontAlgn="base">
              <a:spcBef>
                <a:spcPts val="0"/>
              </a:spcBef>
            </a:pPr>
            <a:r>
              <a:rPr lang="en-US" sz="1400" dirty="0"/>
              <a:t>Share of Threatened/Injured High School Students</a:t>
            </a:r>
          </a:p>
          <a:p>
            <a:pPr fontAlgn="base">
              <a:spcBef>
                <a:spcPts val="0"/>
              </a:spcBef>
            </a:pPr>
            <a:r>
              <a:rPr lang="en-US" sz="1400" dirty="0"/>
              <a:t>Share of High School Students Not Attending School Due to Safety Concerns</a:t>
            </a:r>
          </a:p>
          <a:p>
            <a:pPr fontAlgn="base">
              <a:spcBef>
                <a:spcPts val="0"/>
              </a:spcBef>
            </a:pPr>
            <a:r>
              <a:rPr lang="en-US" sz="1400" dirty="0"/>
              <a:t>Share of Families Who Agree Their Children Go to Safe Schools</a:t>
            </a:r>
          </a:p>
          <a:p>
            <a:pPr fontAlgn="base">
              <a:spcBef>
                <a:spcPts val="0"/>
              </a:spcBef>
            </a:pPr>
            <a:r>
              <a:rPr lang="en-US" sz="1400" dirty="0"/>
              <a:t>Share of High School Students with Access to Illegal Drugs</a:t>
            </a:r>
            <a:br>
              <a:rPr lang="en-US" sz="1400" dirty="0"/>
            </a:br>
            <a:r>
              <a:rPr lang="en-US" sz="1400" dirty="0"/>
              <a:t>Share of High School Students Participating in Violence</a:t>
            </a:r>
          </a:p>
          <a:p>
            <a:pPr fontAlgn="base">
              <a:spcBef>
                <a:spcPts val="0"/>
              </a:spcBef>
            </a:pPr>
            <a:r>
              <a:rPr lang="en-US" sz="1400" dirty="0"/>
              <a:t>Share of Armed High School Students </a:t>
            </a:r>
          </a:p>
          <a:p>
            <a:pPr fontAlgn="base">
              <a:spcBef>
                <a:spcPts val="0"/>
              </a:spcBef>
            </a:pPr>
            <a:r>
              <a:rPr lang="en-US" sz="1400" dirty="0"/>
              <a:t>Number of School Shootings (2000-present (May 10, 2019))</a:t>
            </a:r>
          </a:p>
          <a:p>
            <a:pPr marL="0" indent="0">
              <a:buNone/>
            </a:pPr>
            <a:endParaRPr lang="en-US" sz="1400" dirty="0"/>
          </a:p>
        </p:txBody>
      </p:sp>
      <p:sp>
        <p:nvSpPr>
          <p:cNvPr id="4" name="TextBox 3">
            <a:extLst>
              <a:ext uri="{FF2B5EF4-FFF2-40B4-BE49-F238E27FC236}">
                <a16:creationId xmlns:a16="http://schemas.microsoft.com/office/drawing/2014/main" id="{D86F6A75-4357-486B-ACFE-3E3A0459B52C}"/>
              </a:ext>
            </a:extLst>
          </p:cNvPr>
          <p:cNvSpPr txBox="1"/>
          <p:nvPr/>
        </p:nvSpPr>
        <p:spPr>
          <a:xfrm>
            <a:off x="3137679" y="1179272"/>
            <a:ext cx="3038707" cy="461665"/>
          </a:xfrm>
          <a:prstGeom prst="rect">
            <a:avLst/>
          </a:prstGeom>
          <a:noFill/>
        </p:spPr>
        <p:txBody>
          <a:bodyPr wrap="square" rtlCol="0">
            <a:spAutoFit/>
          </a:bodyPr>
          <a:lstStyle/>
          <a:p>
            <a:r>
              <a:rPr lang="en-US" sz="2400" b="1" dirty="0"/>
              <a:t>Quality and Safety</a:t>
            </a:r>
          </a:p>
        </p:txBody>
      </p:sp>
    </p:spTree>
    <p:extLst>
      <p:ext uri="{BB962C8B-B14F-4D97-AF65-F5344CB8AC3E}">
        <p14:creationId xmlns:p14="http://schemas.microsoft.com/office/powerpoint/2010/main" val="2926368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241D35-5C46-45B9-9EE7-5AB17926D496}"/>
              </a:ext>
            </a:extLst>
          </p:cNvPr>
          <p:cNvSpPr/>
          <p:nvPr/>
        </p:nvSpPr>
        <p:spPr>
          <a:xfrm>
            <a:off x="2383488" y="1847505"/>
            <a:ext cx="7130946" cy="3416320"/>
          </a:xfrm>
          <a:prstGeom prst="rect">
            <a:avLst/>
          </a:prstGeom>
          <a:noFill/>
        </p:spPr>
        <p:txBody>
          <a:bodyPr wrap="square" lIns="91440" tIns="45720" rIns="91440" bIns="45720">
            <a:spAutoFit/>
          </a:bodyPr>
          <a:lstStyle/>
          <a:p>
            <a:pPr algn="ctr"/>
            <a:r>
              <a:rPr lang="en-US" sz="7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US States </a:t>
            </a:r>
          </a:p>
          <a:p>
            <a:pPr algn="ctr"/>
            <a:r>
              <a:rPr lang="en-US" sz="7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and </a:t>
            </a:r>
          </a:p>
          <a:p>
            <a:pPr algn="ctr"/>
            <a:r>
              <a:rPr lang="en-US" sz="72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Districts</a:t>
            </a:r>
            <a:endPar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extLst>
      <p:ext uri="{BB962C8B-B14F-4D97-AF65-F5344CB8AC3E}">
        <p14:creationId xmlns:p14="http://schemas.microsoft.com/office/powerpoint/2010/main" val="2347920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3A6A16-6B95-43FA-B040-18D115A2B826}"/>
              </a:ext>
            </a:extLst>
          </p:cNvPr>
          <p:cNvGraphicFramePr>
            <a:graphicFrameLocks noGrp="1"/>
          </p:cNvGraphicFramePr>
          <p:nvPr>
            <p:extLst>
              <p:ext uri="{D42A27DB-BD31-4B8C-83A1-F6EECF244321}">
                <p14:modId xmlns:p14="http://schemas.microsoft.com/office/powerpoint/2010/main" val="1849554133"/>
              </p:ext>
            </p:extLst>
          </p:nvPr>
        </p:nvGraphicFramePr>
        <p:xfrm>
          <a:off x="2031995" y="1596205"/>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98895556"/>
                    </a:ext>
                  </a:extLst>
                </a:gridCol>
                <a:gridCol w="2709333">
                  <a:extLst>
                    <a:ext uri="{9D8B030D-6E8A-4147-A177-3AD203B41FA5}">
                      <a16:colId xmlns:a16="http://schemas.microsoft.com/office/drawing/2014/main" val="4262838352"/>
                    </a:ext>
                  </a:extLst>
                </a:gridCol>
                <a:gridCol w="2709333">
                  <a:extLst>
                    <a:ext uri="{9D8B030D-6E8A-4147-A177-3AD203B41FA5}">
                      <a16:colId xmlns:a16="http://schemas.microsoft.com/office/drawing/2014/main" val="1087696891"/>
                    </a:ext>
                  </a:extLst>
                </a:gridCol>
              </a:tblGrid>
              <a:tr h="370840">
                <a:tc>
                  <a:txBody>
                    <a:bodyPr/>
                    <a:lstStyle/>
                    <a:p>
                      <a:pPr marL="0" marR="0" algn="ctr">
                        <a:lnSpc>
                          <a:spcPct val="107000"/>
                        </a:lnSpc>
                        <a:spcBef>
                          <a:spcPts val="0"/>
                        </a:spcBef>
                        <a:spcAft>
                          <a:spcPts val="0"/>
                        </a:spcAft>
                      </a:pPr>
                      <a:r>
                        <a:rPr lang="en-US" sz="2000">
                          <a:effectLst/>
                          <a:latin typeface="Calibri" panose="020F0502020204030204" pitchFamily="34" charset="0"/>
                          <a:ea typeface="Calibri" panose="020F0502020204030204" pitchFamily="34" charset="0"/>
                          <a:cs typeface="Times New Roman" panose="02020603050405020304" pitchFamily="18" charset="0"/>
                        </a:rPr>
                        <a:t>Grade 4</a:t>
                      </a:r>
                    </a:p>
                  </a:txBody>
                  <a:tcPr marL="68580" marR="68580" marT="0" marB="0"/>
                </a:tc>
                <a:tc>
                  <a:txBody>
                    <a:bodyPr/>
                    <a:lstStyle/>
                    <a:p>
                      <a:pPr marL="0" marR="0" algn="ctr">
                        <a:lnSpc>
                          <a:spcPct val="107000"/>
                        </a:lnSpc>
                        <a:spcBef>
                          <a:spcPts val="0"/>
                        </a:spcBef>
                        <a:spcAft>
                          <a:spcPts val="0"/>
                        </a:spcAft>
                      </a:pPr>
                      <a:r>
                        <a:rPr lang="en-US" sz="2000">
                          <a:effectLst/>
                          <a:latin typeface="Calibri" panose="020F0502020204030204" pitchFamily="34" charset="0"/>
                          <a:ea typeface="Calibri" panose="020F0502020204030204" pitchFamily="34" charset="0"/>
                          <a:cs typeface="Times New Roman" panose="02020603050405020304" pitchFamily="18" charset="0"/>
                        </a:rPr>
                        <a:t>Grade 8</a:t>
                      </a:r>
                    </a:p>
                  </a:txBody>
                  <a:tcPr marL="68580" marR="68580" marT="0" marB="0"/>
                </a:tc>
                <a:tc>
                  <a:txBody>
                    <a:bodyPr/>
                    <a:lstStyle/>
                    <a:p>
                      <a:pPr marL="0" marR="0" algn="ctr">
                        <a:lnSpc>
                          <a:spcPct val="107000"/>
                        </a:lnSpc>
                        <a:spcBef>
                          <a:spcPts val="0"/>
                        </a:spcBef>
                        <a:spcAft>
                          <a:spcPts val="0"/>
                        </a:spcAft>
                      </a:pPr>
                      <a:r>
                        <a:rPr lang="en-US" sz="2000">
                          <a:effectLst/>
                          <a:latin typeface="Calibri" panose="020F0502020204030204" pitchFamily="34" charset="0"/>
                          <a:ea typeface="Calibri" panose="020F0502020204030204" pitchFamily="34" charset="0"/>
                          <a:cs typeface="Times New Roman" panose="02020603050405020304" pitchFamily="18" charset="0"/>
                        </a:rPr>
                        <a:t>Grade 12</a:t>
                      </a:r>
                    </a:p>
                  </a:txBody>
                  <a:tcPr marL="68580" marR="68580" marT="0" marB="0"/>
                </a:tc>
                <a:extLst>
                  <a:ext uri="{0D108BD9-81ED-4DB2-BD59-A6C34878D82A}">
                    <a16:rowId xmlns:a16="http://schemas.microsoft.com/office/drawing/2014/main" val="3045573764"/>
                  </a:ext>
                </a:extLst>
              </a:tr>
              <a:tr h="370840">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Basic (214)</a:t>
                      </a:r>
                    </a:p>
                  </a:txBody>
                  <a:tcPr marL="68580" marR="68580" marT="0" marB="0" anchor="ctr"/>
                </a:tc>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Basic (262)</a:t>
                      </a:r>
                    </a:p>
                  </a:txBody>
                  <a:tcPr marL="68580" marR="68580" marT="0" marB="0" anchor="ctr"/>
                </a:tc>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Basic (141)</a:t>
                      </a:r>
                    </a:p>
                  </a:txBody>
                  <a:tcPr marL="68580" marR="68580" marT="0" marB="0" anchor="ctr"/>
                </a:tc>
                <a:extLst>
                  <a:ext uri="{0D108BD9-81ED-4DB2-BD59-A6C34878D82A}">
                    <a16:rowId xmlns:a16="http://schemas.microsoft.com/office/drawing/2014/main" val="2937795839"/>
                  </a:ext>
                </a:extLst>
              </a:tr>
              <a:tr h="370840">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Proficient (249)</a:t>
                      </a:r>
                    </a:p>
                  </a:txBody>
                  <a:tcPr marL="68580" marR="68580" marT="0" marB="0" anchor="ctr"/>
                </a:tc>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Proficient (299)</a:t>
                      </a:r>
                    </a:p>
                  </a:txBody>
                  <a:tcPr marL="68580" marR="68580" marT="0" marB="0" anchor="ctr"/>
                </a:tc>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Proficient (176)</a:t>
                      </a:r>
                    </a:p>
                  </a:txBody>
                  <a:tcPr marL="68580" marR="68580" marT="0" marB="0" anchor="ctr"/>
                </a:tc>
                <a:extLst>
                  <a:ext uri="{0D108BD9-81ED-4DB2-BD59-A6C34878D82A}">
                    <a16:rowId xmlns:a16="http://schemas.microsoft.com/office/drawing/2014/main" val="3424331346"/>
                  </a:ext>
                </a:extLst>
              </a:tr>
              <a:tr h="370840">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Advanced (282)</a:t>
                      </a:r>
                    </a:p>
                  </a:txBody>
                  <a:tcPr marL="68580" marR="68580" marT="0" marB="0" anchor="ctr"/>
                </a:tc>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Advanced (333)</a:t>
                      </a:r>
                    </a:p>
                  </a:txBody>
                  <a:tcPr marL="68580" marR="68580" marT="0" marB="0" anchor="ctr"/>
                </a:tc>
                <a:tc>
                  <a:txBody>
                    <a:bodyPr/>
                    <a:lstStyle/>
                    <a:p>
                      <a:pPr marL="0" marR="0" algn="ctr">
                        <a:lnSpc>
                          <a:spcPct val="107000"/>
                        </a:lnSpc>
                        <a:spcBef>
                          <a:spcPts val="0"/>
                        </a:spcBef>
                        <a:spcAft>
                          <a:spcPts val="0"/>
                        </a:spcAft>
                      </a:pPr>
                      <a:r>
                        <a:rPr lang="en-US" sz="1100">
                          <a:effectLst/>
                          <a:latin typeface="Calibri" panose="020F0502020204030204" pitchFamily="34" charset="0"/>
                          <a:ea typeface="Calibri" panose="020F0502020204030204" pitchFamily="34" charset="0"/>
                          <a:cs typeface="Times New Roman" panose="02020603050405020304" pitchFamily="18" charset="0"/>
                        </a:rPr>
                        <a:t>Advanced (216)</a:t>
                      </a:r>
                    </a:p>
                  </a:txBody>
                  <a:tcPr marL="68580" marR="68580" marT="0" marB="0" anchor="ctr"/>
                </a:tc>
                <a:extLst>
                  <a:ext uri="{0D108BD9-81ED-4DB2-BD59-A6C34878D82A}">
                    <a16:rowId xmlns:a16="http://schemas.microsoft.com/office/drawing/2014/main" val="1752764477"/>
                  </a:ext>
                </a:extLst>
              </a:tr>
            </a:tbl>
          </a:graphicData>
        </a:graphic>
      </p:graphicFrame>
      <p:sp>
        <p:nvSpPr>
          <p:cNvPr id="5" name="TextBox 4">
            <a:extLst>
              <a:ext uri="{FF2B5EF4-FFF2-40B4-BE49-F238E27FC236}">
                <a16:creationId xmlns:a16="http://schemas.microsoft.com/office/drawing/2014/main" id="{6BD10106-9949-4B83-B6EE-DF09AB89BA28}"/>
              </a:ext>
            </a:extLst>
          </p:cNvPr>
          <p:cNvSpPr txBox="1"/>
          <p:nvPr/>
        </p:nvSpPr>
        <p:spPr>
          <a:xfrm>
            <a:off x="1687581" y="527129"/>
            <a:ext cx="8816829" cy="646331"/>
          </a:xfrm>
          <a:prstGeom prst="rect">
            <a:avLst/>
          </a:prstGeom>
          <a:noFill/>
        </p:spPr>
        <p:txBody>
          <a:bodyPr wrap="square" rtlCol="0">
            <a:spAutoFit/>
          </a:bodyPr>
          <a:lstStyle/>
          <a:p>
            <a:pPr algn="ctr"/>
            <a:r>
              <a:rPr lang="en-US" sz="3600"/>
              <a:t>NAEP Math and Science Testing</a:t>
            </a:r>
          </a:p>
        </p:txBody>
      </p:sp>
      <p:graphicFrame>
        <p:nvGraphicFramePr>
          <p:cNvPr id="8" name="Table 7">
            <a:extLst>
              <a:ext uri="{FF2B5EF4-FFF2-40B4-BE49-F238E27FC236}">
                <a16:creationId xmlns:a16="http://schemas.microsoft.com/office/drawing/2014/main" id="{6C5F084E-6A48-441B-BAA8-606E9DB80D2F}"/>
              </a:ext>
            </a:extLst>
          </p:cNvPr>
          <p:cNvGraphicFramePr>
            <a:graphicFrameLocks noGrp="1"/>
          </p:cNvGraphicFramePr>
          <p:nvPr>
            <p:extLst>
              <p:ext uri="{D42A27DB-BD31-4B8C-83A1-F6EECF244321}">
                <p14:modId xmlns:p14="http://schemas.microsoft.com/office/powerpoint/2010/main" val="2848383893"/>
              </p:ext>
            </p:extLst>
          </p:nvPr>
        </p:nvGraphicFramePr>
        <p:xfrm>
          <a:off x="2031995" y="3778435"/>
          <a:ext cx="8127999" cy="1483360"/>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val="198895556"/>
                    </a:ext>
                  </a:extLst>
                </a:gridCol>
                <a:gridCol w="2709333">
                  <a:extLst>
                    <a:ext uri="{9D8B030D-6E8A-4147-A177-3AD203B41FA5}">
                      <a16:colId xmlns:a16="http://schemas.microsoft.com/office/drawing/2014/main" val="4262838352"/>
                    </a:ext>
                  </a:extLst>
                </a:gridCol>
                <a:gridCol w="2709333">
                  <a:extLst>
                    <a:ext uri="{9D8B030D-6E8A-4147-A177-3AD203B41FA5}">
                      <a16:colId xmlns:a16="http://schemas.microsoft.com/office/drawing/2014/main" val="1087696891"/>
                    </a:ext>
                  </a:extLst>
                </a:gridCol>
              </a:tblGrid>
              <a:tr h="370840">
                <a:tc>
                  <a:txBody>
                    <a:bodyPr/>
                    <a:lstStyle/>
                    <a:p>
                      <a:pPr marL="0" marR="0" algn="ctr">
                        <a:lnSpc>
                          <a:spcPct val="107000"/>
                        </a:lnSpc>
                        <a:spcBef>
                          <a:spcPts val="0"/>
                        </a:spcBef>
                        <a:spcAft>
                          <a:spcPts val="0"/>
                        </a:spcAft>
                      </a:pPr>
                      <a:r>
                        <a:rPr lang="en-US" sz="2000">
                          <a:effectLst/>
                        </a:rPr>
                        <a:t>Grade 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Grade 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2000">
                          <a:effectLst/>
                        </a:rPr>
                        <a:t>Grade 12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5573764"/>
                  </a:ext>
                </a:extLst>
              </a:tr>
              <a:tr h="370840">
                <a:tc>
                  <a:txBody>
                    <a:bodyPr/>
                    <a:lstStyle/>
                    <a:p>
                      <a:pPr marL="0" marR="0" algn="ctr">
                        <a:lnSpc>
                          <a:spcPct val="107000"/>
                        </a:lnSpc>
                        <a:spcBef>
                          <a:spcPts val="0"/>
                        </a:spcBef>
                        <a:spcAft>
                          <a:spcPts val="0"/>
                        </a:spcAft>
                      </a:pPr>
                      <a:r>
                        <a:rPr lang="en-US" sz="1100">
                          <a:effectLst/>
                        </a:rPr>
                        <a:t>Basic (131)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rPr>
                        <a:t>Basic (141)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rPr>
                        <a:t>Basic (142)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7795839"/>
                  </a:ext>
                </a:extLst>
              </a:tr>
              <a:tr h="370840">
                <a:tc>
                  <a:txBody>
                    <a:bodyPr/>
                    <a:lstStyle/>
                    <a:p>
                      <a:pPr marL="0" marR="0" algn="ctr">
                        <a:lnSpc>
                          <a:spcPct val="107000"/>
                        </a:lnSpc>
                        <a:spcBef>
                          <a:spcPts val="0"/>
                        </a:spcBef>
                        <a:spcAft>
                          <a:spcPts val="0"/>
                        </a:spcAft>
                      </a:pPr>
                      <a:r>
                        <a:rPr lang="en-US" sz="1100">
                          <a:effectLst/>
                        </a:rPr>
                        <a:t>Proficient (167)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rPr>
                        <a:t>Proficient (170)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rPr>
                        <a:t>Proficient (179)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24331346"/>
                  </a:ext>
                </a:extLst>
              </a:tr>
              <a:tr h="370840">
                <a:tc>
                  <a:txBody>
                    <a:bodyPr/>
                    <a:lstStyle/>
                    <a:p>
                      <a:pPr marL="0" marR="0" algn="ctr">
                        <a:lnSpc>
                          <a:spcPct val="107000"/>
                        </a:lnSpc>
                        <a:spcBef>
                          <a:spcPts val="0"/>
                        </a:spcBef>
                        <a:spcAft>
                          <a:spcPts val="0"/>
                        </a:spcAft>
                      </a:pPr>
                      <a:r>
                        <a:rPr lang="en-US" sz="1100">
                          <a:effectLst/>
                        </a:rPr>
                        <a:t>Advanced (224)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rPr>
                        <a:t>Advanced (215)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100">
                          <a:effectLst/>
                        </a:rPr>
                        <a:t>Advanced (222)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52764477"/>
                  </a:ext>
                </a:extLst>
              </a:tr>
            </a:tbl>
          </a:graphicData>
        </a:graphic>
      </p:graphicFrame>
      <p:sp>
        <p:nvSpPr>
          <p:cNvPr id="2" name="TextBox 1">
            <a:extLst>
              <a:ext uri="{FF2B5EF4-FFF2-40B4-BE49-F238E27FC236}">
                <a16:creationId xmlns:a16="http://schemas.microsoft.com/office/drawing/2014/main" id="{85ECB6FD-CE82-48E5-8A4C-2629C05D7DBA}"/>
              </a:ext>
            </a:extLst>
          </p:cNvPr>
          <p:cNvSpPr txBox="1"/>
          <p:nvPr/>
        </p:nvSpPr>
        <p:spPr>
          <a:xfrm>
            <a:off x="1129590" y="2107052"/>
            <a:ext cx="856645" cy="461665"/>
          </a:xfrm>
          <a:prstGeom prst="rect">
            <a:avLst/>
          </a:prstGeom>
          <a:noFill/>
        </p:spPr>
        <p:txBody>
          <a:bodyPr wrap="none" rtlCol="0">
            <a:spAutoFit/>
          </a:bodyPr>
          <a:lstStyle/>
          <a:p>
            <a:r>
              <a:rPr lang="en-US" sz="2400"/>
              <a:t>Math</a:t>
            </a:r>
          </a:p>
        </p:txBody>
      </p:sp>
      <p:sp>
        <p:nvSpPr>
          <p:cNvPr id="9" name="TextBox 8">
            <a:extLst>
              <a:ext uri="{FF2B5EF4-FFF2-40B4-BE49-F238E27FC236}">
                <a16:creationId xmlns:a16="http://schemas.microsoft.com/office/drawing/2014/main" id="{2F1611F9-6C2B-463D-B405-2FA94762E58A}"/>
              </a:ext>
            </a:extLst>
          </p:cNvPr>
          <p:cNvSpPr txBox="1"/>
          <p:nvPr/>
        </p:nvSpPr>
        <p:spPr>
          <a:xfrm>
            <a:off x="860606" y="4289282"/>
            <a:ext cx="1125629" cy="461665"/>
          </a:xfrm>
          <a:prstGeom prst="rect">
            <a:avLst/>
          </a:prstGeom>
          <a:noFill/>
        </p:spPr>
        <p:txBody>
          <a:bodyPr wrap="none" rtlCol="0">
            <a:spAutoFit/>
          </a:bodyPr>
          <a:lstStyle/>
          <a:p>
            <a:r>
              <a:rPr lang="en-US" sz="2400"/>
              <a:t>Science</a:t>
            </a:r>
          </a:p>
        </p:txBody>
      </p:sp>
      <p:sp>
        <p:nvSpPr>
          <p:cNvPr id="10" name="TextBox 9">
            <a:extLst>
              <a:ext uri="{FF2B5EF4-FFF2-40B4-BE49-F238E27FC236}">
                <a16:creationId xmlns:a16="http://schemas.microsoft.com/office/drawing/2014/main" id="{2971559B-A228-4D60-AF75-666F1045B168}"/>
              </a:ext>
            </a:extLst>
          </p:cNvPr>
          <p:cNvSpPr txBox="1"/>
          <p:nvPr/>
        </p:nvSpPr>
        <p:spPr>
          <a:xfrm>
            <a:off x="438629" y="5821274"/>
            <a:ext cx="2555508" cy="646331"/>
          </a:xfrm>
          <a:prstGeom prst="rect">
            <a:avLst/>
          </a:prstGeom>
          <a:noFill/>
        </p:spPr>
        <p:txBody>
          <a:bodyPr wrap="none" rtlCol="0">
            <a:spAutoFit/>
          </a:bodyPr>
          <a:lstStyle/>
          <a:p>
            <a:r>
              <a:rPr lang="en-US" sz="600"/>
              <a:t>National Science Foundation:</a:t>
            </a:r>
          </a:p>
          <a:p>
            <a:r>
              <a:rPr lang="en-US" sz="600" u="sng">
                <a:hlinkClick r:id="rId3"/>
              </a:rPr>
              <a:t>https://www.nsf.gov/statistics/state-indicators</a:t>
            </a:r>
            <a:endParaRPr lang="en-US" sz="600"/>
          </a:p>
          <a:p>
            <a:endParaRPr lang="en-US" sz="600"/>
          </a:p>
          <a:p>
            <a:r>
              <a:rPr lang="en-US" sz="600"/>
              <a:t>National Assessment of Educational Progress:</a:t>
            </a:r>
          </a:p>
          <a:p>
            <a:r>
              <a:rPr lang="en-US" sz="600">
                <a:hlinkClick r:id="rId4"/>
              </a:rPr>
              <a:t>https://nces.ed.gov/nationsreportcard/mathematics/achieve.aspx#grade12</a:t>
            </a:r>
            <a:endParaRPr lang="en-US" sz="600"/>
          </a:p>
          <a:p>
            <a:r>
              <a:rPr lang="en-US" sz="600">
                <a:hlinkClick r:id="rId5"/>
              </a:rPr>
              <a:t>https://www.nationsreportcard.gov/ndecore/xplore/NDE</a:t>
            </a:r>
            <a:endParaRPr lang="en-US" sz="600"/>
          </a:p>
        </p:txBody>
      </p:sp>
    </p:spTree>
    <p:extLst>
      <p:ext uri="{BB962C8B-B14F-4D97-AF65-F5344CB8AC3E}">
        <p14:creationId xmlns:p14="http://schemas.microsoft.com/office/powerpoint/2010/main" val="2076160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screenshot&#10;&#10;Description automatically generated">
            <a:extLst>
              <a:ext uri="{FF2B5EF4-FFF2-40B4-BE49-F238E27FC236}">
                <a16:creationId xmlns:a16="http://schemas.microsoft.com/office/drawing/2014/main" id="{DD38104B-9F27-429E-B33A-5E7D03F7C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4315" y="643467"/>
            <a:ext cx="8103369" cy="5571066"/>
          </a:xfrm>
          <a:prstGeom prst="rect">
            <a:avLst/>
          </a:prstGeom>
        </p:spPr>
      </p:pic>
      <p:sp>
        <p:nvSpPr>
          <p:cNvPr id="6" name="TextBox 5">
            <a:extLst>
              <a:ext uri="{FF2B5EF4-FFF2-40B4-BE49-F238E27FC236}">
                <a16:creationId xmlns:a16="http://schemas.microsoft.com/office/drawing/2014/main" id="{0CDB8D49-3FCE-4B8B-A020-561D0D9AA4A3}"/>
              </a:ext>
            </a:extLst>
          </p:cNvPr>
          <p:cNvSpPr txBox="1"/>
          <p:nvPr/>
        </p:nvSpPr>
        <p:spPr>
          <a:xfrm>
            <a:off x="438629" y="5821274"/>
            <a:ext cx="2555508" cy="646331"/>
          </a:xfrm>
          <a:prstGeom prst="rect">
            <a:avLst/>
          </a:prstGeom>
          <a:noFill/>
        </p:spPr>
        <p:txBody>
          <a:bodyPr wrap="none" rtlCol="0">
            <a:spAutoFit/>
          </a:bodyPr>
          <a:lstStyle/>
          <a:p>
            <a:r>
              <a:rPr lang="en-US" sz="600"/>
              <a:t>National Science Foundation:</a:t>
            </a:r>
          </a:p>
          <a:p>
            <a:r>
              <a:rPr lang="en-US" sz="600" u="sng">
                <a:hlinkClick r:id="rId4"/>
              </a:rPr>
              <a:t>https://www.nsf.gov/statistics/state-indicators</a:t>
            </a:r>
            <a:endParaRPr lang="en-US" sz="600"/>
          </a:p>
          <a:p>
            <a:endParaRPr lang="en-US" sz="600"/>
          </a:p>
          <a:p>
            <a:r>
              <a:rPr lang="en-US" sz="600"/>
              <a:t>National Assessment of Educational Progress:</a:t>
            </a:r>
          </a:p>
          <a:p>
            <a:r>
              <a:rPr lang="en-US" sz="600">
                <a:hlinkClick r:id="rId5"/>
              </a:rPr>
              <a:t>https://nces.ed.gov/nationsreportcard/mathematics/achieve.aspx#grade12</a:t>
            </a:r>
            <a:endParaRPr lang="en-US" sz="600"/>
          </a:p>
          <a:p>
            <a:r>
              <a:rPr lang="en-US" sz="600">
                <a:hlinkClick r:id="rId6"/>
              </a:rPr>
              <a:t>https://www.nationsreportcard.gov/ndecore/xplore/NDE</a:t>
            </a:r>
            <a:endParaRPr lang="en-US" sz="600"/>
          </a:p>
        </p:txBody>
      </p:sp>
    </p:spTree>
    <p:extLst>
      <p:ext uri="{BB962C8B-B14F-4D97-AF65-F5344CB8AC3E}">
        <p14:creationId xmlns:p14="http://schemas.microsoft.com/office/powerpoint/2010/main" val="1915099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ell phone&#10;&#10;Description automatically generated">
            <a:extLst>
              <a:ext uri="{FF2B5EF4-FFF2-40B4-BE49-F238E27FC236}">
                <a16:creationId xmlns:a16="http://schemas.microsoft.com/office/drawing/2014/main" id="{71463FBC-B7F4-4613-A6EE-CCB9E62373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764" y="1188013"/>
            <a:ext cx="4457666" cy="4477623"/>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A2F17992-305E-4C0D-84C3-4D6940E762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4571" y="1188013"/>
            <a:ext cx="4377317" cy="4460461"/>
          </a:xfrm>
          <a:prstGeom prst="rect">
            <a:avLst/>
          </a:prstGeom>
        </p:spPr>
      </p:pic>
      <p:cxnSp>
        <p:nvCxnSpPr>
          <p:cNvPr id="10" name="Straight Connector 9">
            <a:extLst>
              <a:ext uri="{FF2B5EF4-FFF2-40B4-BE49-F238E27FC236}">
                <a16:creationId xmlns:a16="http://schemas.microsoft.com/office/drawing/2014/main" id="{0DE82C84-934C-402B-9903-4CF214CC6535}"/>
              </a:ext>
            </a:extLst>
          </p:cNvPr>
          <p:cNvCxnSpPr/>
          <p:nvPr/>
        </p:nvCxnSpPr>
        <p:spPr>
          <a:xfrm>
            <a:off x="6096000" y="736847"/>
            <a:ext cx="0" cy="52111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4649582-72B9-46B2-9A14-D61331846DBA}"/>
              </a:ext>
            </a:extLst>
          </p:cNvPr>
          <p:cNvSpPr txBox="1"/>
          <p:nvPr/>
        </p:nvSpPr>
        <p:spPr>
          <a:xfrm>
            <a:off x="438629" y="5821274"/>
            <a:ext cx="2555508" cy="646331"/>
          </a:xfrm>
          <a:prstGeom prst="rect">
            <a:avLst/>
          </a:prstGeom>
          <a:noFill/>
        </p:spPr>
        <p:txBody>
          <a:bodyPr wrap="none" rtlCol="0">
            <a:spAutoFit/>
          </a:bodyPr>
          <a:lstStyle/>
          <a:p>
            <a:r>
              <a:rPr lang="en-US" sz="600"/>
              <a:t>National Science Foundation:</a:t>
            </a:r>
          </a:p>
          <a:p>
            <a:r>
              <a:rPr lang="en-US" sz="600" u="sng">
                <a:hlinkClick r:id="rId5"/>
              </a:rPr>
              <a:t>https://www.nsf.gov/statistics/state-indicators</a:t>
            </a:r>
            <a:endParaRPr lang="en-US" sz="600"/>
          </a:p>
          <a:p>
            <a:endParaRPr lang="en-US" sz="600"/>
          </a:p>
          <a:p>
            <a:r>
              <a:rPr lang="en-US" sz="600"/>
              <a:t>National Assessment of Educational Progress:</a:t>
            </a:r>
          </a:p>
          <a:p>
            <a:r>
              <a:rPr lang="en-US" sz="600">
                <a:hlinkClick r:id="rId6"/>
              </a:rPr>
              <a:t>https://nces.ed.gov/nationsreportcard/mathematics/achieve.aspx#grade12</a:t>
            </a:r>
            <a:endParaRPr lang="en-US" sz="600"/>
          </a:p>
          <a:p>
            <a:r>
              <a:rPr lang="en-US" sz="600">
                <a:hlinkClick r:id="rId7"/>
              </a:rPr>
              <a:t>https://www.nationsreportcard.gov/ndecore/xplore/NDE</a:t>
            </a:r>
            <a:endParaRPr lang="en-US" sz="600"/>
          </a:p>
        </p:txBody>
      </p:sp>
    </p:spTree>
    <p:extLst>
      <p:ext uri="{BB962C8B-B14F-4D97-AF65-F5344CB8AC3E}">
        <p14:creationId xmlns:p14="http://schemas.microsoft.com/office/powerpoint/2010/main" val="3094740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D7AE6B-53C5-4223-8AB2-594EE4D14447}"/>
              </a:ext>
            </a:extLst>
          </p:cNvPr>
          <p:cNvSpPr txBox="1"/>
          <p:nvPr/>
        </p:nvSpPr>
        <p:spPr>
          <a:xfrm>
            <a:off x="1687585" y="360517"/>
            <a:ext cx="8816829" cy="646331"/>
          </a:xfrm>
          <a:prstGeom prst="rect">
            <a:avLst/>
          </a:prstGeom>
          <a:noFill/>
        </p:spPr>
        <p:txBody>
          <a:bodyPr wrap="square" rtlCol="0">
            <a:spAutoFit/>
          </a:bodyPr>
          <a:lstStyle/>
          <a:p>
            <a:pPr algn="ctr"/>
            <a:r>
              <a:rPr lang="en-US" sz="3600"/>
              <a:t>Selecting States to Examine</a:t>
            </a:r>
          </a:p>
        </p:txBody>
      </p:sp>
      <p:sp>
        <p:nvSpPr>
          <p:cNvPr id="7" name="TextBox 6">
            <a:extLst>
              <a:ext uri="{FF2B5EF4-FFF2-40B4-BE49-F238E27FC236}">
                <a16:creationId xmlns:a16="http://schemas.microsoft.com/office/drawing/2014/main" id="{586815D1-EDC2-46FB-849D-6F841251B8DD}"/>
              </a:ext>
            </a:extLst>
          </p:cNvPr>
          <p:cNvSpPr txBox="1"/>
          <p:nvPr/>
        </p:nvSpPr>
        <p:spPr>
          <a:xfrm>
            <a:off x="721583" y="1859339"/>
            <a:ext cx="4018327" cy="3139321"/>
          </a:xfrm>
          <a:prstGeom prst="rect">
            <a:avLst/>
          </a:prstGeom>
          <a:noFill/>
        </p:spPr>
        <p:txBody>
          <a:bodyPr wrap="square" rtlCol="0">
            <a:spAutoFit/>
          </a:bodyPr>
          <a:lstStyle/>
          <a:p>
            <a:endParaRPr lang="en-US"/>
          </a:p>
          <a:p>
            <a:r>
              <a:rPr lang="en-US"/>
              <a:t>Top States:</a:t>
            </a:r>
          </a:p>
          <a:p>
            <a:r>
              <a:rPr lang="en-US"/>
              <a:t>	</a:t>
            </a:r>
            <a:r>
              <a:rPr lang="en-US" u="sng"/>
              <a:t>Massachusetts</a:t>
            </a:r>
          </a:p>
          <a:p>
            <a:r>
              <a:rPr lang="en-US"/>
              <a:t>	</a:t>
            </a:r>
            <a:r>
              <a:rPr lang="en-US" u="sng"/>
              <a:t>New Jersey</a:t>
            </a:r>
          </a:p>
          <a:p>
            <a:endParaRPr lang="en-US"/>
          </a:p>
          <a:p>
            <a:r>
              <a:rPr lang="en-US"/>
              <a:t>Bottom States:</a:t>
            </a:r>
          </a:p>
          <a:p>
            <a:r>
              <a:rPr lang="en-US"/>
              <a:t>	</a:t>
            </a:r>
            <a:r>
              <a:rPr lang="en-US" u="sng"/>
              <a:t>Louisiana</a:t>
            </a:r>
          </a:p>
          <a:p>
            <a:r>
              <a:rPr lang="en-US"/>
              <a:t>	</a:t>
            </a:r>
            <a:r>
              <a:rPr lang="en-US" u="sng"/>
              <a:t>New Mexico</a:t>
            </a:r>
          </a:p>
          <a:p>
            <a:endParaRPr lang="en-US"/>
          </a:p>
          <a:p>
            <a:r>
              <a:rPr lang="en-US"/>
              <a:t>Also Selected:</a:t>
            </a:r>
          </a:p>
          <a:p>
            <a:r>
              <a:rPr lang="en-US"/>
              <a:t>	</a:t>
            </a:r>
            <a:r>
              <a:rPr lang="en-US" u="sng"/>
              <a:t>New Hampshire</a:t>
            </a:r>
          </a:p>
        </p:txBody>
      </p:sp>
      <p:pic>
        <p:nvPicPr>
          <p:cNvPr id="11" name="Picture 10" descr="A close up of a map&#10;&#10;Description automatically generated">
            <a:extLst>
              <a:ext uri="{FF2B5EF4-FFF2-40B4-BE49-F238E27FC236}">
                <a16:creationId xmlns:a16="http://schemas.microsoft.com/office/drawing/2014/main" id="{A5C690D6-B850-4F37-A869-07BF63663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0070" y="1152443"/>
            <a:ext cx="6250347" cy="5000278"/>
          </a:xfrm>
          <a:prstGeom prst="rect">
            <a:avLst/>
          </a:prstGeom>
        </p:spPr>
      </p:pic>
    </p:spTree>
    <p:extLst>
      <p:ext uri="{BB962C8B-B14F-4D97-AF65-F5344CB8AC3E}">
        <p14:creationId xmlns:p14="http://schemas.microsoft.com/office/powerpoint/2010/main" val="2584308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D7AE6B-53C5-4223-8AB2-594EE4D14447}"/>
              </a:ext>
            </a:extLst>
          </p:cNvPr>
          <p:cNvSpPr txBox="1"/>
          <p:nvPr/>
        </p:nvSpPr>
        <p:spPr>
          <a:xfrm>
            <a:off x="1687585" y="360517"/>
            <a:ext cx="8816829" cy="646331"/>
          </a:xfrm>
          <a:prstGeom prst="rect">
            <a:avLst/>
          </a:prstGeom>
          <a:noFill/>
        </p:spPr>
        <p:txBody>
          <a:bodyPr wrap="square" rtlCol="0">
            <a:spAutoFit/>
          </a:bodyPr>
          <a:lstStyle/>
          <a:p>
            <a:pPr algn="ctr"/>
            <a:r>
              <a:rPr lang="en-US" sz="3600"/>
              <a:t>Selecting States to Examine</a:t>
            </a:r>
          </a:p>
        </p:txBody>
      </p:sp>
      <p:sp>
        <p:nvSpPr>
          <p:cNvPr id="7" name="TextBox 6">
            <a:extLst>
              <a:ext uri="{FF2B5EF4-FFF2-40B4-BE49-F238E27FC236}">
                <a16:creationId xmlns:a16="http://schemas.microsoft.com/office/drawing/2014/main" id="{586815D1-EDC2-46FB-849D-6F841251B8DD}"/>
              </a:ext>
            </a:extLst>
          </p:cNvPr>
          <p:cNvSpPr txBox="1"/>
          <p:nvPr/>
        </p:nvSpPr>
        <p:spPr>
          <a:xfrm>
            <a:off x="721583" y="1859339"/>
            <a:ext cx="4018327" cy="3139321"/>
          </a:xfrm>
          <a:prstGeom prst="rect">
            <a:avLst/>
          </a:prstGeom>
          <a:noFill/>
        </p:spPr>
        <p:txBody>
          <a:bodyPr wrap="square" rtlCol="0">
            <a:spAutoFit/>
          </a:bodyPr>
          <a:lstStyle/>
          <a:p>
            <a:endParaRPr lang="en-US"/>
          </a:p>
          <a:p>
            <a:r>
              <a:rPr lang="en-US"/>
              <a:t>Top States:</a:t>
            </a:r>
          </a:p>
          <a:p>
            <a:r>
              <a:rPr lang="en-US"/>
              <a:t>	</a:t>
            </a:r>
            <a:r>
              <a:rPr lang="en-US" u="sng"/>
              <a:t>Massachusetts</a:t>
            </a:r>
          </a:p>
          <a:p>
            <a:r>
              <a:rPr lang="en-US"/>
              <a:t>	</a:t>
            </a:r>
            <a:r>
              <a:rPr lang="en-US" u="sng"/>
              <a:t>New Jersey</a:t>
            </a:r>
          </a:p>
          <a:p>
            <a:endParaRPr lang="en-US"/>
          </a:p>
          <a:p>
            <a:r>
              <a:rPr lang="en-US"/>
              <a:t>Bottom States:</a:t>
            </a:r>
          </a:p>
          <a:p>
            <a:r>
              <a:rPr lang="en-US"/>
              <a:t>	</a:t>
            </a:r>
            <a:r>
              <a:rPr lang="en-US" u="sng"/>
              <a:t>Louisiana</a:t>
            </a:r>
          </a:p>
          <a:p>
            <a:r>
              <a:rPr lang="en-US"/>
              <a:t>	</a:t>
            </a:r>
            <a:r>
              <a:rPr lang="en-US" u="sng"/>
              <a:t>New Mexico</a:t>
            </a:r>
          </a:p>
          <a:p>
            <a:endParaRPr lang="en-US"/>
          </a:p>
          <a:p>
            <a:r>
              <a:rPr lang="en-US"/>
              <a:t>Also Selected:</a:t>
            </a:r>
          </a:p>
          <a:p>
            <a:r>
              <a:rPr lang="en-US"/>
              <a:t>	</a:t>
            </a:r>
            <a:r>
              <a:rPr lang="en-US" u="sng"/>
              <a:t>New Hampshire</a:t>
            </a:r>
          </a:p>
        </p:txBody>
      </p:sp>
      <p:pic>
        <p:nvPicPr>
          <p:cNvPr id="11" name="Picture 10" descr="A close up of a map&#10;&#10;Description automatically generated">
            <a:extLst>
              <a:ext uri="{FF2B5EF4-FFF2-40B4-BE49-F238E27FC236}">
                <a16:creationId xmlns:a16="http://schemas.microsoft.com/office/drawing/2014/main" id="{A5C690D6-B850-4F37-A869-07BF63663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0070" y="1152443"/>
            <a:ext cx="6250347" cy="5000278"/>
          </a:xfrm>
          <a:prstGeom prst="rect">
            <a:avLst/>
          </a:prstGeom>
        </p:spPr>
      </p:pic>
    </p:spTree>
    <p:extLst>
      <p:ext uri="{BB962C8B-B14F-4D97-AF65-F5344CB8AC3E}">
        <p14:creationId xmlns:p14="http://schemas.microsoft.com/office/powerpoint/2010/main" val="2458620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 up of a map&#10;&#10;Description automatically generated">
            <a:extLst>
              <a:ext uri="{FF2B5EF4-FFF2-40B4-BE49-F238E27FC236}">
                <a16:creationId xmlns:a16="http://schemas.microsoft.com/office/drawing/2014/main" id="{14301D92-D59E-4DB2-BBD7-6F864AE1FA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93" y="1327140"/>
            <a:ext cx="5254649" cy="4203719"/>
          </a:xfrm>
          <a:prstGeom prst="rect">
            <a:avLst/>
          </a:prstGeom>
        </p:spPr>
      </p:pic>
      <p:pic>
        <p:nvPicPr>
          <p:cNvPr id="7" name="Picture 6" descr="A close up of a map&#10;&#10;Description automatically generated">
            <a:extLst>
              <a:ext uri="{FF2B5EF4-FFF2-40B4-BE49-F238E27FC236}">
                <a16:creationId xmlns:a16="http://schemas.microsoft.com/office/drawing/2014/main" id="{0047177A-75E8-44E3-AC64-7C9E83E796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3760" y="1327140"/>
            <a:ext cx="5254649" cy="4203720"/>
          </a:xfrm>
          <a:prstGeom prst="rect">
            <a:avLst/>
          </a:prstGeom>
        </p:spPr>
      </p:pic>
      <p:sp>
        <p:nvSpPr>
          <p:cNvPr id="6" name="TextBox 5">
            <a:extLst>
              <a:ext uri="{FF2B5EF4-FFF2-40B4-BE49-F238E27FC236}">
                <a16:creationId xmlns:a16="http://schemas.microsoft.com/office/drawing/2014/main" id="{AEF3AB77-3C37-46AD-9E74-22032A907E2A}"/>
              </a:ext>
            </a:extLst>
          </p:cNvPr>
          <p:cNvSpPr txBox="1"/>
          <p:nvPr/>
        </p:nvSpPr>
        <p:spPr>
          <a:xfrm>
            <a:off x="430219" y="6195836"/>
            <a:ext cx="1659429" cy="276999"/>
          </a:xfrm>
          <a:prstGeom prst="rect">
            <a:avLst/>
          </a:prstGeom>
          <a:noFill/>
        </p:spPr>
        <p:txBody>
          <a:bodyPr wrap="none" rtlCol="0">
            <a:spAutoFit/>
          </a:bodyPr>
          <a:lstStyle/>
          <a:p>
            <a:r>
              <a:rPr lang="en-US" sz="600"/>
              <a:t>National Science Foundation:</a:t>
            </a:r>
          </a:p>
          <a:p>
            <a:r>
              <a:rPr lang="en-US" sz="600" u="sng">
                <a:hlinkClick r:id="rId5"/>
              </a:rPr>
              <a:t>https://www.nsf.gov/statistics/state-indicators</a:t>
            </a:r>
            <a:endParaRPr lang="en-US" sz="600"/>
          </a:p>
        </p:txBody>
      </p:sp>
    </p:spTree>
    <p:extLst>
      <p:ext uri="{BB962C8B-B14F-4D97-AF65-F5344CB8AC3E}">
        <p14:creationId xmlns:p14="http://schemas.microsoft.com/office/powerpoint/2010/main" val="1357615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18065D9-2242-4FB6-B0A5-7E21AA6959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650" y="1460894"/>
            <a:ext cx="5715777" cy="3936212"/>
          </a:xfrm>
          <a:prstGeom prst="rect">
            <a:avLst/>
          </a:prstGeom>
        </p:spPr>
      </p:pic>
      <p:cxnSp>
        <p:nvCxnSpPr>
          <p:cNvPr id="16" name="Straight Connector 15">
            <a:extLst>
              <a:ext uri="{FF2B5EF4-FFF2-40B4-BE49-F238E27FC236}">
                <a16:creationId xmlns:a16="http://schemas.microsoft.com/office/drawing/2014/main" id="{A7BB55F2-7C92-4E7E-800A-006CD5CFF439}"/>
              </a:ext>
            </a:extLst>
          </p:cNvPr>
          <p:cNvCxnSpPr/>
          <p:nvPr/>
        </p:nvCxnSpPr>
        <p:spPr>
          <a:xfrm>
            <a:off x="6057530" y="823404"/>
            <a:ext cx="0" cy="5211192"/>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97E4537-72FD-4C8D-AE89-56D2131FFCF5}"/>
              </a:ext>
            </a:extLst>
          </p:cNvPr>
          <p:cNvSpPr txBox="1"/>
          <p:nvPr/>
        </p:nvSpPr>
        <p:spPr>
          <a:xfrm>
            <a:off x="432392" y="5549963"/>
            <a:ext cx="1954381" cy="1077218"/>
          </a:xfrm>
          <a:prstGeom prst="rect">
            <a:avLst/>
          </a:prstGeom>
          <a:noFill/>
        </p:spPr>
        <p:txBody>
          <a:bodyPr wrap="none" rtlCol="0">
            <a:spAutoFit/>
          </a:bodyPr>
          <a:lstStyle/>
          <a:p>
            <a:r>
              <a:rPr lang="en-US" sz="600"/>
              <a:t>U.S. Department of Education:</a:t>
            </a:r>
          </a:p>
          <a:p>
            <a:r>
              <a:rPr lang="en-US" sz="600" u="sng">
                <a:hlinkClick r:id="rId4"/>
              </a:rPr>
              <a:t>https://www2.ed.gov/about/inits/ed/edfacts/data-files/</a:t>
            </a:r>
          </a:p>
          <a:p>
            <a:r>
              <a:rPr lang="en-US" sz="600" u="sng" err="1">
                <a:hlinkClick r:id="rId4"/>
              </a:rPr>
              <a:t>index.html#acgr</a:t>
            </a:r>
            <a:endParaRPr lang="en-US" sz="600" u="sng"/>
          </a:p>
          <a:p>
            <a:endParaRPr lang="en-US" sz="600"/>
          </a:p>
          <a:p>
            <a:r>
              <a:rPr lang="en-US" sz="600"/>
              <a:t>NCES -&gt; Elementary/Secondary Information System</a:t>
            </a:r>
          </a:p>
          <a:p>
            <a:r>
              <a:rPr lang="en-US" sz="600">
                <a:hlinkClick r:id="rId5"/>
              </a:rPr>
              <a:t>https://nces.ed.gov/ccd/elsi/</a:t>
            </a:r>
          </a:p>
          <a:p>
            <a:endParaRPr lang="en-US" sz="600"/>
          </a:p>
          <a:p>
            <a:r>
              <a:rPr lang="en-US" sz="600"/>
              <a:t>U.S. Department of Education:</a:t>
            </a:r>
          </a:p>
          <a:p>
            <a:r>
              <a:rPr lang="en-US" sz="600">
                <a:hlinkClick r:id="rId6"/>
              </a:rPr>
              <a:t>https://ocrdata.ed.gov/flex/Reports.aspx?type=district</a:t>
            </a:r>
            <a:endParaRPr lang="en-US" sz="600"/>
          </a:p>
          <a:p>
            <a:endParaRPr lang="en-US" sz="1000"/>
          </a:p>
        </p:txBody>
      </p:sp>
      <p:pic>
        <p:nvPicPr>
          <p:cNvPr id="3" name="Picture 2" descr="A picture containing screenshot&#10;&#10;Description automatically generated">
            <a:extLst>
              <a:ext uri="{FF2B5EF4-FFF2-40B4-BE49-F238E27FC236}">
                <a16:creationId xmlns:a16="http://schemas.microsoft.com/office/drawing/2014/main" id="{4B6498DB-2194-4606-8201-E061B39958C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9573" y="1460894"/>
            <a:ext cx="5715776" cy="3936212"/>
          </a:xfrm>
          <a:prstGeom prst="rect">
            <a:avLst/>
          </a:prstGeom>
        </p:spPr>
      </p:pic>
    </p:spTree>
    <p:extLst>
      <p:ext uri="{BB962C8B-B14F-4D97-AF65-F5344CB8AC3E}">
        <p14:creationId xmlns:p14="http://schemas.microsoft.com/office/powerpoint/2010/main" val="4244637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CC0B51-5254-4C55-97A1-6E750E750D40}"/>
              </a:ext>
            </a:extLst>
          </p:cNvPr>
          <p:cNvSpPr txBox="1"/>
          <p:nvPr/>
        </p:nvSpPr>
        <p:spPr>
          <a:xfrm>
            <a:off x="1687583" y="813732"/>
            <a:ext cx="8816829" cy="646331"/>
          </a:xfrm>
          <a:prstGeom prst="rect">
            <a:avLst/>
          </a:prstGeom>
          <a:noFill/>
        </p:spPr>
        <p:txBody>
          <a:bodyPr wrap="square" rtlCol="0">
            <a:spAutoFit/>
          </a:bodyPr>
          <a:lstStyle/>
          <a:p>
            <a:pPr algn="ctr"/>
            <a:r>
              <a:rPr lang="en-US" sz="3600"/>
              <a:t>Why Bin the Rankings?</a:t>
            </a:r>
          </a:p>
        </p:txBody>
      </p:sp>
      <p:graphicFrame>
        <p:nvGraphicFramePr>
          <p:cNvPr id="6" name="Table 5">
            <a:extLst>
              <a:ext uri="{FF2B5EF4-FFF2-40B4-BE49-F238E27FC236}">
                <a16:creationId xmlns:a16="http://schemas.microsoft.com/office/drawing/2014/main" id="{367EC56E-3741-4EB0-A01F-384A65D6935F}"/>
              </a:ext>
            </a:extLst>
          </p:cNvPr>
          <p:cNvGraphicFramePr>
            <a:graphicFrameLocks noGrp="1"/>
          </p:cNvGraphicFramePr>
          <p:nvPr>
            <p:extLst>
              <p:ext uri="{D42A27DB-BD31-4B8C-83A1-F6EECF244321}">
                <p14:modId xmlns:p14="http://schemas.microsoft.com/office/powerpoint/2010/main" val="4016599424"/>
              </p:ext>
            </p:extLst>
          </p:nvPr>
        </p:nvGraphicFramePr>
        <p:xfrm>
          <a:off x="5672403" y="2152209"/>
          <a:ext cx="5537666" cy="2553579"/>
        </p:xfrm>
        <a:graphic>
          <a:graphicData uri="http://schemas.openxmlformats.org/drawingml/2006/table">
            <a:tbl>
              <a:tblPr firstRow="1" bandRow="1">
                <a:tableStyleId>{5C22544A-7EE6-4342-B048-85BDC9FD1C3A}</a:tableStyleId>
              </a:tblPr>
              <a:tblGrid>
                <a:gridCol w="2768833">
                  <a:extLst>
                    <a:ext uri="{9D8B030D-6E8A-4147-A177-3AD203B41FA5}">
                      <a16:colId xmlns:a16="http://schemas.microsoft.com/office/drawing/2014/main" val="2725913785"/>
                    </a:ext>
                  </a:extLst>
                </a:gridCol>
                <a:gridCol w="2768833">
                  <a:extLst>
                    <a:ext uri="{9D8B030D-6E8A-4147-A177-3AD203B41FA5}">
                      <a16:colId xmlns:a16="http://schemas.microsoft.com/office/drawing/2014/main" val="2965101443"/>
                    </a:ext>
                  </a:extLst>
                </a:gridCol>
              </a:tblGrid>
              <a:tr h="281842">
                <a:tc>
                  <a:txBody>
                    <a:bodyPr/>
                    <a:lstStyle/>
                    <a:p>
                      <a:pPr algn="ctr"/>
                      <a:r>
                        <a:rPr lang="en-US"/>
                        <a:t>Group Size</a:t>
                      </a:r>
                    </a:p>
                  </a:txBody>
                  <a:tcPr anchor="ctr"/>
                </a:tc>
                <a:tc>
                  <a:txBody>
                    <a:bodyPr/>
                    <a:lstStyle/>
                    <a:p>
                      <a:pPr algn="ctr"/>
                      <a:r>
                        <a:rPr lang="en-US"/>
                        <a:t>Example of Range</a:t>
                      </a:r>
                    </a:p>
                  </a:txBody>
                  <a:tcPr anchor="ctr"/>
                </a:tc>
                <a:extLst>
                  <a:ext uri="{0D108BD9-81ED-4DB2-BD59-A6C34878D82A}">
                    <a16:rowId xmlns:a16="http://schemas.microsoft.com/office/drawing/2014/main" val="3261137260"/>
                  </a:ext>
                </a:extLst>
              </a:tr>
              <a:tr h="281842">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1-5</a:t>
                      </a:r>
                    </a:p>
                  </a:txBody>
                  <a:tcPr marL="68580" marR="68580" marT="0" marB="0" anchor="ctr"/>
                </a:tc>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Suppressed (PS)</a:t>
                      </a:r>
                    </a:p>
                  </a:txBody>
                  <a:tcPr marL="68580" marR="68580" marT="0" marB="0" anchor="ctr"/>
                </a:tc>
                <a:extLst>
                  <a:ext uri="{0D108BD9-81ED-4DB2-BD59-A6C34878D82A}">
                    <a16:rowId xmlns:a16="http://schemas.microsoft.com/office/drawing/2014/main" val="3668749510"/>
                  </a:ext>
                </a:extLst>
              </a:tr>
              <a:tr h="281842">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6-15</a:t>
                      </a:r>
                    </a:p>
                  </a:txBody>
                  <a:tcPr marL="68580" marR="68580" marT="0" marB="0" anchor="ctr"/>
                </a:tc>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&lt;50%, ≥50%</a:t>
                      </a:r>
                    </a:p>
                  </a:txBody>
                  <a:tcPr marL="68580" marR="68580" marT="0" marB="0" anchor="ctr"/>
                </a:tc>
                <a:extLst>
                  <a:ext uri="{0D108BD9-81ED-4DB2-BD59-A6C34878D82A}">
                    <a16:rowId xmlns:a16="http://schemas.microsoft.com/office/drawing/2014/main" val="2126058014"/>
                  </a:ext>
                </a:extLst>
              </a:tr>
              <a:tr h="281842">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16-30</a:t>
                      </a:r>
                    </a:p>
                  </a:txBody>
                  <a:tcPr marL="68580" marR="68580" marT="0" marB="0" anchor="ctr"/>
                </a:tc>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≤20%, 21-39%, 40-59%, 60-79% ≥80%</a:t>
                      </a:r>
                    </a:p>
                  </a:txBody>
                  <a:tcPr marL="68580" marR="68580" marT="0" marB="0" anchor="ctr"/>
                </a:tc>
                <a:extLst>
                  <a:ext uri="{0D108BD9-81ED-4DB2-BD59-A6C34878D82A}">
                    <a16:rowId xmlns:a16="http://schemas.microsoft.com/office/drawing/2014/main" val="3128255179"/>
                  </a:ext>
                </a:extLst>
              </a:tr>
              <a:tr h="281842">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31-60</a:t>
                      </a:r>
                    </a:p>
                  </a:txBody>
                  <a:tcPr marL="68580" marR="68580" marT="0" marB="0" anchor="ctr"/>
                </a:tc>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≤10%, 11-19%, 20-29%, 30-39%, 40-49%, 50-59%, 60-69%, 70-79%, 80-89%, ≥90%</a:t>
                      </a:r>
                    </a:p>
                  </a:txBody>
                  <a:tcPr marL="68580" marR="68580" marT="0" marB="0" anchor="ctr"/>
                </a:tc>
                <a:extLst>
                  <a:ext uri="{0D108BD9-81ED-4DB2-BD59-A6C34878D82A}">
                    <a16:rowId xmlns:a16="http://schemas.microsoft.com/office/drawing/2014/main" val="4278498953"/>
                  </a:ext>
                </a:extLst>
              </a:tr>
              <a:tr h="402976">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61-300</a:t>
                      </a:r>
                    </a:p>
                  </a:txBody>
                  <a:tcPr marL="68580" marR="68580" marT="0" marB="0" anchor="ctr"/>
                </a:tc>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≤5%, 6-9%, 10-14%, 15-19%, 20-24%, 24-29%, 30-34%, 35-39%, 40-44%, 45-49%, 50-54%, 55-59%, 60-64%, 65-69%, 70-74%, 75-79%, 80-84%, 85-89%, 90-94%, ≥95%</a:t>
                      </a:r>
                    </a:p>
                  </a:txBody>
                  <a:tcPr marL="68580" marR="68580" marT="0" marB="0" anchor="ctr"/>
                </a:tc>
                <a:extLst>
                  <a:ext uri="{0D108BD9-81ED-4DB2-BD59-A6C34878D82A}">
                    <a16:rowId xmlns:a16="http://schemas.microsoft.com/office/drawing/2014/main" val="3292839519"/>
                  </a:ext>
                </a:extLst>
              </a:tr>
              <a:tr h="281842">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More than 300</a:t>
                      </a:r>
                    </a:p>
                  </a:txBody>
                  <a:tcPr marL="68580" marR="68580" marT="0" marB="0" anchor="ctr"/>
                </a:tc>
                <a:tc>
                  <a:txBody>
                    <a:bodyPr/>
                    <a:lstStyle/>
                    <a:p>
                      <a:pPr marL="0" marR="0" algn="ctr">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≤1%, 2%, 3%, . . . , 98%,  ≥99%</a:t>
                      </a:r>
                    </a:p>
                  </a:txBody>
                  <a:tcPr marL="68580" marR="68580" marT="0" marB="0" anchor="ctr"/>
                </a:tc>
                <a:extLst>
                  <a:ext uri="{0D108BD9-81ED-4DB2-BD59-A6C34878D82A}">
                    <a16:rowId xmlns:a16="http://schemas.microsoft.com/office/drawing/2014/main" val="2319081229"/>
                  </a:ext>
                </a:extLst>
              </a:tr>
            </a:tbl>
          </a:graphicData>
        </a:graphic>
      </p:graphicFrame>
      <p:sp>
        <p:nvSpPr>
          <p:cNvPr id="7" name="TextBox 6">
            <a:extLst>
              <a:ext uri="{FF2B5EF4-FFF2-40B4-BE49-F238E27FC236}">
                <a16:creationId xmlns:a16="http://schemas.microsoft.com/office/drawing/2014/main" id="{31CB26C6-F368-47D2-9993-A3AF132E0236}"/>
              </a:ext>
            </a:extLst>
          </p:cNvPr>
          <p:cNvSpPr txBox="1"/>
          <p:nvPr/>
        </p:nvSpPr>
        <p:spPr>
          <a:xfrm>
            <a:off x="981931" y="2413335"/>
            <a:ext cx="4494634" cy="2031325"/>
          </a:xfrm>
          <a:prstGeom prst="rect">
            <a:avLst/>
          </a:prstGeom>
          <a:noFill/>
        </p:spPr>
        <p:txBody>
          <a:bodyPr wrap="square" rtlCol="0">
            <a:spAutoFit/>
          </a:bodyPr>
          <a:lstStyle/>
          <a:p>
            <a:r>
              <a:rPr lang="en-US"/>
              <a:t>Data collected by state, local, and school agencies, then centralized by federal government</a:t>
            </a:r>
          </a:p>
          <a:p>
            <a:endParaRPr lang="en-US"/>
          </a:p>
          <a:p>
            <a:endParaRPr lang="en-US"/>
          </a:p>
          <a:p>
            <a:r>
              <a:rPr lang="en-US"/>
              <a:t>Ranked in ranges to protect identities within small and medium groups</a:t>
            </a:r>
          </a:p>
        </p:txBody>
      </p:sp>
      <p:sp>
        <p:nvSpPr>
          <p:cNvPr id="8" name="TextBox 7">
            <a:extLst>
              <a:ext uri="{FF2B5EF4-FFF2-40B4-BE49-F238E27FC236}">
                <a16:creationId xmlns:a16="http://schemas.microsoft.com/office/drawing/2014/main" id="{FB4C3E4B-6E56-4D58-9C47-189BE4908408}"/>
              </a:ext>
            </a:extLst>
          </p:cNvPr>
          <p:cNvSpPr txBox="1"/>
          <p:nvPr/>
        </p:nvSpPr>
        <p:spPr>
          <a:xfrm>
            <a:off x="411432" y="5948734"/>
            <a:ext cx="2552302" cy="461665"/>
          </a:xfrm>
          <a:prstGeom prst="rect">
            <a:avLst/>
          </a:prstGeom>
          <a:noFill/>
        </p:spPr>
        <p:txBody>
          <a:bodyPr wrap="none" rtlCol="0">
            <a:spAutoFit/>
          </a:bodyPr>
          <a:lstStyle/>
          <a:p>
            <a:r>
              <a:rPr lang="en-US" sz="800"/>
              <a:t>U.S. Department of Education:</a:t>
            </a:r>
          </a:p>
          <a:p>
            <a:r>
              <a:rPr lang="en-US" sz="800" u="sng">
                <a:hlinkClick r:id="rId3"/>
              </a:rPr>
              <a:t>https://www2.ed.gov/about/inits/ed/edfacts/data-files/</a:t>
            </a:r>
          </a:p>
          <a:p>
            <a:r>
              <a:rPr lang="en-US" sz="800" u="sng" err="1">
                <a:hlinkClick r:id="rId3"/>
              </a:rPr>
              <a:t>index.html#acgr</a:t>
            </a:r>
            <a:endParaRPr lang="en-US" sz="800" u="sng"/>
          </a:p>
        </p:txBody>
      </p:sp>
    </p:spTree>
    <p:extLst>
      <p:ext uri="{BB962C8B-B14F-4D97-AF65-F5344CB8AC3E}">
        <p14:creationId xmlns:p14="http://schemas.microsoft.com/office/powerpoint/2010/main" val="429446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20B2EC9-5FCB-4F5B-A53E-A0FD4786DC3B}"/>
              </a:ext>
            </a:extLst>
          </p:cNvPr>
          <p:cNvSpPr txBox="1"/>
          <p:nvPr/>
        </p:nvSpPr>
        <p:spPr>
          <a:xfrm>
            <a:off x="441271" y="5807416"/>
            <a:ext cx="1954381" cy="646331"/>
          </a:xfrm>
          <a:prstGeom prst="rect">
            <a:avLst/>
          </a:prstGeom>
          <a:noFill/>
        </p:spPr>
        <p:txBody>
          <a:bodyPr wrap="none" rtlCol="0">
            <a:spAutoFit/>
          </a:bodyPr>
          <a:lstStyle/>
          <a:p>
            <a:r>
              <a:rPr lang="en-US" sz="600"/>
              <a:t>U.S. Department of Education:</a:t>
            </a:r>
          </a:p>
          <a:p>
            <a:r>
              <a:rPr lang="en-US" sz="600" u="sng">
                <a:hlinkClick r:id="rId3"/>
              </a:rPr>
              <a:t>https://www2.ed.gov/about/inits/ed/edfacts/data-files/</a:t>
            </a:r>
          </a:p>
          <a:p>
            <a:r>
              <a:rPr lang="en-US" sz="600" u="sng" err="1">
                <a:hlinkClick r:id="rId3"/>
              </a:rPr>
              <a:t>index.html#acgr</a:t>
            </a:r>
            <a:endParaRPr lang="en-US" sz="600" u="sng"/>
          </a:p>
          <a:p>
            <a:endParaRPr lang="en-US" sz="600"/>
          </a:p>
          <a:p>
            <a:r>
              <a:rPr lang="en-US" sz="600"/>
              <a:t>NCES -&gt; Elementary/Secondary Information System</a:t>
            </a:r>
          </a:p>
          <a:p>
            <a:r>
              <a:rPr lang="en-US" sz="600">
                <a:hlinkClick r:id="rId4"/>
              </a:rPr>
              <a:t>https://nces.ed.gov/ccd/elsi/</a:t>
            </a:r>
            <a:endParaRPr lang="en-US" sz="600"/>
          </a:p>
        </p:txBody>
      </p:sp>
      <p:pic>
        <p:nvPicPr>
          <p:cNvPr id="3" name="Picture 2">
            <a:extLst>
              <a:ext uri="{FF2B5EF4-FFF2-40B4-BE49-F238E27FC236}">
                <a16:creationId xmlns:a16="http://schemas.microsoft.com/office/drawing/2014/main" id="{E5B8179F-FF32-4EBE-9B93-FFFA79BBC3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61734" y="206156"/>
            <a:ext cx="9668532" cy="6445688"/>
          </a:xfrm>
          <a:prstGeom prst="rect">
            <a:avLst/>
          </a:prstGeom>
        </p:spPr>
      </p:pic>
      <p:cxnSp>
        <p:nvCxnSpPr>
          <p:cNvPr id="8" name="Straight Connector 7">
            <a:extLst>
              <a:ext uri="{FF2B5EF4-FFF2-40B4-BE49-F238E27FC236}">
                <a16:creationId xmlns:a16="http://schemas.microsoft.com/office/drawing/2014/main" id="{ADA5AF29-63E2-4A79-93FC-58B0BC7FAD89}"/>
              </a:ext>
            </a:extLst>
          </p:cNvPr>
          <p:cNvCxnSpPr/>
          <p:nvPr/>
        </p:nvCxnSpPr>
        <p:spPr>
          <a:xfrm flipV="1">
            <a:off x="8481849" y="1261240"/>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E0D8E1-A9CB-4342-A8A4-358AEBAA63B3}"/>
              </a:ext>
            </a:extLst>
          </p:cNvPr>
          <p:cNvCxnSpPr/>
          <p:nvPr/>
        </p:nvCxnSpPr>
        <p:spPr>
          <a:xfrm flipV="1">
            <a:off x="6963104" y="1261241"/>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5A1CE3-DA98-4B71-A146-E92FF7F8BBD5}"/>
              </a:ext>
            </a:extLst>
          </p:cNvPr>
          <p:cNvCxnSpPr/>
          <p:nvPr/>
        </p:nvCxnSpPr>
        <p:spPr>
          <a:xfrm flipV="1">
            <a:off x="5460124" y="1261241"/>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BCD9F1C-EFAB-435B-B8BE-607F4DA69A18}"/>
              </a:ext>
            </a:extLst>
          </p:cNvPr>
          <p:cNvCxnSpPr/>
          <p:nvPr/>
        </p:nvCxnSpPr>
        <p:spPr>
          <a:xfrm flipV="1">
            <a:off x="3867807" y="1261239"/>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5152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5EA943-9097-472F-8C2F-68D38820A559}"/>
              </a:ext>
            </a:extLst>
          </p:cNvPr>
          <p:cNvSpPr txBox="1"/>
          <p:nvPr/>
        </p:nvSpPr>
        <p:spPr>
          <a:xfrm>
            <a:off x="441271" y="5807416"/>
            <a:ext cx="1954381" cy="646331"/>
          </a:xfrm>
          <a:prstGeom prst="rect">
            <a:avLst/>
          </a:prstGeom>
          <a:noFill/>
        </p:spPr>
        <p:txBody>
          <a:bodyPr wrap="none" rtlCol="0">
            <a:spAutoFit/>
          </a:bodyPr>
          <a:lstStyle/>
          <a:p>
            <a:r>
              <a:rPr lang="en-US" sz="600"/>
              <a:t>U.S. Department of Education:</a:t>
            </a:r>
          </a:p>
          <a:p>
            <a:r>
              <a:rPr lang="en-US" sz="600" u="sng">
                <a:hlinkClick r:id="rId3"/>
              </a:rPr>
              <a:t>https://www2.ed.gov/about/inits/ed/edfacts/data-files/</a:t>
            </a:r>
          </a:p>
          <a:p>
            <a:r>
              <a:rPr lang="en-US" sz="600" u="sng" err="1">
                <a:hlinkClick r:id="rId3"/>
              </a:rPr>
              <a:t>index.html#acgr</a:t>
            </a:r>
            <a:endParaRPr lang="en-US" sz="600" u="sng"/>
          </a:p>
          <a:p>
            <a:endParaRPr lang="en-US" sz="600"/>
          </a:p>
          <a:p>
            <a:r>
              <a:rPr lang="en-US" sz="600"/>
              <a:t>NCES -&gt; Elementary/Secondary Information System</a:t>
            </a:r>
          </a:p>
          <a:p>
            <a:r>
              <a:rPr lang="en-US" sz="600">
                <a:hlinkClick r:id="rId4"/>
              </a:rPr>
              <a:t>https://nces.ed.gov/ccd/elsi/</a:t>
            </a:r>
            <a:endParaRPr lang="en-US" sz="600"/>
          </a:p>
        </p:txBody>
      </p:sp>
      <p:pic>
        <p:nvPicPr>
          <p:cNvPr id="5" name="Picture 4" descr="A screenshot of a video game&#10;&#10;Description automatically generated">
            <a:extLst>
              <a:ext uri="{FF2B5EF4-FFF2-40B4-BE49-F238E27FC236}">
                <a16:creationId xmlns:a16="http://schemas.microsoft.com/office/drawing/2014/main" id="{55570616-C687-414B-BDCF-AB49E6A644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69781" y="211520"/>
            <a:ext cx="9652438" cy="6434959"/>
          </a:xfrm>
          <a:prstGeom prst="rect">
            <a:avLst/>
          </a:prstGeom>
        </p:spPr>
      </p:pic>
      <p:cxnSp>
        <p:nvCxnSpPr>
          <p:cNvPr id="6" name="Straight Connector 5">
            <a:extLst>
              <a:ext uri="{FF2B5EF4-FFF2-40B4-BE49-F238E27FC236}">
                <a16:creationId xmlns:a16="http://schemas.microsoft.com/office/drawing/2014/main" id="{4EC38913-E0E3-470A-B436-39D6CA7FF286}"/>
              </a:ext>
            </a:extLst>
          </p:cNvPr>
          <p:cNvCxnSpPr/>
          <p:nvPr/>
        </p:nvCxnSpPr>
        <p:spPr>
          <a:xfrm flipV="1">
            <a:off x="3972911" y="1271750"/>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047C39E-0598-43EF-B16B-4D8166A631FD}"/>
              </a:ext>
            </a:extLst>
          </p:cNvPr>
          <p:cNvCxnSpPr/>
          <p:nvPr/>
        </p:nvCxnSpPr>
        <p:spPr>
          <a:xfrm flipV="1">
            <a:off x="5470635" y="1271750"/>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1DB8B30-948D-4CA0-83E1-C83D62251636}"/>
              </a:ext>
            </a:extLst>
          </p:cNvPr>
          <p:cNvCxnSpPr/>
          <p:nvPr/>
        </p:nvCxnSpPr>
        <p:spPr>
          <a:xfrm flipV="1">
            <a:off x="6963104" y="1271750"/>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02B42A1-B4F2-44A2-A381-F7C7B6AAA4F0}"/>
              </a:ext>
            </a:extLst>
          </p:cNvPr>
          <p:cNvCxnSpPr/>
          <p:nvPr/>
        </p:nvCxnSpPr>
        <p:spPr>
          <a:xfrm flipV="1">
            <a:off x="8455573" y="1271750"/>
            <a:ext cx="0" cy="469812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0583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D50506E-E45C-4878-B080-2CAE53735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6405" y="204280"/>
            <a:ext cx="4859189" cy="3346316"/>
          </a:xfrm>
          <a:prstGeom prst="rect">
            <a:avLst/>
          </a:prstGeom>
        </p:spPr>
      </p:pic>
      <p:pic>
        <p:nvPicPr>
          <p:cNvPr id="7" name="Picture 6">
            <a:extLst>
              <a:ext uri="{FF2B5EF4-FFF2-40B4-BE49-F238E27FC236}">
                <a16:creationId xmlns:a16="http://schemas.microsoft.com/office/drawing/2014/main" id="{F60BF10F-939B-4E63-9054-051ADA6979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187" y="3394951"/>
            <a:ext cx="4859189" cy="3346316"/>
          </a:xfrm>
          <a:prstGeom prst="rect">
            <a:avLst/>
          </a:prstGeom>
        </p:spPr>
      </p:pic>
      <p:pic>
        <p:nvPicPr>
          <p:cNvPr id="9" name="Picture 8" descr="A close up of text on a white background&#10;&#10;Description automatically generated">
            <a:extLst>
              <a:ext uri="{FF2B5EF4-FFF2-40B4-BE49-F238E27FC236}">
                <a16:creationId xmlns:a16="http://schemas.microsoft.com/office/drawing/2014/main" id="{DDE94152-C1C7-4540-BD19-48F6CEE5C3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96624" y="3394951"/>
            <a:ext cx="4859188" cy="3346316"/>
          </a:xfrm>
          <a:prstGeom prst="rect">
            <a:avLst/>
          </a:prstGeom>
        </p:spPr>
      </p:pic>
      <p:grpSp>
        <p:nvGrpSpPr>
          <p:cNvPr id="20" name="Group 19">
            <a:extLst>
              <a:ext uri="{FF2B5EF4-FFF2-40B4-BE49-F238E27FC236}">
                <a16:creationId xmlns:a16="http://schemas.microsoft.com/office/drawing/2014/main" id="{9EEF2CE0-30D2-44A1-87B1-0D3A55266A65}"/>
              </a:ext>
            </a:extLst>
          </p:cNvPr>
          <p:cNvGrpSpPr/>
          <p:nvPr/>
        </p:nvGrpSpPr>
        <p:grpSpPr>
          <a:xfrm>
            <a:off x="8525594" y="1874290"/>
            <a:ext cx="1710359" cy="1520661"/>
            <a:chOff x="8525594" y="1874290"/>
            <a:chExt cx="1710359" cy="1520661"/>
          </a:xfrm>
        </p:grpSpPr>
        <p:cxnSp>
          <p:nvCxnSpPr>
            <p:cNvPr id="15" name="Straight Connector 14">
              <a:extLst>
                <a:ext uri="{FF2B5EF4-FFF2-40B4-BE49-F238E27FC236}">
                  <a16:creationId xmlns:a16="http://schemas.microsoft.com/office/drawing/2014/main" id="{77EF269A-9094-44EA-9996-9ACFAD7AE9B0}"/>
                </a:ext>
              </a:extLst>
            </p:cNvPr>
            <p:cNvCxnSpPr>
              <a:stCxn id="5" idx="3"/>
            </p:cNvCxnSpPr>
            <p:nvPr/>
          </p:nvCxnSpPr>
          <p:spPr>
            <a:xfrm>
              <a:off x="8525594" y="1877438"/>
              <a:ext cx="17103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2611B22-CAA2-423A-9B71-A6F97F212064}"/>
                </a:ext>
              </a:extLst>
            </p:cNvPr>
            <p:cNvCxnSpPr/>
            <p:nvPr/>
          </p:nvCxnSpPr>
          <p:spPr>
            <a:xfrm>
              <a:off x="10235953" y="1874290"/>
              <a:ext cx="0" cy="15206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B6272BBA-9FE0-4E9F-AEBE-D664FA9DD62C}"/>
              </a:ext>
            </a:extLst>
          </p:cNvPr>
          <p:cNvGrpSpPr/>
          <p:nvPr/>
        </p:nvGrpSpPr>
        <p:grpSpPr>
          <a:xfrm>
            <a:off x="2090763" y="1874290"/>
            <a:ext cx="1710359" cy="1520661"/>
            <a:chOff x="2090763" y="1874290"/>
            <a:chExt cx="1710359" cy="1520661"/>
          </a:xfrm>
        </p:grpSpPr>
        <p:cxnSp>
          <p:nvCxnSpPr>
            <p:cNvPr id="16" name="Straight Connector 15">
              <a:extLst>
                <a:ext uri="{FF2B5EF4-FFF2-40B4-BE49-F238E27FC236}">
                  <a16:creationId xmlns:a16="http://schemas.microsoft.com/office/drawing/2014/main" id="{5FEEB929-6F72-41F0-A044-0BA0C27E166F}"/>
                </a:ext>
              </a:extLst>
            </p:cNvPr>
            <p:cNvCxnSpPr/>
            <p:nvPr/>
          </p:nvCxnSpPr>
          <p:spPr>
            <a:xfrm>
              <a:off x="2090763" y="1874290"/>
              <a:ext cx="171035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F12D34E-A142-4AAB-87E4-D95E4BF04F07}"/>
                </a:ext>
              </a:extLst>
            </p:cNvPr>
            <p:cNvCxnSpPr/>
            <p:nvPr/>
          </p:nvCxnSpPr>
          <p:spPr>
            <a:xfrm>
              <a:off x="2090763" y="1874290"/>
              <a:ext cx="0" cy="15206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9569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374927-B081-40E6-92D3-06B50350A80D}"/>
              </a:ext>
            </a:extLst>
          </p:cNvPr>
          <p:cNvSpPr txBox="1"/>
          <p:nvPr/>
        </p:nvSpPr>
        <p:spPr>
          <a:xfrm>
            <a:off x="753655" y="1061356"/>
            <a:ext cx="4253351" cy="2431435"/>
          </a:xfrm>
          <a:prstGeom prst="rect">
            <a:avLst/>
          </a:prstGeom>
          <a:noFill/>
        </p:spPr>
        <p:txBody>
          <a:bodyPr wrap="square" rtlCol="0">
            <a:spAutoFit/>
          </a:bodyPr>
          <a:lstStyle/>
          <a:p>
            <a:r>
              <a:rPr lang="en-US"/>
              <a:t>AP Enrollment in school districts for the states in 2015</a:t>
            </a:r>
          </a:p>
          <a:p>
            <a:r>
              <a:rPr lang="en-US" sz="1400"/>
              <a:t>-Lots of districts are missing responses to this question</a:t>
            </a:r>
          </a:p>
          <a:p>
            <a:r>
              <a:rPr lang="en-US" sz="1400"/>
              <a:t>-Percentage of districts that answered </a:t>
            </a:r>
          </a:p>
          <a:p>
            <a:r>
              <a:rPr lang="en-US" sz="1400"/>
              <a:t>	LA: 60.80%</a:t>
            </a:r>
          </a:p>
          <a:p>
            <a:r>
              <a:rPr lang="en-US" sz="1400"/>
              <a:t>	MA: 74.00%</a:t>
            </a:r>
          </a:p>
          <a:p>
            <a:r>
              <a:rPr lang="en-US" sz="1400"/>
              <a:t>	NH: 47.80%</a:t>
            </a:r>
          </a:p>
          <a:p>
            <a:r>
              <a:rPr lang="en-US" sz="1400"/>
              <a:t>	NJ: 49.18%</a:t>
            </a:r>
          </a:p>
          <a:p>
            <a:r>
              <a:rPr lang="en-US" sz="1400"/>
              <a:t>	NM: 81.76%</a:t>
            </a:r>
          </a:p>
          <a:p>
            <a:endParaRPr lang="en-US"/>
          </a:p>
        </p:txBody>
      </p:sp>
      <p:pic>
        <p:nvPicPr>
          <p:cNvPr id="19" name="Picture 18" descr="A picture containing text&#10;&#10;Description automatically generated">
            <a:extLst>
              <a:ext uri="{FF2B5EF4-FFF2-40B4-BE49-F238E27FC236}">
                <a16:creationId xmlns:a16="http://schemas.microsoft.com/office/drawing/2014/main" id="{C453B914-6132-431D-BEE0-AD4956624E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661" y="1061356"/>
            <a:ext cx="6876115" cy="4735288"/>
          </a:xfrm>
          <a:prstGeom prst="rect">
            <a:avLst/>
          </a:prstGeom>
        </p:spPr>
      </p:pic>
      <p:sp>
        <p:nvSpPr>
          <p:cNvPr id="5" name="TextBox 4">
            <a:extLst>
              <a:ext uri="{FF2B5EF4-FFF2-40B4-BE49-F238E27FC236}">
                <a16:creationId xmlns:a16="http://schemas.microsoft.com/office/drawing/2014/main" id="{6A9C450A-64BB-4B15-801B-C5B086A2751C}"/>
              </a:ext>
            </a:extLst>
          </p:cNvPr>
          <p:cNvSpPr txBox="1"/>
          <p:nvPr/>
        </p:nvSpPr>
        <p:spPr>
          <a:xfrm>
            <a:off x="473105" y="6186247"/>
            <a:ext cx="1904689" cy="276999"/>
          </a:xfrm>
          <a:prstGeom prst="rect">
            <a:avLst/>
          </a:prstGeom>
          <a:noFill/>
        </p:spPr>
        <p:txBody>
          <a:bodyPr wrap="none" rtlCol="0">
            <a:spAutoFit/>
          </a:bodyPr>
          <a:lstStyle/>
          <a:p>
            <a:r>
              <a:rPr lang="en-US" sz="600"/>
              <a:t>U.S. Department of Education:</a:t>
            </a:r>
          </a:p>
          <a:p>
            <a:r>
              <a:rPr lang="en-US" sz="600">
                <a:hlinkClick r:id="rId4"/>
              </a:rPr>
              <a:t>https://ocrdata.ed.gov/flex/Reports.aspx?type=district</a:t>
            </a:r>
            <a:endParaRPr lang="en-US" sz="600"/>
          </a:p>
        </p:txBody>
      </p:sp>
    </p:spTree>
    <p:extLst>
      <p:ext uri="{BB962C8B-B14F-4D97-AF65-F5344CB8AC3E}">
        <p14:creationId xmlns:p14="http://schemas.microsoft.com/office/powerpoint/2010/main" val="4221498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screenshot&#10;&#10;Description automatically generated">
            <a:extLst>
              <a:ext uri="{FF2B5EF4-FFF2-40B4-BE49-F238E27FC236}">
                <a16:creationId xmlns:a16="http://schemas.microsoft.com/office/drawing/2014/main" id="{10B7088E-1E1C-4585-9448-E2FAEC05A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004" y="533252"/>
            <a:ext cx="10529992" cy="5791495"/>
          </a:xfrm>
          <a:prstGeom prst="rect">
            <a:avLst/>
          </a:prstGeom>
        </p:spPr>
      </p:pic>
      <p:sp>
        <p:nvSpPr>
          <p:cNvPr id="6" name="TextBox 5">
            <a:extLst>
              <a:ext uri="{FF2B5EF4-FFF2-40B4-BE49-F238E27FC236}">
                <a16:creationId xmlns:a16="http://schemas.microsoft.com/office/drawing/2014/main" id="{9D60F219-824D-47C2-8340-79AD71A85E14}"/>
              </a:ext>
            </a:extLst>
          </p:cNvPr>
          <p:cNvSpPr txBox="1"/>
          <p:nvPr/>
        </p:nvSpPr>
        <p:spPr>
          <a:xfrm>
            <a:off x="473105" y="6186247"/>
            <a:ext cx="1904689" cy="276999"/>
          </a:xfrm>
          <a:prstGeom prst="rect">
            <a:avLst/>
          </a:prstGeom>
          <a:noFill/>
        </p:spPr>
        <p:txBody>
          <a:bodyPr wrap="none" rtlCol="0">
            <a:spAutoFit/>
          </a:bodyPr>
          <a:lstStyle/>
          <a:p>
            <a:r>
              <a:rPr lang="en-US" sz="600"/>
              <a:t>U.S. Department of Education:</a:t>
            </a:r>
          </a:p>
          <a:p>
            <a:r>
              <a:rPr lang="en-US" sz="600">
                <a:hlinkClick r:id="rId4"/>
              </a:rPr>
              <a:t>https://ocrdata.ed.gov/flex/Reports.aspx?type=district</a:t>
            </a:r>
            <a:endParaRPr lang="en-US" sz="600"/>
          </a:p>
        </p:txBody>
      </p:sp>
    </p:spTree>
    <p:extLst>
      <p:ext uri="{BB962C8B-B14F-4D97-AF65-F5344CB8AC3E}">
        <p14:creationId xmlns:p14="http://schemas.microsoft.com/office/powerpoint/2010/main" val="3863460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1211DDD-6801-40D6-90E8-4995F03C76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4757" y="916773"/>
            <a:ext cx="7724502"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656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screenshot&#10;&#10;Description automatically generated">
            <a:extLst>
              <a:ext uri="{FF2B5EF4-FFF2-40B4-BE49-F238E27FC236}">
                <a16:creationId xmlns:a16="http://schemas.microsoft.com/office/drawing/2014/main" id="{DD38104B-9F27-429E-B33A-5E7D03F7C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7077" y="643467"/>
            <a:ext cx="8103369" cy="5571066"/>
          </a:xfrm>
          <a:prstGeom prst="rect">
            <a:avLst/>
          </a:prstGeom>
        </p:spPr>
      </p:pic>
      <p:sp>
        <p:nvSpPr>
          <p:cNvPr id="6" name="TextBox 5">
            <a:extLst>
              <a:ext uri="{FF2B5EF4-FFF2-40B4-BE49-F238E27FC236}">
                <a16:creationId xmlns:a16="http://schemas.microsoft.com/office/drawing/2014/main" id="{0CDB8D49-3FCE-4B8B-A020-561D0D9AA4A3}"/>
              </a:ext>
            </a:extLst>
          </p:cNvPr>
          <p:cNvSpPr txBox="1"/>
          <p:nvPr/>
        </p:nvSpPr>
        <p:spPr>
          <a:xfrm>
            <a:off x="438629" y="5821274"/>
            <a:ext cx="2555508" cy="646331"/>
          </a:xfrm>
          <a:prstGeom prst="rect">
            <a:avLst/>
          </a:prstGeom>
          <a:noFill/>
        </p:spPr>
        <p:txBody>
          <a:bodyPr wrap="none" rtlCol="0">
            <a:spAutoFit/>
          </a:bodyPr>
          <a:lstStyle/>
          <a:p>
            <a:r>
              <a:rPr lang="en-US" sz="600"/>
              <a:t>National Science Foundation:</a:t>
            </a:r>
          </a:p>
          <a:p>
            <a:r>
              <a:rPr lang="en-US" sz="600" u="sng">
                <a:hlinkClick r:id="rId4"/>
              </a:rPr>
              <a:t>https://www.nsf.gov/statistics/state-indicators</a:t>
            </a:r>
            <a:endParaRPr lang="en-US" sz="600"/>
          </a:p>
          <a:p>
            <a:endParaRPr lang="en-US" sz="600"/>
          </a:p>
          <a:p>
            <a:r>
              <a:rPr lang="en-US" sz="600"/>
              <a:t>National Assessment of Educational Progress:</a:t>
            </a:r>
          </a:p>
          <a:p>
            <a:r>
              <a:rPr lang="en-US" sz="600">
                <a:hlinkClick r:id="rId5"/>
              </a:rPr>
              <a:t>https://nces.ed.gov/nationsreportcard/mathematics/achieve.aspx#grade12</a:t>
            </a:r>
            <a:endParaRPr lang="en-US" sz="600"/>
          </a:p>
          <a:p>
            <a:r>
              <a:rPr lang="en-US" sz="600">
                <a:hlinkClick r:id="rId6"/>
              </a:rPr>
              <a:t>https://www.nationsreportcard.gov/ndecore/xplore/NDE</a:t>
            </a:r>
            <a:endParaRPr lang="en-US" sz="600"/>
          </a:p>
        </p:txBody>
      </p:sp>
      <p:cxnSp>
        <p:nvCxnSpPr>
          <p:cNvPr id="4" name="Straight Arrow Connector 3">
            <a:extLst>
              <a:ext uri="{FF2B5EF4-FFF2-40B4-BE49-F238E27FC236}">
                <a16:creationId xmlns:a16="http://schemas.microsoft.com/office/drawing/2014/main" id="{D8C63375-99F3-4C03-B9E6-E929C214DAFD}"/>
              </a:ext>
            </a:extLst>
          </p:cNvPr>
          <p:cNvCxnSpPr/>
          <p:nvPr/>
        </p:nvCxnSpPr>
        <p:spPr>
          <a:xfrm>
            <a:off x="4538258" y="1889535"/>
            <a:ext cx="1417152" cy="1140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1BB9665-ED1C-49CA-9321-AA313727725C}"/>
              </a:ext>
            </a:extLst>
          </p:cNvPr>
          <p:cNvCxnSpPr>
            <a:cxnSpLocks/>
          </p:cNvCxnSpPr>
          <p:nvPr/>
        </p:nvCxnSpPr>
        <p:spPr>
          <a:xfrm>
            <a:off x="7902306" y="1913154"/>
            <a:ext cx="1346293" cy="1248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FDC4DEA-40A6-47E2-8B07-0DA3ABC40EC7}"/>
              </a:ext>
            </a:extLst>
          </p:cNvPr>
          <p:cNvSpPr txBox="1"/>
          <p:nvPr/>
        </p:nvSpPr>
        <p:spPr>
          <a:xfrm>
            <a:off x="5081499" y="1689480"/>
            <a:ext cx="2681770" cy="400110"/>
          </a:xfrm>
          <a:prstGeom prst="rect">
            <a:avLst/>
          </a:prstGeom>
          <a:noFill/>
        </p:spPr>
        <p:txBody>
          <a:bodyPr wrap="square" rtlCol="0">
            <a:spAutoFit/>
          </a:bodyPr>
          <a:lstStyle/>
          <a:p>
            <a:r>
              <a:rPr lang="en-US" dirty="0">
                <a:solidFill>
                  <a:srgbClr val="FF0000"/>
                </a:solidFill>
              </a:rPr>
              <a:t>Similar </a:t>
            </a:r>
            <a:r>
              <a:rPr lang="en-US" sz="2000" dirty="0">
                <a:solidFill>
                  <a:srgbClr val="FF0000"/>
                </a:solidFill>
              </a:rPr>
              <a:t>results</a:t>
            </a:r>
            <a:r>
              <a:rPr lang="en-US" dirty="0">
                <a:solidFill>
                  <a:srgbClr val="FF0000"/>
                </a:solidFill>
              </a:rPr>
              <a:t> for PISA</a:t>
            </a:r>
          </a:p>
        </p:txBody>
      </p:sp>
    </p:spTree>
    <p:extLst>
      <p:ext uri="{BB962C8B-B14F-4D97-AF65-F5344CB8AC3E}">
        <p14:creationId xmlns:p14="http://schemas.microsoft.com/office/powerpoint/2010/main" val="3621966714"/>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D5160D-AC1D-4F47-9472-FD990C999342}"/>
              </a:ext>
            </a:extLst>
          </p:cNvPr>
          <p:cNvSpPr>
            <a:spLocks noGrp="1"/>
          </p:cNvSpPr>
          <p:nvPr>
            <p:ph type="title"/>
          </p:nvPr>
        </p:nvSpPr>
        <p:spPr>
          <a:xfrm>
            <a:off x="2658597" y="486608"/>
            <a:ext cx="5172074" cy="645355"/>
          </a:xfrm>
        </p:spPr>
        <p:txBody>
          <a:bodyPr>
            <a:normAutofit/>
          </a:bodyPr>
          <a:lstStyle/>
          <a:p>
            <a:pPr algn="ctr"/>
            <a:r>
              <a:rPr lang="en-US" sz="2000" b="1" dirty="0">
                <a:solidFill>
                  <a:schemeClr val="tx1"/>
                </a:solidFill>
                <a:latin typeface="+mn-lt"/>
              </a:rPr>
              <a:t>What f</a:t>
            </a:r>
            <a:r>
              <a:rPr lang="en-US" sz="2000" b="1" dirty="0">
                <a:latin typeface="+mn-lt"/>
              </a:rPr>
              <a:t>actors account for decline in proficiency from 8</a:t>
            </a:r>
            <a:r>
              <a:rPr lang="en-US" sz="2000" b="1" baseline="30000" dirty="0">
                <a:latin typeface="+mn-lt"/>
              </a:rPr>
              <a:t>th</a:t>
            </a:r>
            <a:r>
              <a:rPr lang="en-US" sz="2000" b="1" dirty="0">
                <a:latin typeface="+mn-lt"/>
              </a:rPr>
              <a:t> grade thru High School</a:t>
            </a:r>
            <a:r>
              <a:rPr lang="en-US" sz="2000" b="1" dirty="0">
                <a:solidFill>
                  <a:schemeClr val="tx1"/>
                </a:solidFill>
                <a:latin typeface="+mn-lt"/>
              </a:rPr>
              <a:t>?</a:t>
            </a:r>
          </a:p>
        </p:txBody>
      </p:sp>
      <p:sp>
        <p:nvSpPr>
          <p:cNvPr id="2" name="TextBox 1">
            <a:extLst>
              <a:ext uri="{FF2B5EF4-FFF2-40B4-BE49-F238E27FC236}">
                <a16:creationId xmlns:a16="http://schemas.microsoft.com/office/drawing/2014/main" id="{0CF98E21-9137-409A-88B9-0EA6FF9E0978}"/>
              </a:ext>
            </a:extLst>
          </p:cNvPr>
          <p:cNvSpPr txBox="1"/>
          <p:nvPr/>
        </p:nvSpPr>
        <p:spPr>
          <a:xfrm>
            <a:off x="2120040" y="1564433"/>
            <a:ext cx="7446698" cy="5539978"/>
          </a:xfrm>
          <a:prstGeom prst="rect">
            <a:avLst/>
          </a:prstGeom>
          <a:noFill/>
        </p:spPr>
        <p:txBody>
          <a:bodyPr wrap="square" rtlCol="0">
            <a:spAutoFit/>
          </a:bodyPr>
          <a:lstStyle/>
          <a:p>
            <a:r>
              <a:rPr lang="en-US" dirty="0"/>
              <a:t>Factors:</a:t>
            </a:r>
          </a:p>
          <a:p>
            <a:endParaRPr lang="en-US" dirty="0"/>
          </a:p>
          <a:p>
            <a:pPr marL="285750" indent="-285750">
              <a:buFontTx/>
              <a:buChar char="-"/>
            </a:pPr>
            <a:r>
              <a:rPr lang="en-US" dirty="0"/>
              <a:t>Literacy is central to poor STEM result</a:t>
            </a:r>
          </a:p>
          <a:p>
            <a:pPr marL="742950" lvl="1" indent="-285750">
              <a:buFontTx/>
              <a:buChar char="-"/>
            </a:pPr>
            <a:r>
              <a:rPr lang="en-US" dirty="0"/>
              <a:t>Student cannot adequately read STEM artifacts—map, chart, graph, spreadsheet, etc... </a:t>
            </a:r>
          </a:p>
          <a:p>
            <a:pPr marL="742950" lvl="1" indent="-285750">
              <a:buFontTx/>
              <a:buChar char="-"/>
            </a:pPr>
            <a:endParaRPr lang="en-US" dirty="0"/>
          </a:p>
          <a:p>
            <a:pPr marL="285750" indent="-285750">
              <a:buFontTx/>
              <a:buChar char="-"/>
            </a:pPr>
            <a:r>
              <a:rPr lang="en-US" dirty="0"/>
              <a:t>Entrenched High School education structure – influence by Carnegie system (time in seats) and College Board requirements (Standardized Tests)</a:t>
            </a:r>
          </a:p>
          <a:p>
            <a:pPr marL="285750" indent="-285750">
              <a:buFontTx/>
              <a:buChar char="-"/>
            </a:pPr>
            <a:endParaRPr lang="en-US" dirty="0"/>
          </a:p>
          <a:p>
            <a:pPr marL="285750" indent="-285750">
              <a:buFontTx/>
              <a:buChar char="-"/>
            </a:pPr>
            <a:r>
              <a:rPr lang="en-US" dirty="0"/>
              <a:t>Teacher certification &amp; training</a:t>
            </a:r>
          </a:p>
          <a:p>
            <a:pPr marL="742950" lvl="1" indent="-285750">
              <a:buFontTx/>
              <a:buChar char="-"/>
            </a:pPr>
            <a:r>
              <a:rPr lang="en-US" sz="1400" dirty="0"/>
              <a:t>Teacher preparation showed the largest gap, one that widens greatly for prospective secondary STEM teachers, where coursework on disciplinary literacy is scarce. Many Inservice science teachers never received appropriate university training on negotiating technical texts, writing for STEM, or engaging in peer review. Teachers without these experiences avoid them in their secondary classrooms, when texts, concepts, and tasks become more complex. </a:t>
            </a:r>
            <a:r>
              <a:rPr lang="en-US" sz="1050" dirty="0"/>
              <a:t>(“Equity &amp; Representation in STEM”, </a:t>
            </a:r>
            <a:r>
              <a:rPr lang="en-US" sz="800" dirty="0"/>
              <a:t>LITERACY TODAY | May/June 2019 | literacyworldwide.org </a:t>
            </a:r>
            <a:r>
              <a:rPr lang="en-US" sz="1050" dirty="0"/>
              <a:t>)</a:t>
            </a:r>
          </a:p>
          <a:p>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a:p>
            <a:pPr marL="285750" indent="-285750">
              <a:buFontTx/>
              <a:buChar char="-"/>
            </a:pPr>
            <a:endParaRPr lang="en-US" dirty="0"/>
          </a:p>
        </p:txBody>
      </p:sp>
    </p:spTree>
    <p:extLst>
      <p:ext uri="{BB962C8B-B14F-4D97-AF65-F5344CB8AC3E}">
        <p14:creationId xmlns:p14="http://schemas.microsoft.com/office/powerpoint/2010/main" val="361671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2E7E7-EFC7-4B11-B70F-5849D3BF2A66}"/>
              </a:ext>
            </a:extLst>
          </p:cNvPr>
          <p:cNvSpPr>
            <a:spLocks noGrp="1"/>
          </p:cNvSpPr>
          <p:nvPr>
            <p:ph type="title"/>
          </p:nvPr>
        </p:nvSpPr>
        <p:spPr/>
        <p:txBody>
          <a:bodyPr>
            <a:normAutofit/>
          </a:bodyPr>
          <a:lstStyle/>
          <a:p>
            <a:r>
              <a:rPr lang="en-US" sz="2200" b="1" dirty="0"/>
              <a:t>HS were off the radar – attention and efforts were focused on standards for K-8, and thus graduation requirements &amp; testing driving HS curriculum and output (AP, SAT, ACT, PSAT)</a:t>
            </a:r>
            <a:endParaRPr lang="en-US" b="1" dirty="0"/>
          </a:p>
        </p:txBody>
      </p:sp>
      <p:sp>
        <p:nvSpPr>
          <p:cNvPr id="3" name="Content Placeholder 2">
            <a:extLst>
              <a:ext uri="{FF2B5EF4-FFF2-40B4-BE49-F238E27FC236}">
                <a16:creationId xmlns:a16="http://schemas.microsoft.com/office/drawing/2014/main" id="{D945A711-9089-4E3B-911D-E133E0A4DA0B}"/>
              </a:ext>
            </a:extLst>
          </p:cNvPr>
          <p:cNvSpPr>
            <a:spLocks noGrp="1"/>
          </p:cNvSpPr>
          <p:nvPr>
            <p:ph idx="1"/>
          </p:nvPr>
        </p:nvSpPr>
        <p:spPr>
          <a:xfrm>
            <a:off x="838200" y="1825625"/>
            <a:ext cx="10515600" cy="4534982"/>
          </a:xfrm>
        </p:spPr>
        <p:txBody>
          <a:bodyPr>
            <a:normAutofit fontScale="85000" lnSpcReduction="20000"/>
          </a:bodyPr>
          <a:lstStyle/>
          <a:p>
            <a:pPr marL="742950" lvl="1" indent="-285750">
              <a:buFontTx/>
              <a:buChar char="-"/>
            </a:pPr>
            <a:r>
              <a:rPr lang="en-US" dirty="0"/>
              <a:t>K-8 has seen the most active reform, though not everywhere. Statewide adoptions at these levels make them more attractive to publishers/professors who get grants to build one-off learning modules and sometimes entire programs.</a:t>
            </a:r>
          </a:p>
          <a:p>
            <a:pPr marL="742950" lvl="1" indent="-285750">
              <a:buFontTx/>
              <a:buChar char="-"/>
            </a:pPr>
            <a:r>
              <a:rPr lang="en-US" dirty="0"/>
              <a:t>Due to far fewer requirements at these levels, the curriculum can be more fluid and thus it is easier to change. The recent spate of standardized tests in 4</a:t>
            </a:r>
            <a:r>
              <a:rPr lang="en-US" baseline="30000" dirty="0"/>
              <a:t>th</a:t>
            </a:r>
            <a:r>
              <a:rPr lang="en-US" dirty="0"/>
              <a:t> and 8</a:t>
            </a:r>
            <a:r>
              <a:rPr lang="en-US" baseline="30000" dirty="0"/>
              <a:t>th</a:t>
            </a:r>
            <a:r>
              <a:rPr lang="en-US" dirty="0"/>
              <a:t> grade have made schools focus only on math and reading, at the expense of science, social studies, the Arts—and recess!!!  But now elementary schools are seeing the light and facing parent backlash, and they have the ability to revert to more balance because of the lack of “real” curriculum requirements. Common Core and NGSS have influence, but only as far as testing is concerned</a:t>
            </a:r>
          </a:p>
          <a:p>
            <a:pPr marL="742950" lvl="1" indent="-285750">
              <a:buFontTx/>
              <a:buChar char="-"/>
            </a:pPr>
            <a:r>
              <a:rPr lang="en-US" dirty="0"/>
              <a:t>Interestingly, elementary schools in affluent suburban areas like Westchester, NY have no incentive to follow standards because their students test well anyhow. So their pedagogy has not changed much over the past two decades.</a:t>
            </a:r>
          </a:p>
          <a:p>
            <a:pPr marL="742950" lvl="1" indent="-285750">
              <a:buFontTx/>
              <a:buChar char="-"/>
            </a:pPr>
            <a:r>
              <a:rPr lang="en-US" dirty="0"/>
              <a:t>In those SAME wealthy areas and prep schools, they worship SATs, Aps because their students do well. So it is easier for them to maintain the test-prep slog in HS because that keeps parents happy. So the wealthy areas made big, bad bets at primary AND secondary levels---at primary they refuse to follow standards and at secondary they absolutely worship tests, quite the opposite response but for the same reason—that is what works best for their student populations.</a:t>
            </a:r>
          </a:p>
          <a:p>
            <a:endParaRPr lang="en-US" dirty="0"/>
          </a:p>
        </p:txBody>
      </p:sp>
    </p:spTree>
    <p:extLst>
      <p:ext uri="{BB962C8B-B14F-4D97-AF65-F5344CB8AC3E}">
        <p14:creationId xmlns:p14="http://schemas.microsoft.com/office/powerpoint/2010/main" val="3627003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241D35-5C46-45B9-9EE7-5AB17926D496}"/>
              </a:ext>
            </a:extLst>
          </p:cNvPr>
          <p:cNvSpPr/>
          <p:nvPr/>
        </p:nvSpPr>
        <p:spPr>
          <a:xfrm>
            <a:off x="3209364" y="2196353"/>
            <a:ext cx="3832411" cy="1232647"/>
          </a:xfrm>
          <a:prstGeom prst="rect">
            <a:avLst/>
          </a:prstGeom>
          <a:noFill/>
        </p:spPr>
        <p:txBody>
          <a:bodyPr wrap="square" lIns="91440" tIns="45720" rIns="91440" bIns="45720">
            <a:spAutoFit/>
          </a:bodyPr>
          <a:lstStyle/>
          <a:p>
            <a:pPr algn="ctr"/>
            <a:r>
              <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Trends</a:t>
            </a:r>
          </a:p>
        </p:txBody>
      </p:sp>
    </p:spTree>
    <p:extLst>
      <p:ext uri="{BB962C8B-B14F-4D97-AF65-F5344CB8AC3E}">
        <p14:creationId xmlns:p14="http://schemas.microsoft.com/office/powerpoint/2010/main" val="2882307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21839" y="4382620"/>
            <a:ext cx="6039410" cy="758123"/>
          </a:xfrm>
          <a:prstGeom prst="rect">
            <a:avLst/>
          </a:prstGeom>
        </p:spPr>
        <p:txBody>
          <a:bodyPr vert="horz" wrap="square" lIns="0" tIns="11206" rIns="0" bIns="0" rtlCol="0">
            <a:spAutoFit/>
          </a:bodyPr>
          <a:lstStyle/>
          <a:p>
            <a:pPr marL="11206" defTabSz="806867">
              <a:spcBef>
                <a:spcPts val="88"/>
              </a:spcBef>
            </a:pPr>
            <a:r>
              <a:rPr sz="4853" b="1" spc="146">
                <a:solidFill>
                  <a:srgbClr val="001E62"/>
                </a:solidFill>
                <a:latin typeface="Calibri"/>
                <a:cs typeface="Calibri"/>
              </a:rPr>
              <a:t>Personalized</a:t>
            </a:r>
            <a:r>
              <a:rPr sz="4853" b="1" spc="97">
                <a:solidFill>
                  <a:srgbClr val="001E62"/>
                </a:solidFill>
                <a:latin typeface="Calibri"/>
                <a:cs typeface="Calibri"/>
              </a:rPr>
              <a:t> </a:t>
            </a:r>
            <a:r>
              <a:rPr sz="4853" b="1" spc="168">
                <a:solidFill>
                  <a:srgbClr val="001E62"/>
                </a:solidFill>
                <a:latin typeface="Calibri"/>
                <a:cs typeface="Calibri"/>
              </a:rPr>
              <a:t>Learning</a:t>
            </a:r>
            <a:endParaRPr sz="4853">
              <a:solidFill>
                <a:prstClr val="black"/>
              </a:solidFill>
              <a:latin typeface="Calibri"/>
              <a:cs typeface="Calibri"/>
            </a:endParaRPr>
          </a:p>
        </p:txBody>
      </p:sp>
      <p:sp>
        <p:nvSpPr>
          <p:cNvPr id="3" name="object 3"/>
          <p:cNvSpPr/>
          <p:nvPr/>
        </p:nvSpPr>
        <p:spPr>
          <a:xfrm>
            <a:off x="8799425" y="337567"/>
            <a:ext cx="1404419" cy="365335"/>
          </a:xfrm>
          <a:prstGeom prst="rect">
            <a:avLst/>
          </a:prstGeom>
          <a:blipFill>
            <a:blip r:embed="rId3" cstate="print"/>
            <a:stretch>
              <a:fillRect/>
            </a:stretch>
          </a:blipFill>
        </p:spPr>
        <p:txBody>
          <a:bodyPr wrap="square" lIns="0" tIns="0" rIns="0" bIns="0" rtlCol="0"/>
          <a:lstStyle/>
          <a:p>
            <a:pPr defTabSz="806867"/>
            <a:endParaRPr sz="1588">
              <a:solidFill>
                <a:prstClr val="black"/>
              </a:solidFill>
              <a:latin typeface="Calibri"/>
            </a:endParaRPr>
          </a:p>
        </p:txBody>
      </p:sp>
      <p:sp>
        <p:nvSpPr>
          <p:cNvPr id="4" name="object 4"/>
          <p:cNvSpPr txBox="1"/>
          <p:nvPr/>
        </p:nvSpPr>
        <p:spPr>
          <a:xfrm>
            <a:off x="2421816" y="4976338"/>
            <a:ext cx="7642972" cy="1236964"/>
          </a:xfrm>
          <a:prstGeom prst="rect">
            <a:avLst/>
          </a:prstGeom>
        </p:spPr>
        <p:txBody>
          <a:bodyPr vert="horz" wrap="square" lIns="0" tIns="65554" rIns="0" bIns="0" rtlCol="0">
            <a:spAutoFit/>
          </a:bodyPr>
          <a:lstStyle/>
          <a:p>
            <a:pPr marR="49309" algn="r" defTabSz="806867">
              <a:spcBef>
                <a:spcPts val="516"/>
              </a:spcBef>
            </a:pPr>
            <a:r>
              <a:rPr sz="3662" b="1" spc="150" dirty="0">
                <a:solidFill>
                  <a:srgbClr val="001E62"/>
                </a:solidFill>
                <a:latin typeface="Calibri"/>
                <a:cs typeface="Calibri"/>
              </a:rPr>
              <a:t>and </a:t>
            </a:r>
            <a:r>
              <a:rPr sz="3662" b="1" spc="93" dirty="0">
                <a:solidFill>
                  <a:srgbClr val="001E62"/>
                </a:solidFill>
                <a:latin typeface="Calibri"/>
                <a:cs typeface="Calibri"/>
              </a:rPr>
              <a:t>the </a:t>
            </a:r>
            <a:r>
              <a:rPr sz="3662" b="1" spc="154" dirty="0">
                <a:solidFill>
                  <a:srgbClr val="001E62"/>
                </a:solidFill>
                <a:latin typeface="Calibri"/>
                <a:cs typeface="Calibri"/>
              </a:rPr>
              <a:t>Every </a:t>
            </a:r>
            <a:r>
              <a:rPr sz="3662" b="1" spc="128" dirty="0">
                <a:solidFill>
                  <a:srgbClr val="001E62"/>
                </a:solidFill>
                <a:latin typeface="Calibri"/>
                <a:cs typeface="Calibri"/>
              </a:rPr>
              <a:t>Student </a:t>
            </a:r>
            <a:r>
              <a:rPr sz="3662" b="1" spc="221" dirty="0">
                <a:solidFill>
                  <a:srgbClr val="001E62"/>
                </a:solidFill>
                <a:latin typeface="Calibri"/>
                <a:cs typeface="Calibri"/>
              </a:rPr>
              <a:t>Succeeds</a:t>
            </a:r>
            <a:r>
              <a:rPr sz="3662" b="1" spc="31" dirty="0">
                <a:solidFill>
                  <a:srgbClr val="001E62"/>
                </a:solidFill>
                <a:latin typeface="Calibri"/>
                <a:cs typeface="Calibri"/>
              </a:rPr>
              <a:t> </a:t>
            </a:r>
            <a:r>
              <a:rPr sz="3662" b="1" spc="180" dirty="0">
                <a:solidFill>
                  <a:srgbClr val="001E62"/>
                </a:solidFill>
                <a:latin typeface="Calibri"/>
                <a:cs typeface="Calibri"/>
              </a:rPr>
              <a:t>Act</a:t>
            </a:r>
            <a:endParaRPr sz="3662" dirty="0">
              <a:solidFill>
                <a:prstClr val="black"/>
              </a:solidFill>
              <a:latin typeface="Calibri"/>
              <a:cs typeface="Calibri"/>
            </a:endParaRPr>
          </a:p>
          <a:p>
            <a:pPr marR="4483" algn="r" defTabSz="806867">
              <a:spcBef>
                <a:spcPts val="224"/>
              </a:spcBef>
            </a:pPr>
            <a:r>
              <a:rPr sz="1897" spc="57" dirty="0">
                <a:solidFill>
                  <a:srgbClr val="C8102E"/>
                </a:solidFill>
                <a:latin typeface="Calibri"/>
                <a:cs typeface="Calibri"/>
              </a:rPr>
              <a:t>Mapping </a:t>
            </a:r>
            <a:r>
              <a:rPr sz="1897" spc="79" dirty="0">
                <a:solidFill>
                  <a:srgbClr val="C8102E"/>
                </a:solidFill>
                <a:latin typeface="Calibri"/>
                <a:cs typeface="Calibri"/>
              </a:rPr>
              <a:t>Emerging </a:t>
            </a:r>
            <a:r>
              <a:rPr sz="1897" spc="53" dirty="0">
                <a:solidFill>
                  <a:srgbClr val="C8102E"/>
                </a:solidFill>
                <a:latin typeface="Calibri"/>
                <a:cs typeface="Calibri"/>
              </a:rPr>
              <a:t>Trends </a:t>
            </a:r>
            <a:r>
              <a:rPr sz="1897" spc="-4" dirty="0">
                <a:solidFill>
                  <a:srgbClr val="C8102E"/>
                </a:solidFill>
                <a:latin typeface="Calibri"/>
                <a:cs typeface="Calibri"/>
              </a:rPr>
              <a:t>for </a:t>
            </a:r>
            <a:r>
              <a:rPr sz="1897" spc="62" dirty="0">
                <a:solidFill>
                  <a:srgbClr val="C8102E"/>
                </a:solidFill>
                <a:latin typeface="Calibri"/>
                <a:cs typeface="Calibri"/>
              </a:rPr>
              <a:t>Personalized </a:t>
            </a:r>
            <a:r>
              <a:rPr sz="1897" spc="66" dirty="0">
                <a:solidFill>
                  <a:srgbClr val="C8102E"/>
                </a:solidFill>
                <a:latin typeface="Calibri"/>
                <a:cs typeface="Calibri"/>
              </a:rPr>
              <a:t>Learning </a:t>
            </a:r>
            <a:r>
              <a:rPr sz="1897" spc="13" dirty="0">
                <a:solidFill>
                  <a:srgbClr val="C8102E"/>
                </a:solidFill>
                <a:latin typeface="Calibri"/>
                <a:cs typeface="Calibri"/>
              </a:rPr>
              <a:t>in </a:t>
            </a:r>
            <a:r>
              <a:rPr sz="1897" spc="49" dirty="0">
                <a:solidFill>
                  <a:srgbClr val="C8102E"/>
                </a:solidFill>
                <a:latin typeface="Calibri"/>
                <a:cs typeface="Calibri"/>
              </a:rPr>
              <a:t>State </a:t>
            </a:r>
            <a:r>
              <a:rPr sz="1897" spc="194" dirty="0">
                <a:solidFill>
                  <a:srgbClr val="C8102E"/>
                </a:solidFill>
                <a:latin typeface="Calibri"/>
                <a:cs typeface="Calibri"/>
              </a:rPr>
              <a:t>ESSA</a:t>
            </a:r>
            <a:r>
              <a:rPr sz="1897" spc="238" dirty="0">
                <a:solidFill>
                  <a:srgbClr val="C8102E"/>
                </a:solidFill>
                <a:latin typeface="Calibri"/>
                <a:cs typeface="Calibri"/>
              </a:rPr>
              <a:t> </a:t>
            </a:r>
            <a:r>
              <a:rPr sz="1897" spc="71" dirty="0">
                <a:solidFill>
                  <a:srgbClr val="C8102E"/>
                </a:solidFill>
                <a:latin typeface="Calibri"/>
                <a:cs typeface="Calibri"/>
              </a:rPr>
              <a:t>Plans</a:t>
            </a:r>
            <a:endParaRPr sz="1897" dirty="0">
              <a:solidFill>
                <a:prstClr val="black"/>
              </a:solidFill>
              <a:latin typeface="Calibri"/>
              <a:cs typeface="Calibri"/>
            </a:endParaRPr>
          </a:p>
          <a:p>
            <a:pPr marR="17370" algn="r" defTabSz="806867">
              <a:spcBef>
                <a:spcPts val="1222"/>
              </a:spcBef>
            </a:pPr>
            <a:r>
              <a:rPr sz="882" spc="13" dirty="0">
                <a:solidFill>
                  <a:srgbClr val="4D4D4F"/>
                </a:solidFill>
                <a:latin typeface="Calibri"/>
                <a:cs typeface="Calibri"/>
              </a:rPr>
              <a:t>March</a:t>
            </a:r>
            <a:r>
              <a:rPr sz="882" spc="-31" dirty="0">
                <a:solidFill>
                  <a:srgbClr val="4D4D4F"/>
                </a:solidFill>
                <a:latin typeface="Calibri"/>
                <a:cs typeface="Calibri"/>
              </a:rPr>
              <a:t> </a:t>
            </a:r>
            <a:r>
              <a:rPr sz="882" spc="18" dirty="0">
                <a:solidFill>
                  <a:srgbClr val="4D4D4F"/>
                </a:solidFill>
                <a:latin typeface="Calibri"/>
                <a:cs typeface="Calibri"/>
              </a:rPr>
              <a:t>2018</a:t>
            </a:r>
            <a:endParaRPr sz="882" dirty="0">
              <a:solidFill>
                <a:prstClr val="black"/>
              </a:solidFill>
              <a:latin typeface="Calibri"/>
              <a:cs typeface="Calibri"/>
            </a:endParaRPr>
          </a:p>
        </p:txBody>
      </p:sp>
      <p:sp>
        <p:nvSpPr>
          <p:cNvPr id="5" name="object 5"/>
          <p:cNvSpPr/>
          <p:nvPr/>
        </p:nvSpPr>
        <p:spPr>
          <a:xfrm>
            <a:off x="2432185" y="778087"/>
            <a:ext cx="6345570" cy="3788048"/>
          </a:xfrm>
          <a:prstGeom prst="rect">
            <a:avLst/>
          </a:prstGeom>
          <a:blipFill>
            <a:blip r:embed="rId4" cstate="print"/>
            <a:stretch>
              <a:fillRect/>
            </a:stretch>
          </a:blipFill>
        </p:spPr>
        <p:txBody>
          <a:bodyPr wrap="square" lIns="0" tIns="0" rIns="0" bIns="0" rtlCol="0"/>
          <a:lstStyle/>
          <a:p>
            <a:pPr defTabSz="806867"/>
            <a:endParaRPr sz="1588">
              <a:solidFill>
                <a:prstClr val="black"/>
              </a:solidFill>
              <a:latin typeface="Calibri"/>
            </a:endParaRPr>
          </a:p>
        </p:txBody>
      </p:sp>
      <p:sp>
        <p:nvSpPr>
          <p:cNvPr id="6" name="object 6"/>
          <p:cNvSpPr/>
          <p:nvPr/>
        </p:nvSpPr>
        <p:spPr>
          <a:xfrm>
            <a:off x="2162736" y="4598742"/>
            <a:ext cx="109257" cy="1956547"/>
          </a:xfrm>
          <a:custGeom>
            <a:avLst/>
            <a:gdLst/>
            <a:ahLst/>
            <a:cxnLst/>
            <a:rect l="l" t="t" r="r" b="b"/>
            <a:pathLst>
              <a:path w="123825" h="2217420">
                <a:moveTo>
                  <a:pt x="0" y="2217407"/>
                </a:moveTo>
                <a:lnTo>
                  <a:pt x="123443" y="2217407"/>
                </a:lnTo>
                <a:lnTo>
                  <a:pt x="123443" y="0"/>
                </a:lnTo>
                <a:lnTo>
                  <a:pt x="0" y="0"/>
                </a:lnTo>
                <a:lnTo>
                  <a:pt x="0" y="2217407"/>
                </a:lnTo>
                <a:close/>
              </a:path>
            </a:pathLst>
          </a:custGeom>
          <a:solidFill>
            <a:srgbClr val="C8102E"/>
          </a:solidFill>
        </p:spPr>
        <p:txBody>
          <a:bodyPr wrap="square" lIns="0" tIns="0" rIns="0" bIns="0" rtlCol="0"/>
          <a:lstStyle/>
          <a:p>
            <a:pPr defTabSz="806867"/>
            <a:endParaRPr sz="1588">
              <a:solidFill>
                <a:prstClr val="black"/>
              </a:solidFill>
              <a:latin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61C286-57CE-4471-A83B-B544E97086C5}"/>
              </a:ext>
            </a:extLst>
          </p:cNvPr>
          <p:cNvSpPr txBox="1">
            <a:spLocks/>
          </p:cNvSpPr>
          <p:nvPr/>
        </p:nvSpPr>
        <p:spPr>
          <a:xfrm>
            <a:off x="1009909" y="2112581"/>
            <a:ext cx="3451730" cy="2399869"/>
          </a:xfrm>
          <a:prstGeom prst="rect">
            <a:avLst/>
          </a:prstGeom>
          <a:ln w="12700">
            <a:solidFill>
              <a:srgbClr val="FF0000"/>
            </a:solidFill>
          </a:ln>
          <a:effectLst>
            <a:outerShdw blurRad="76200" dist="12700" dir="8100000" sy="-23000" kx="800400" algn="br" rotWithShape="0">
              <a:prstClr val="black">
                <a:alpha val="20000"/>
              </a:prstClr>
            </a:outerShdw>
          </a:effectLst>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i="1"/>
              <a:t>What is Every Student Succeeds Act (ESSA)?</a:t>
            </a:r>
          </a:p>
        </p:txBody>
      </p:sp>
      <p:sp>
        <p:nvSpPr>
          <p:cNvPr id="5" name="Content Placeholder 2">
            <a:extLst>
              <a:ext uri="{FF2B5EF4-FFF2-40B4-BE49-F238E27FC236}">
                <a16:creationId xmlns:a16="http://schemas.microsoft.com/office/drawing/2014/main" id="{F730DF40-A898-492D-9D66-583C1AD6BA28}"/>
              </a:ext>
            </a:extLst>
          </p:cNvPr>
          <p:cNvSpPr txBox="1">
            <a:spLocks/>
          </p:cNvSpPr>
          <p:nvPr/>
        </p:nvSpPr>
        <p:spPr>
          <a:xfrm>
            <a:off x="5005195" y="875093"/>
            <a:ext cx="6281928" cy="5328303"/>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00" u="sng" dirty="0"/>
              <a:t>Important Education Events</a:t>
            </a:r>
          </a:p>
          <a:p>
            <a:r>
              <a:rPr lang="en-US" sz="1900" dirty="0"/>
              <a:t>1965 Elementary and Secondary Education Act-ESEA (1965) &gt;&gt;&gt; No Child Left Behind-NCLB (2001)  </a:t>
            </a:r>
          </a:p>
          <a:p>
            <a:pPr lvl="1"/>
            <a:r>
              <a:rPr lang="en-US" sz="1600" dirty="0"/>
              <a:t>Established the federal government's expanded role in public education, and standardized tests.</a:t>
            </a:r>
          </a:p>
          <a:p>
            <a:pPr marL="457200" lvl="1" indent="0">
              <a:buNone/>
            </a:pPr>
            <a:endParaRPr lang="en-US" sz="1600" dirty="0"/>
          </a:p>
          <a:p>
            <a:r>
              <a:rPr lang="en-US" sz="1900" b="1" dirty="0"/>
              <a:t>Every Student Succeeds Act</a:t>
            </a:r>
            <a:r>
              <a:rPr lang="en-US" sz="1900" dirty="0"/>
              <a:t> (</a:t>
            </a:r>
            <a:r>
              <a:rPr lang="en-US" sz="1900" b="1" dirty="0"/>
              <a:t>ESSA</a:t>
            </a:r>
            <a:r>
              <a:rPr lang="en-US" sz="1900" dirty="0"/>
              <a:t>) is a US law passed in December 2015 that governs the United States K-12 Public Education policy. </a:t>
            </a:r>
          </a:p>
          <a:p>
            <a:pPr lvl="1"/>
            <a:r>
              <a:rPr lang="en-US" sz="1500" dirty="0"/>
              <a:t>What happen – ESSA gave states greater flexibility to design K-12 education systems that align to their vision for student success. </a:t>
            </a:r>
          </a:p>
          <a:p>
            <a:pPr marL="0" indent="0">
              <a:buFont typeface="Arial" panose="020B0604020202020204" pitchFamily="34" charset="0"/>
              <a:buNone/>
            </a:pPr>
            <a:endParaRPr lang="en-US" sz="1900" dirty="0"/>
          </a:p>
        </p:txBody>
      </p:sp>
    </p:spTree>
    <p:extLst>
      <p:ext uri="{BB962C8B-B14F-4D97-AF65-F5344CB8AC3E}">
        <p14:creationId xmlns:p14="http://schemas.microsoft.com/office/powerpoint/2010/main" val="22699622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60269" y="1062452"/>
            <a:ext cx="7893424" cy="5238190"/>
          </a:xfrm>
          <a:custGeom>
            <a:avLst/>
            <a:gdLst/>
            <a:ahLst/>
            <a:cxnLst/>
            <a:rect l="l" t="t" r="r" b="b"/>
            <a:pathLst>
              <a:path w="8945880" h="5936615">
                <a:moveTo>
                  <a:pt x="0" y="5936259"/>
                </a:moveTo>
                <a:lnTo>
                  <a:pt x="8945626" y="5936259"/>
                </a:lnTo>
                <a:lnTo>
                  <a:pt x="8945626" y="0"/>
                </a:lnTo>
                <a:lnTo>
                  <a:pt x="0" y="0"/>
                </a:lnTo>
                <a:lnTo>
                  <a:pt x="0" y="5936259"/>
                </a:lnTo>
                <a:close/>
              </a:path>
            </a:pathLst>
          </a:custGeom>
          <a:solidFill>
            <a:srgbClr val="DCDDDE"/>
          </a:solidFill>
        </p:spPr>
        <p:txBody>
          <a:bodyPr wrap="square" lIns="0" tIns="0" rIns="0" bIns="0" rtlCol="0"/>
          <a:lstStyle/>
          <a:p>
            <a:endParaRPr sz="1588"/>
          </a:p>
        </p:txBody>
      </p:sp>
      <p:sp>
        <p:nvSpPr>
          <p:cNvPr id="3" name="object 3"/>
          <p:cNvSpPr/>
          <p:nvPr/>
        </p:nvSpPr>
        <p:spPr>
          <a:xfrm>
            <a:off x="2300411" y="1210493"/>
            <a:ext cx="2491628" cy="1459566"/>
          </a:xfrm>
          <a:custGeom>
            <a:avLst/>
            <a:gdLst/>
            <a:ahLst/>
            <a:cxnLst/>
            <a:rect l="l" t="t" r="r" b="b"/>
            <a:pathLst>
              <a:path w="2823845" h="1654175">
                <a:moveTo>
                  <a:pt x="0" y="1653768"/>
                </a:moveTo>
                <a:lnTo>
                  <a:pt x="2823514" y="1653768"/>
                </a:lnTo>
                <a:lnTo>
                  <a:pt x="2823514" y="0"/>
                </a:lnTo>
                <a:lnTo>
                  <a:pt x="0" y="0"/>
                </a:lnTo>
                <a:lnTo>
                  <a:pt x="0" y="1653768"/>
                </a:lnTo>
                <a:close/>
              </a:path>
            </a:pathLst>
          </a:custGeom>
          <a:solidFill>
            <a:srgbClr val="000000">
              <a:alpha val="26998"/>
            </a:srgbClr>
          </a:solidFill>
        </p:spPr>
        <p:txBody>
          <a:bodyPr wrap="square" lIns="0" tIns="0" rIns="0" bIns="0" rtlCol="0"/>
          <a:lstStyle/>
          <a:p>
            <a:endParaRPr sz="1588"/>
          </a:p>
        </p:txBody>
      </p:sp>
      <p:sp>
        <p:nvSpPr>
          <p:cNvPr id="4" name="object 4"/>
          <p:cNvSpPr/>
          <p:nvPr/>
        </p:nvSpPr>
        <p:spPr>
          <a:xfrm>
            <a:off x="2285058" y="1195141"/>
            <a:ext cx="2472018" cy="1440516"/>
          </a:xfrm>
          <a:custGeom>
            <a:avLst/>
            <a:gdLst/>
            <a:ahLst/>
            <a:cxnLst/>
            <a:rect l="l" t="t" r="r" b="b"/>
            <a:pathLst>
              <a:path w="2801620" h="1632585">
                <a:moveTo>
                  <a:pt x="0" y="1632191"/>
                </a:moveTo>
                <a:lnTo>
                  <a:pt x="2801112" y="1632191"/>
                </a:lnTo>
                <a:lnTo>
                  <a:pt x="2801112" y="0"/>
                </a:lnTo>
                <a:lnTo>
                  <a:pt x="0" y="0"/>
                </a:lnTo>
                <a:lnTo>
                  <a:pt x="0" y="1632191"/>
                </a:lnTo>
                <a:close/>
              </a:path>
            </a:pathLst>
          </a:custGeom>
          <a:solidFill>
            <a:srgbClr val="FFFFFF"/>
          </a:solidFill>
        </p:spPr>
        <p:txBody>
          <a:bodyPr wrap="square" lIns="0" tIns="0" rIns="0" bIns="0" rtlCol="0"/>
          <a:lstStyle/>
          <a:p>
            <a:endParaRPr sz="1588"/>
          </a:p>
        </p:txBody>
      </p:sp>
      <p:sp>
        <p:nvSpPr>
          <p:cNvPr id="5" name="object 5"/>
          <p:cNvSpPr/>
          <p:nvPr/>
        </p:nvSpPr>
        <p:spPr>
          <a:xfrm>
            <a:off x="2300411" y="2738885"/>
            <a:ext cx="2491628" cy="3476065"/>
          </a:xfrm>
          <a:custGeom>
            <a:avLst/>
            <a:gdLst/>
            <a:ahLst/>
            <a:cxnLst/>
            <a:rect l="l" t="t" r="r" b="b"/>
            <a:pathLst>
              <a:path w="2823845" h="3939540">
                <a:moveTo>
                  <a:pt x="0" y="3939476"/>
                </a:moveTo>
                <a:lnTo>
                  <a:pt x="2823514" y="3939476"/>
                </a:lnTo>
                <a:lnTo>
                  <a:pt x="2823514" y="0"/>
                </a:lnTo>
                <a:lnTo>
                  <a:pt x="0" y="0"/>
                </a:lnTo>
                <a:lnTo>
                  <a:pt x="0" y="3939476"/>
                </a:lnTo>
                <a:close/>
              </a:path>
            </a:pathLst>
          </a:custGeom>
          <a:solidFill>
            <a:srgbClr val="000000">
              <a:alpha val="26998"/>
            </a:srgbClr>
          </a:solidFill>
        </p:spPr>
        <p:txBody>
          <a:bodyPr wrap="square" lIns="0" tIns="0" rIns="0" bIns="0" rtlCol="0"/>
          <a:lstStyle/>
          <a:p>
            <a:endParaRPr sz="1588"/>
          </a:p>
        </p:txBody>
      </p:sp>
      <p:sp>
        <p:nvSpPr>
          <p:cNvPr id="6" name="object 6"/>
          <p:cNvSpPr/>
          <p:nvPr/>
        </p:nvSpPr>
        <p:spPr>
          <a:xfrm>
            <a:off x="2285058" y="2803868"/>
            <a:ext cx="2472018" cy="3378574"/>
          </a:xfrm>
          <a:custGeom>
            <a:avLst/>
            <a:gdLst/>
            <a:ahLst/>
            <a:cxnLst/>
            <a:rect l="l" t="t" r="r" b="b"/>
            <a:pathLst>
              <a:path w="2801620" h="3829050">
                <a:moveTo>
                  <a:pt x="0" y="3828465"/>
                </a:moveTo>
                <a:lnTo>
                  <a:pt x="2801112" y="3828465"/>
                </a:lnTo>
                <a:lnTo>
                  <a:pt x="2801112" y="0"/>
                </a:lnTo>
                <a:lnTo>
                  <a:pt x="0" y="0"/>
                </a:lnTo>
                <a:lnTo>
                  <a:pt x="0" y="3828465"/>
                </a:lnTo>
                <a:close/>
              </a:path>
            </a:pathLst>
          </a:custGeom>
          <a:solidFill>
            <a:srgbClr val="FFFFFF"/>
          </a:solidFill>
        </p:spPr>
        <p:txBody>
          <a:bodyPr wrap="square" lIns="0" tIns="0" rIns="0" bIns="0" rtlCol="0"/>
          <a:lstStyle/>
          <a:p>
            <a:endParaRPr sz="1588"/>
          </a:p>
        </p:txBody>
      </p:sp>
      <p:sp>
        <p:nvSpPr>
          <p:cNvPr id="7" name="object 7"/>
          <p:cNvSpPr/>
          <p:nvPr/>
        </p:nvSpPr>
        <p:spPr>
          <a:xfrm>
            <a:off x="4894349" y="1210482"/>
            <a:ext cx="2491628" cy="5002866"/>
          </a:xfrm>
          <a:custGeom>
            <a:avLst/>
            <a:gdLst/>
            <a:ahLst/>
            <a:cxnLst/>
            <a:rect l="l" t="t" r="r" b="b"/>
            <a:pathLst>
              <a:path w="2823845" h="5669915">
                <a:moveTo>
                  <a:pt x="0" y="5669457"/>
                </a:moveTo>
                <a:lnTo>
                  <a:pt x="2823514" y="5669457"/>
                </a:lnTo>
                <a:lnTo>
                  <a:pt x="2823514" y="0"/>
                </a:lnTo>
                <a:lnTo>
                  <a:pt x="0" y="0"/>
                </a:lnTo>
                <a:lnTo>
                  <a:pt x="0" y="5669457"/>
                </a:lnTo>
                <a:close/>
              </a:path>
            </a:pathLst>
          </a:custGeom>
          <a:solidFill>
            <a:srgbClr val="000000">
              <a:alpha val="26998"/>
            </a:srgbClr>
          </a:solidFill>
        </p:spPr>
        <p:txBody>
          <a:bodyPr wrap="square" lIns="0" tIns="0" rIns="0" bIns="0" rtlCol="0"/>
          <a:lstStyle/>
          <a:p>
            <a:endParaRPr sz="1588"/>
          </a:p>
        </p:txBody>
      </p:sp>
      <p:sp>
        <p:nvSpPr>
          <p:cNvPr id="8" name="object 8"/>
          <p:cNvSpPr/>
          <p:nvPr/>
        </p:nvSpPr>
        <p:spPr>
          <a:xfrm>
            <a:off x="4878996" y="1267654"/>
            <a:ext cx="2472018" cy="4912099"/>
          </a:xfrm>
          <a:custGeom>
            <a:avLst/>
            <a:gdLst/>
            <a:ahLst/>
            <a:cxnLst/>
            <a:rect l="l" t="t" r="r" b="b"/>
            <a:pathLst>
              <a:path w="2801620" h="5567045">
                <a:moveTo>
                  <a:pt x="0" y="5566765"/>
                </a:moveTo>
                <a:lnTo>
                  <a:pt x="2801112" y="5566765"/>
                </a:lnTo>
                <a:lnTo>
                  <a:pt x="2801112" y="0"/>
                </a:lnTo>
                <a:lnTo>
                  <a:pt x="0" y="0"/>
                </a:lnTo>
                <a:lnTo>
                  <a:pt x="0" y="5566765"/>
                </a:lnTo>
                <a:close/>
              </a:path>
            </a:pathLst>
          </a:custGeom>
          <a:solidFill>
            <a:srgbClr val="FFFFFF"/>
          </a:solidFill>
        </p:spPr>
        <p:txBody>
          <a:bodyPr wrap="square" lIns="0" tIns="0" rIns="0" bIns="0" rtlCol="0"/>
          <a:lstStyle/>
          <a:p>
            <a:endParaRPr sz="1588"/>
          </a:p>
        </p:txBody>
      </p:sp>
      <p:sp>
        <p:nvSpPr>
          <p:cNvPr id="9" name="object 9"/>
          <p:cNvSpPr/>
          <p:nvPr/>
        </p:nvSpPr>
        <p:spPr>
          <a:xfrm>
            <a:off x="3155229" y="5880533"/>
            <a:ext cx="667871" cy="0"/>
          </a:xfrm>
          <a:custGeom>
            <a:avLst/>
            <a:gdLst/>
            <a:ahLst/>
            <a:cxnLst/>
            <a:rect l="l" t="t" r="r" b="b"/>
            <a:pathLst>
              <a:path w="756919">
                <a:moveTo>
                  <a:pt x="0" y="0"/>
                </a:moveTo>
                <a:lnTo>
                  <a:pt x="756742" y="0"/>
                </a:lnTo>
              </a:path>
            </a:pathLst>
          </a:custGeom>
          <a:ln w="30480">
            <a:solidFill>
              <a:srgbClr val="E2E3E4"/>
            </a:solidFill>
          </a:ln>
        </p:spPr>
        <p:txBody>
          <a:bodyPr wrap="square" lIns="0" tIns="0" rIns="0" bIns="0" rtlCol="0"/>
          <a:lstStyle/>
          <a:p>
            <a:endParaRPr sz="1588"/>
          </a:p>
        </p:txBody>
      </p:sp>
      <p:sp>
        <p:nvSpPr>
          <p:cNvPr id="10" name="object 10"/>
          <p:cNvSpPr/>
          <p:nvPr/>
        </p:nvSpPr>
        <p:spPr>
          <a:xfrm>
            <a:off x="7492242" y="1210705"/>
            <a:ext cx="2491628" cy="2376768"/>
          </a:xfrm>
          <a:custGeom>
            <a:avLst/>
            <a:gdLst/>
            <a:ahLst/>
            <a:cxnLst/>
            <a:rect l="l" t="t" r="r" b="b"/>
            <a:pathLst>
              <a:path w="2823845" h="2693670">
                <a:moveTo>
                  <a:pt x="0" y="2693555"/>
                </a:moveTo>
                <a:lnTo>
                  <a:pt x="2823514" y="2693555"/>
                </a:lnTo>
                <a:lnTo>
                  <a:pt x="2823514" y="0"/>
                </a:lnTo>
                <a:lnTo>
                  <a:pt x="0" y="0"/>
                </a:lnTo>
                <a:lnTo>
                  <a:pt x="0" y="2693555"/>
                </a:lnTo>
                <a:close/>
              </a:path>
            </a:pathLst>
          </a:custGeom>
          <a:solidFill>
            <a:srgbClr val="000000">
              <a:alpha val="26998"/>
            </a:srgbClr>
          </a:solidFill>
        </p:spPr>
        <p:txBody>
          <a:bodyPr wrap="square" lIns="0" tIns="0" rIns="0" bIns="0" rtlCol="0"/>
          <a:lstStyle/>
          <a:p>
            <a:endParaRPr sz="1588"/>
          </a:p>
        </p:txBody>
      </p:sp>
      <p:sp>
        <p:nvSpPr>
          <p:cNvPr id="11" name="object 11"/>
          <p:cNvSpPr/>
          <p:nvPr/>
        </p:nvSpPr>
        <p:spPr>
          <a:xfrm>
            <a:off x="7476889" y="1267653"/>
            <a:ext cx="2472018" cy="2287121"/>
          </a:xfrm>
          <a:custGeom>
            <a:avLst/>
            <a:gdLst/>
            <a:ahLst/>
            <a:cxnLst/>
            <a:rect l="l" t="t" r="r" b="b"/>
            <a:pathLst>
              <a:path w="2801620" h="2592070">
                <a:moveTo>
                  <a:pt x="0" y="2591574"/>
                </a:moveTo>
                <a:lnTo>
                  <a:pt x="2801111" y="2591574"/>
                </a:lnTo>
                <a:lnTo>
                  <a:pt x="2801111" y="0"/>
                </a:lnTo>
                <a:lnTo>
                  <a:pt x="0" y="0"/>
                </a:lnTo>
                <a:lnTo>
                  <a:pt x="0" y="2591574"/>
                </a:lnTo>
                <a:close/>
              </a:path>
            </a:pathLst>
          </a:custGeom>
          <a:solidFill>
            <a:srgbClr val="FFFFFF"/>
          </a:solidFill>
        </p:spPr>
        <p:txBody>
          <a:bodyPr wrap="square" lIns="0" tIns="0" rIns="0" bIns="0" rtlCol="0"/>
          <a:lstStyle/>
          <a:p>
            <a:endParaRPr sz="1588"/>
          </a:p>
        </p:txBody>
      </p:sp>
      <p:sp>
        <p:nvSpPr>
          <p:cNvPr id="12" name="object 12"/>
          <p:cNvSpPr/>
          <p:nvPr/>
        </p:nvSpPr>
        <p:spPr>
          <a:xfrm>
            <a:off x="2661723" y="6015360"/>
            <a:ext cx="1004047" cy="148478"/>
          </a:xfrm>
          <a:custGeom>
            <a:avLst/>
            <a:gdLst/>
            <a:ahLst/>
            <a:cxnLst/>
            <a:rect l="l" t="t" r="r" b="b"/>
            <a:pathLst>
              <a:path w="1137920" h="168275">
                <a:moveTo>
                  <a:pt x="1137323" y="0"/>
                </a:moveTo>
                <a:lnTo>
                  <a:pt x="55448" y="0"/>
                </a:lnTo>
                <a:lnTo>
                  <a:pt x="33920" y="4375"/>
                </a:lnTo>
                <a:lnTo>
                  <a:pt x="16289" y="16290"/>
                </a:lnTo>
                <a:lnTo>
                  <a:pt x="4375" y="33925"/>
                </a:lnTo>
                <a:lnTo>
                  <a:pt x="0" y="55460"/>
                </a:lnTo>
                <a:lnTo>
                  <a:pt x="0" y="112763"/>
                </a:lnTo>
                <a:lnTo>
                  <a:pt x="4375" y="134296"/>
                </a:lnTo>
                <a:lnTo>
                  <a:pt x="16289" y="151926"/>
                </a:lnTo>
                <a:lnTo>
                  <a:pt x="33920" y="163837"/>
                </a:lnTo>
                <a:lnTo>
                  <a:pt x="55448" y="168211"/>
                </a:lnTo>
                <a:lnTo>
                  <a:pt x="1137323" y="168211"/>
                </a:lnTo>
                <a:lnTo>
                  <a:pt x="1126812" y="149220"/>
                </a:lnTo>
                <a:lnTo>
                  <a:pt x="1119004" y="128714"/>
                </a:lnTo>
                <a:lnTo>
                  <a:pt x="1114143" y="106932"/>
                </a:lnTo>
                <a:lnTo>
                  <a:pt x="1112469" y="84112"/>
                </a:lnTo>
                <a:lnTo>
                  <a:pt x="1114143" y="61289"/>
                </a:lnTo>
                <a:lnTo>
                  <a:pt x="1119004" y="39503"/>
                </a:lnTo>
                <a:lnTo>
                  <a:pt x="1126812" y="18993"/>
                </a:lnTo>
                <a:lnTo>
                  <a:pt x="1137323" y="0"/>
                </a:lnTo>
                <a:close/>
              </a:path>
            </a:pathLst>
          </a:custGeom>
          <a:solidFill>
            <a:srgbClr val="FFFFFF"/>
          </a:solidFill>
        </p:spPr>
        <p:txBody>
          <a:bodyPr wrap="square" lIns="0" tIns="0" rIns="0" bIns="0" rtlCol="0"/>
          <a:lstStyle/>
          <a:p>
            <a:endParaRPr sz="1588"/>
          </a:p>
        </p:txBody>
      </p:sp>
      <p:sp>
        <p:nvSpPr>
          <p:cNvPr id="13" name="object 13"/>
          <p:cNvSpPr/>
          <p:nvPr/>
        </p:nvSpPr>
        <p:spPr>
          <a:xfrm>
            <a:off x="3648116" y="6016748"/>
            <a:ext cx="16249" cy="36979"/>
          </a:xfrm>
          <a:custGeom>
            <a:avLst/>
            <a:gdLst/>
            <a:ahLst/>
            <a:cxnLst/>
            <a:rect l="l" t="t" r="r" b="b"/>
            <a:pathLst>
              <a:path w="18414" h="41909">
                <a:moveTo>
                  <a:pt x="18402" y="0"/>
                </a:moveTo>
                <a:lnTo>
                  <a:pt x="12699" y="9804"/>
                </a:lnTo>
                <a:lnTo>
                  <a:pt x="7710" y="20050"/>
                </a:lnTo>
                <a:lnTo>
                  <a:pt x="3466" y="30700"/>
                </a:lnTo>
                <a:lnTo>
                  <a:pt x="0" y="41719"/>
                </a:lnTo>
                <a:lnTo>
                  <a:pt x="3487" y="30694"/>
                </a:lnTo>
                <a:lnTo>
                  <a:pt x="7720" y="20045"/>
                </a:lnTo>
                <a:lnTo>
                  <a:pt x="12702" y="9803"/>
                </a:lnTo>
                <a:lnTo>
                  <a:pt x="18402" y="0"/>
                </a:lnTo>
                <a:close/>
              </a:path>
            </a:pathLst>
          </a:custGeom>
          <a:solidFill>
            <a:srgbClr val="DCDDDE"/>
          </a:solidFill>
        </p:spPr>
        <p:txBody>
          <a:bodyPr wrap="square" lIns="0" tIns="0" rIns="0" bIns="0" rtlCol="0"/>
          <a:lstStyle/>
          <a:p>
            <a:endParaRPr sz="1588"/>
          </a:p>
        </p:txBody>
      </p:sp>
      <p:sp>
        <p:nvSpPr>
          <p:cNvPr id="14" name="object 14"/>
          <p:cNvSpPr/>
          <p:nvPr/>
        </p:nvSpPr>
        <p:spPr>
          <a:xfrm>
            <a:off x="2662919" y="6034459"/>
            <a:ext cx="1123390" cy="0"/>
          </a:xfrm>
          <a:custGeom>
            <a:avLst/>
            <a:gdLst/>
            <a:ahLst/>
            <a:cxnLst/>
            <a:rect l="l" t="t" r="r" b="b"/>
            <a:pathLst>
              <a:path w="1273175">
                <a:moveTo>
                  <a:pt x="0" y="0"/>
                </a:moveTo>
                <a:lnTo>
                  <a:pt x="1272781" y="0"/>
                </a:lnTo>
              </a:path>
            </a:pathLst>
          </a:custGeom>
          <a:ln w="43281">
            <a:solidFill>
              <a:srgbClr val="DCDDDE"/>
            </a:solidFill>
          </a:ln>
        </p:spPr>
        <p:txBody>
          <a:bodyPr wrap="square" lIns="0" tIns="0" rIns="0" bIns="0" rtlCol="0"/>
          <a:lstStyle/>
          <a:p>
            <a:endParaRPr sz="1588"/>
          </a:p>
        </p:txBody>
      </p:sp>
      <p:sp>
        <p:nvSpPr>
          <p:cNvPr id="15" name="object 15"/>
          <p:cNvSpPr/>
          <p:nvPr/>
        </p:nvSpPr>
        <p:spPr>
          <a:xfrm>
            <a:off x="2643586" y="5998563"/>
            <a:ext cx="1219760" cy="183776"/>
          </a:xfrm>
          <a:custGeom>
            <a:avLst/>
            <a:gdLst/>
            <a:ahLst/>
            <a:cxnLst/>
            <a:rect l="l" t="t" r="r" b="b"/>
            <a:pathLst>
              <a:path w="1382395" h="208279">
                <a:moveTo>
                  <a:pt x="1272120" y="0"/>
                </a:moveTo>
                <a:lnTo>
                  <a:pt x="91109" y="0"/>
                </a:lnTo>
                <a:lnTo>
                  <a:pt x="55678" y="6535"/>
                </a:lnTo>
                <a:lnTo>
                  <a:pt x="26714" y="24347"/>
                </a:lnTo>
                <a:lnTo>
                  <a:pt x="7170" y="50743"/>
                </a:lnTo>
                <a:lnTo>
                  <a:pt x="0" y="83032"/>
                </a:lnTo>
                <a:lnTo>
                  <a:pt x="0" y="124815"/>
                </a:lnTo>
                <a:lnTo>
                  <a:pt x="7170" y="157089"/>
                </a:lnTo>
                <a:lnTo>
                  <a:pt x="26714" y="183478"/>
                </a:lnTo>
                <a:lnTo>
                  <a:pt x="55678" y="201287"/>
                </a:lnTo>
                <a:lnTo>
                  <a:pt x="91109" y="207822"/>
                </a:lnTo>
                <a:lnTo>
                  <a:pt x="1359268" y="207822"/>
                </a:lnTo>
                <a:lnTo>
                  <a:pt x="1368050" y="206204"/>
                </a:lnTo>
                <a:lnTo>
                  <a:pt x="1375224" y="201793"/>
                </a:lnTo>
                <a:lnTo>
                  <a:pt x="1380061" y="195253"/>
                </a:lnTo>
                <a:lnTo>
                  <a:pt x="1381836" y="187248"/>
                </a:lnTo>
                <a:lnTo>
                  <a:pt x="1380061" y="179238"/>
                </a:lnTo>
                <a:lnTo>
                  <a:pt x="1375224" y="172699"/>
                </a:lnTo>
                <a:lnTo>
                  <a:pt x="1368050" y="168291"/>
                </a:lnTo>
                <a:lnTo>
                  <a:pt x="1359268" y="166674"/>
                </a:lnTo>
                <a:lnTo>
                  <a:pt x="91109" y="166674"/>
                </a:lnTo>
                <a:lnTo>
                  <a:pt x="73236" y="163379"/>
                </a:lnTo>
                <a:lnTo>
                  <a:pt x="58629" y="154398"/>
                </a:lnTo>
                <a:lnTo>
                  <a:pt x="48775" y="141091"/>
                </a:lnTo>
                <a:lnTo>
                  <a:pt x="45161" y="124815"/>
                </a:lnTo>
                <a:lnTo>
                  <a:pt x="45161" y="83032"/>
                </a:lnTo>
                <a:lnTo>
                  <a:pt x="48775" y="66736"/>
                </a:lnTo>
                <a:lnTo>
                  <a:pt x="58629" y="53422"/>
                </a:lnTo>
                <a:lnTo>
                  <a:pt x="73236" y="44442"/>
                </a:lnTo>
                <a:lnTo>
                  <a:pt x="91109" y="41148"/>
                </a:lnTo>
                <a:lnTo>
                  <a:pt x="1272120" y="41148"/>
                </a:lnTo>
                <a:lnTo>
                  <a:pt x="1280903" y="39533"/>
                </a:lnTo>
                <a:lnTo>
                  <a:pt x="1288076" y="35129"/>
                </a:lnTo>
                <a:lnTo>
                  <a:pt x="1292914" y="28594"/>
                </a:lnTo>
                <a:lnTo>
                  <a:pt x="1294688" y="20586"/>
                </a:lnTo>
                <a:lnTo>
                  <a:pt x="1292914" y="12569"/>
                </a:lnTo>
                <a:lnTo>
                  <a:pt x="1288076" y="6026"/>
                </a:lnTo>
                <a:lnTo>
                  <a:pt x="1280903" y="1616"/>
                </a:lnTo>
                <a:lnTo>
                  <a:pt x="1272120" y="0"/>
                </a:lnTo>
                <a:close/>
              </a:path>
            </a:pathLst>
          </a:custGeom>
          <a:solidFill>
            <a:srgbClr val="AC80AB"/>
          </a:solidFill>
        </p:spPr>
        <p:txBody>
          <a:bodyPr wrap="square" lIns="0" tIns="0" rIns="0" bIns="0" rtlCol="0"/>
          <a:lstStyle/>
          <a:p>
            <a:endParaRPr sz="1588"/>
          </a:p>
        </p:txBody>
      </p:sp>
      <p:sp>
        <p:nvSpPr>
          <p:cNvPr id="16" name="object 16"/>
          <p:cNvSpPr/>
          <p:nvPr/>
        </p:nvSpPr>
        <p:spPr>
          <a:xfrm>
            <a:off x="3465365" y="5646398"/>
            <a:ext cx="905435" cy="200025"/>
          </a:xfrm>
          <a:custGeom>
            <a:avLst/>
            <a:gdLst/>
            <a:ahLst/>
            <a:cxnLst/>
            <a:rect l="l" t="t" r="r" b="b"/>
            <a:pathLst>
              <a:path w="1026160" h="226695">
                <a:moveTo>
                  <a:pt x="1025728" y="0"/>
                </a:moveTo>
                <a:lnTo>
                  <a:pt x="54749" y="0"/>
                </a:lnTo>
                <a:lnTo>
                  <a:pt x="33491" y="4318"/>
                </a:lnTo>
                <a:lnTo>
                  <a:pt x="16082" y="16076"/>
                </a:lnTo>
                <a:lnTo>
                  <a:pt x="4320" y="33480"/>
                </a:lnTo>
                <a:lnTo>
                  <a:pt x="0" y="54737"/>
                </a:lnTo>
                <a:lnTo>
                  <a:pt x="0" y="171335"/>
                </a:lnTo>
                <a:lnTo>
                  <a:pt x="4320" y="192593"/>
                </a:lnTo>
                <a:lnTo>
                  <a:pt x="16082" y="210002"/>
                </a:lnTo>
                <a:lnTo>
                  <a:pt x="33491" y="221765"/>
                </a:lnTo>
                <a:lnTo>
                  <a:pt x="54749" y="226085"/>
                </a:lnTo>
                <a:lnTo>
                  <a:pt x="1025728" y="226085"/>
                </a:lnTo>
                <a:lnTo>
                  <a:pt x="1011589" y="200551"/>
                </a:lnTo>
                <a:lnTo>
                  <a:pt x="1001090" y="172988"/>
                </a:lnTo>
                <a:lnTo>
                  <a:pt x="994552" y="143712"/>
                </a:lnTo>
                <a:lnTo>
                  <a:pt x="992301" y="113042"/>
                </a:lnTo>
                <a:lnTo>
                  <a:pt x="994552" y="82365"/>
                </a:lnTo>
                <a:lnTo>
                  <a:pt x="1001090" y="53087"/>
                </a:lnTo>
                <a:lnTo>
                  <a:pt x="1011589" y="25526"/>
                </a:lnTo>
                <a:lnTo>
                  <a:pt x="1025728" y="0"/>
                </a:lnTo>
                <a:close/>
              </a:path>
            </a:pathLst>
          </a:custGeom>
          <a:solidFill>
            <a:srgbClr val="FFFFFF"/>
          </a:solidFill>
        </p:spPr>
        <p:txBody>
          <a:bodyPr wrap="square" lIns="0" tIns="0" rIns="0" bIns="0" rtlCol="0"/>
          <a:lstStyle/>
          <a:p>
            <a:endParaRPr sz="1588"/>
          </a:p>
        </p:txBody>
      </p:sp>
      <p:sp>
        <p:nvSpPr>
          <p:cNvPr id="17" name="object 17"/>
          <p:cNvSpPr/>
          <p:nvPr/>
        </p:nvSpPr>
        <p:spPr>
          <a:xfrm>
            <a:off x="4353293" y="5646936"/>
            <a:ext cx="16809" cy="33057"/>
          </a:xfrm>
          <a:custGeom>
            <a:avLst/>
            <a:gdLst/>
            <a:ahLst/>
            <a:cxnLst/>
            <a:rect l="l" t="t" r="r" b="b"/>
            <a:pathLst>
              <a:path w="19050" h="37464">
                <a:moveTo>
                  <a:pt x="19037" y="0"/>
                </a:moveTo>
                <a:lnTo>
                  <a:pt x="13571" y="8915"/>
                </a:lnTo>
                <a:lnTo>
                  <a:pt x="8577" y="18122"/>
                </a:lnTo>
                <a:lnTo>
                  <a:pt x="4047" y="27607"/>
                </a:lnTo>
                <a:lnTo>
                  <a:pt x="0" y="37350"/>
                </a:lnTo>
                <a:lnTo>
                  <a:pt x="4060" y="27607"/>
                </a:lnTo>
                <a:lnTo>
                  <a:pt x="8594" y="18122"/>
                </a:lnTo>
                <a:lnTo>
                  <a:pt x="13590" y="8915"/>
                </a:lnTo>
                <a:lnTo>
                  <a:pt x="19037" y="0"/>
                </a:lnTo>
                <a:close/>
              </a:path>
            </a:pathLst>
          </a:custGeom>
          <a:solidFill>
            <a:srgbClr val="DCDDDE"/>
          </a:solidFill>
        </p:spPr>
        <p:txBody>
          <a:bodyPr wrap="square" lIns="0" tIns="0" rIns="0" bIns="0" rtlCol="0"/>
          <a:lstStyle/>
          <a:p>
            <a:endParaRPr sz="1588"/>
          </a:p>
        </p:txBody>
      </p:sp>
      <p:sp>
        <p:nvSpPr>
          <p:cNvPr id="18" name="object 18"/>
          <p:cNvSpPr/>
          <p:nvPr/>
        </p:nvSpPr>
        <p:spPr>
          <a:xfrm>
            <a:off x="3467715" y="5663143"/>
            <a:ext cx="902634" cy="0"/>
          </a:xfrm>
          <a:custGeom>
            <a:avLst/>
            <a:gdLst/>
            <a:ahLst/>
            <a:cxnLst/>
            <a:rect l="l" t="t" r="r" b="b"/>
            <a:pathLst>
              <a:path w="1022985">
                <a:moveTo>
                  <a:pt x="0" y="0"/>
                </a:moveTo>
                <a:lnTo>
                  <a:pt x="1022667" y="0"/>
                </a:lnTo>
              </a:path>
            </a:pathLst>
          </a:custGeom>
          <a:ln w="37960">
            <a:solidFill>
              <a:srgbClr val="DCDDDE"/>
            </a:solidFill>
          </a:ln>
        </p:spPr>
        <p:txBody>
          <a:bodyPr wrap="square" lIns="0" tIns="0" rIns="0" bIns="0" rtlCol="0"/>
          <a:lstStyle/>
          <a:p>
            <a:endParaRPr sz="1588"/>
          </a:p>
        </p:txBody>
      </p:sp>
      <p:sp>
        <p:nvSpPr>
          <p:cNvPr id="19" name="object 19"/>
          <p:cNvSpPr/>
          <p:nvPr/>
        </p:nvSpPr>
        <p:spPr>
          <a:xfrm>
            <a:off x="3449443" y="5630477"/>
            <a:ext cx="937932" cy="231401"/>
          </a:xfrm>
          <a:custGeom>
            <a:avLst/>
            <a:gdLst/>
            <a:ahLst/>
            <a:cxnLst/>
            <a:rect l="l" t="t" r="r" b="b"/>
            <a:pathLst>
              <a:path w="1062989" h="262254">
                <a:moveTo>
                  <a:pt x="1044613" y="0"/>
                </a:moveTo>
                <a:lnTo>
                  <a:pt x="72783" y="0"/>
                </a:lnTo>
                <a:lnTo>
                  <a:pt x="44485" y="5727"/>
                </a:lnTo>
                <a:lnTo>
                  <a:pt x="21347" y="21337"/>
                </a:lnTo>
                <a:lnTo>
                  <a:pt x="5730" y="44475"/>
                </a:lnTo>
                <a:lnTo>
                  <a:pt x="0" y="72783"/>
                </a:lnTo>
                <a:lnTo>
                  <a:pt x="0" y="189369"/>
                </a:lnTo>
                <a:lnTo>
                  <a:pt x="5730" y="217682"/>
                </a:lnTo>
                <a:lnTo>
                  <a:pt x="21347" y="240828"/>
                </a:lnTo>
                <a:lnTo>
                  <a:pt x="44485" y="256447"/>
                </a:lnTo>
                <a:lnTo>
                  <a:pt x="72783" y="262178"/>
                </a:lnTo>
                <a:lnTo>
                  <a:pt x="1044613" y="262178"/>
                </a:lnTo>
                <a:lnTo>
                  <a:pt x="1051633" y="260760"/>
                </a:lnTo>
                <a:lnTo>
                  <a:pt x="1057370" y="256894"/>
                </a:lnTo>
                <a:lnTo>
                  <a:pt x="1061240" y="251157"/>
                </a:lnTo>
                <a:lnTo>
                  <a:pt x="1062659" y="244132"/>
                </a:lnTo>
                <a:lnTo>
                  <a:pt x="1061240" y="237111"/>
                </a:lnTo>
                <a:lnTo>
                  <a:pt x="1057370" y="231374"/>
                </a:lnTo>
                <a:lnTo>
                  <a:pt x="1051633" y="227505"/>
                </a:lnTo>
                <a:lnTo>
                  <a:pt x="1044613" y="226085"/>
                </a:lnTo>
                <a:lnTo>
                  <a:pt x="72783" y="226085"/>
                </a:lnTo>
                <a:lnTo>
                  <a:pt x="58508" y="223197"/>
                </a:lnTo>
                <a:lnTo>
                  <a:pt x="46840" y="215323"/>
                </a:lnTo>
                <a:lnTo>
                  <a:pt x="38968" y="203652"/>
                </a:lnTo>
                <a:lnTo>
                  <a:pt x="36080" y="189369"/>
                </a:lnTo>
                <a:lnTo>
                  <a:pt x="36080" y="72783"/>
                </a:lnTo>
                <a:lnTo>
                  <a:pt x="38968" y="58511"/>
                </a:lnTo>
                <a:lnTo>
                  <a:pt x="46840" y="46839"/>
                </a:lnTo>
                <a:lnTo>
                  <a:pt x="58508" y="38959"/>
                </a:lnTo>
                <a:lnTo>
                  <a:pt x="72783" y="36068"/>
                </a:lnTo>
                <a:lnTo>
                  <a:pt x="1044613" y="36068"/>
                </a:lnTo>
                <a:lnTo>
                  <a:pt x="1051633" y="34650"/>
                </a:lnTo>
                <a:lnTo>
                  <a:pt x="1057370" y="30786"/>
                </a:lnTo>
                <a:lnTo>
                  <a:pt x="1061240" y="25057"/>
                </a:lnTo>
                <a:lnTo>
                  <a:pt x="1062659" y="18046"/>
                </a:lnTo>
                <a:lnTo>
                  <a:pt x="1061240" y="11015"/>
                </a:lnTo>
                <a:lnTo>
                  <a:pt x="1057370" y="5280"/>
                </a:lnTo>
                <a:lnTo>
                  <a:pt x="1051633" y="1416"/>
                </a:lnTo>
                <a:lnTo>
                  <a:pt x="1044613" y="0"/>
                </a:lnTo>
                <a:close/>
              </a:path>
            </a:pathLst>
          </a:custGeom>
          <a:solidFill>
            <a:srgbClr val="FFB81C"/>
          </a:solidFill>
        </p:spPr>
        <p:txBody>
          <a:bodyPr wrap="square" lIns="0" tIns="0" rIns="0" bIns="0" rtlCol="0"/>
          <a:lstStyle/>
          <a:p>
            <a:endParaRPr sz="1588"/>
          </a:p>
        </p:txBody>
      </p:sp>
      <p:sp>
        <p:nvSpPr>
          <p:cNvPr id="20" name="object 20"/>
          <p:cNvSpPr/>
          <p:nvPr/>
        </p:nvSpPr>
        <p:spPr>
          <a:xfrm>
            <a:off x="3671351" y="5866464"/>
            <a:ext cx="14568" cy="24093"/>
          </a:xfrm>
          <a:custGeom>
            <a:avLst/>
            <a:gdLst/>
            <a:ahLst/>
            <a:cxnLst/>
            <a:rect l="l" t="t" r="r" b="b"/>
            <a:pathLst>
              <a:path w="16510" h="27304">
                <a:moveTo>
                  <a:pt x="15989" y="0"/>
                </a:moveTo>
                <a:lnTo>
                  <a:pt x="11266" y="6457"/>
                </a:lnTo>
                <a:lnTo>
                  <a:pt x="7015" y="13152"/>
                </a:lnTo>
                <a:lnTo>
                  <a:pt x="3254" y="20068"/>
                </a:lnTo>
                <a:lnTo>
                  <a:pt x="0" y="27190"/>
                </a:lnTo>
                <a:lnTo>
                  <a:pt x="3270" y="20063"/>
                </a:lnTo>
                <a:lnTo>
                  <a:pt x="7027" y="13147"/>
                </a:lnTo>
                <a:lnTo>
                  <a:pt x="11270" y="6455"/>
                </a:lnTo>
                <a:lnTo>
                  <a:pt x="15989" y="0"/>
                </a:lnTo>
                <a:close/>
              </a:path>
            </a:pathLst>
          </a:custGeom>
          <a:solidFill>
            <a:srgbClr val="DCDDDE"/>
          </a:solidFill>
        </p:spPr>
        <p:txBody>
          <a:bodyPr wrap="square" lIns="0" tIns="0" rIns="0" bIns="0" rtlCol="0"/>
          <a:lstStyle/>
          <a:p>
            <a:endParaRPr sz="1588"/>
          </a:p>
        </p:txBody>
      </p:sp>
      <p:sp>
        <p:nvSpPr>
          <p:cNvPr id="21" name="object 21"/>
          <p:cNvSpPr/>
          <p:nvPr/>
        </p:nvSpPr>
        <p:spPr>
          <a:xfrm>
            <a:off x="3137823" y="5853262"/>
            <a:ext cx="693644" cy="145676"/>
          </a:xfrm>
          <a:custGeom>
            <a:avLst/>
            <a:gdLst/>
            <a:ahLst/>
            <a:cxnLst/>
            <a:rect l="l" t="t" r="r" b="b"/>
            <a:pathLst>
              <a:path w="786130" h="165100">
                <a:moveTo>
                  <a:pt x="779995" y="0"/>
                </a:moveTo>
                <a:lnTo>
                  <a:pt x="55016" y="0"/>
                </a:lnTo>
                <a:lnTo>
                  <a:pt x="33625" y="4329"/>
                </a:lnTo>
                <a:lnTo>
                  <a:pt x="16135" y="16130"/>
                </a:lnTo>
                <a:lnTo>
                  <a:pt x="4331" y="33620"/>
                </a:lnTo>
                <a:lnTo>
                  <a:pt x="0" y="55016"/>
                </a:lnTo>
                <a:lnTo>
                  <a:pt x="0" y="109677"/>
                </a:lnTo>
                <a:lnTo>
                  <a:pt x="4331" y="131065"/>
                </a:lnTo>
                <a:lnTo>
                  <a:pt x="16135" y="148551"/>
                </a:lnTo>
                <a:lnTo>
                  <a:pt x="33625" y="160351"/>
                </a:lnTo>
                <a:lnTo>
                  <a:pt x="55016" y="164680"/>
                </a:lnTo>
                <a:lnTo>
                  <a:pt x="747420" y="164680"/>
                </a:lnTo>
                <a:lnTo>
                  <a:pt x="753529" y="158584"/>
                </a:lnTo>
                <a:lnTo>
                  <a:pt x="753529" y="143535"/>
                </a:lnTo>
                <a:lnTo>
                  <a:pt x="747420" y="137426"/>
                </a:lnTo>
                <a:lnTo>
                  <a:pt x="55016" y="137426"/>
                </a:lnTo>
                <a:lnTo>
                  <a:pt x="44231" y="135242"/>
                </a:lnTo>
                <a:lnTo>
                  <a:pt x="35413" y="129290"/>
                </a:lnTo>
                <a:lnTo>
                  <a:pt x="29463" y="120469"/>
                </a:lnTo>
                <a:lnTo>
                  <a:pt x="27279" y="109677"/>
                </a:lnTo>
                <a:lnTo>
                  <a:pt x="27279" y="55016"/>
                </a:lnTo>
                <a:lnTo>
                  <a:pt x="29463" y="44219"/>
                </a:lnTo>
                <a:lnTo>
                  <a:pt x="35413" y="35398"/>
                </a:lnTo>
                <a:lnTo>
                  <a:pt x="44231" y="29448"/>
                </a:lnTo>
                <a:lnTo>
                  <a:pt x="55016" y="27266"/>
                </a:lnTo>
                <a:lnTo>
                  <a:pt x="779995" y="27266"/>
                </a:lnTo>
                <a:lnTo>
                  <a:pt x="786117" y="21158"/>
                </a:lnTo>
                <a:lnTo>
                  <a:pt x="786117" y="6096"/>
                </a:lnTo>
                <a:lnTo>
                  <a:pt x="779995" y="0"/>
                </a:lnTo>
                <a:close/>
              </a:path>
            </a:pathLst>
          </a:custGeom>
          <a:solidFill>
            <a:srgbClr val="C8102E"/>
          </a:solidFill>
        </p:spPr>
        <p:txBody>
          <a:bodyPr wrap="square" lIns="0" tIns="0" rIns="0" bIns="0" rtlCol="0"/>
          <a:lstStyle/>
          <a:p>
            <a:endParaRPr sz="1588"/>
          </a:p>
        </p:txBody>
      </p:sp>
      <p:sp>
        <p:nvSpPr>
          <p:cNvPr id="22" name="object 22"/>
          <p:cNvSpPr/>
          <p:nvPr/>
        </p:nvSpPr>
        <p:spPr>
          <a:xfrm>
            <a:off x="7492242" y="3666744"/>
            <a:ext cx="2491628" cy="2547097"/>
          </a:xfrm>
          <a:custGeom>
            <a:avLst/>
            <a:gdLst/>
            <a:ahLst/>
            <a:cxnLst/>
            <a:rect l="l" t="t" r="r" b="b"/>
            <a:pathLst>
              <a:path w="2823845" h="2886709">
                <a:moveTo>
                  <a:pt x="0" y="0"/>
                </a:moveTo>
                <a:lnTo>
                  <a:pt x="2823527" y="0"/>
                </a:lnTo>
                <a:lnTo>
                  <a:pt x="2823527" y="2886265"/>
                </a:lnTo>
                <a:lnTo>
                  <a:pt x="0" y="2886265"/>
                </a:lnTo>
                <a:lnTo>
                  <a:pt x="0" y="0"/>
                </a:lnTo>
                <a:close/>
              </a:path>
            </a:pathLst>
          </a:custGeom>
          <a:solidFill>
            <a:srgbClr val="000000">
              <a:alpha val="26998"/>
            </a:srgbClr>
          </a:solidFill>
        </p:spPr>
        <p:txBody>
          <a:bodyPr wrap="square" lIns="0" tIns="0" rIns="0" bIns="0" rtlCol="0"/>
          <a:lstStyle/>
          <a:p>
            <a:endParaRPr sz="1588"/>
          </a:p>
        </p:txBody>
      </p:sp>
      <p:sp>
        <p:nvSpPr>
          <p:cNvPr id="23" name="object 23"/>
          <p:cNvSpPr/>
          <p:nvPr/>
        </p:nvSpPr>
        <p:spPr>
          <a:xfrm>
            <a:off x="7476889" y="3716890"/>
            <a:ext cx="2472018" cy="2463053"/>
          </a:xfrm>
          <a:custGeom>
            <a:avLst/>
            <a:gdLst/>
            <a:ahLst/>
            <a:cxnLst/>
            <a:rect l="l" t="t" r="r" b="b"/>
            <a:pathLst>
              <a:path w="2801620" h="2791459">
                <a:moveTo>
                  <a:pt x="0" y="2790952"/>
                </a:moveTo>
                <a:lnTo>
                  <a:pt x="2801111" y="2790952"/>
                </a:lnTo>
                <a:lnTo>
                  <a:pt x="2801111" y="0"/>
                </a:lnTo>
                <a:lnTo>
                  <a:pt x="0" y="0"/>
                </a:lnTo>
                <a:lnTo>
                  <a:pt x="0" y="2790952"/>
                </a:lnTo>
                <a:close/>
              </a:path>
            </a:pathLst>
          </a:custGeom>
          <a:solidFill>
            <a:srgbClr val="FFFFFF"/>
          </a:solidFill>
        </p:spPr>
        <p:txBody>
          <a:bodyPr wrap="square" lIns="0" tIns="0" rIns="0" bIns="0" rtlCol="0"/>
          <a:lstStyle/>
          <a:p>
            <a:endParaRPr sz="1588"/>
          </a:p>
        </p:txBody>
      </p:sp>
      <p:sp>
        <p:nvSpPr>
          <p:cNvPr id="24" name="object 24"/>
          <p:cNvSpPr/>
          <p:nvPr/>
        </p:nvSpPr>
        <p:spPr>
          <a:xfrm>
            <a:off x="2285059" y="1231397"/>
            <a:ext cx="2229410" cy="0"/>
          </a:xfrm>
          <a:custGeom>
            <a:avLst/>
            <a:gdLst/>
            <a:ahLst/>
            <a:cxnLst/>
            <a:rect l="l" t="t" r="r" b="b"/>
            <a:pathLst>
              <a:path w="2526665">
                <a:moveTo>
                  <a:pt x="0" y="0"/>
                </a:moveTo>
                <a:lnTo>
                  <a:pt x="2526182" y="0"/>
                </a:lnTo>
              </a:path>
            </a:pathLst>
          </a:custGeom>
          <a:ln w="82181">
            <a:solidFill>
              <a:srgbClr val="4CBAE8"/>
            </a:solidFill>
          </a:ln>
        </p:spPr>
        <p:txBody>
          <a:bodyPr wrap="square" lIns="0" tIns="0" rIns="0" bIns="0" rtlCol="0"/>
          <a:lstStyle/>
          <a:p>
            <a:endParaRPr sz="1588"/>
          </a:p>
        </p:txBody>
      </p:sp>
      <p:sp>
        <p:nvSpPr>
          <p:cNvPr id="25" name="object 25"/>
          <p:cNvSpPr/>
          <p:nvPr/>
        </p:nvSpPr>
        <p:spPr>
          <a:xfrm>
            <a:off x="4872116" y="1195141"/>
            <a:ext cx="2478741" cy="72838"/>
          </a:xfrm>
          <a:custGeom>
            <a:avLst/>
            <a:gdLst/>
            <a:ahLst/>
            <a:cxnLst/>
            <a:rect l="l" t="t" r="r" b="b"/>
            <a:pathLst>
              <a:path w="2809240" h="82550">
                <a:moveTo>
                  <a:pt x="0" y="82181"/>
                </a:moveTo>
                <a:lnTo>
                  <a:pt x="2808909" y="82181"/>
                </a:lnTo>
                <a:lnTo>
                  <a:pt x="2808909" y="0"/>
                </a:lnTo>
                <a:lnTo>
                  <a:pt x="0" y="0"/>
                </a:lnTo>
                <a:lnTo>
                  <a:pt x="0" y="82181"/>
                </a:lnTo>
                <a:close/>
              </a:path>
            </a:pathLst>
          </a:custGeom>
          <a:solidFill>
            <a:srgbClr val="B6E34C"/>
          </a:solidFill>
        </p:spPr>
        <p:txBody>
          <a:bodyPr wrap="square" lIns="0" tIns="0" rIns="0" bIns="0" rtlCol="0"/>
          <a:lstStyle/>
          <a:p>
            <a:endParaRPr sz="1588"/>
          </a:p>
        </p:txBody>
      </p:sp>
      <p:sp>
        <p:nvSpPr>
          <p:cNvPr id="26" name="object 26"/>
          <p:cNvSpPr/>
          <p:nvPr/>
        </p:nvSpPr>
        <p:spPr>
          <a:xfrm>
            <a:off x="2285058" y="2723533"/>
            <a:ext cx="2472018" cy="80682"/>
          </a:xfrm>
          <a:custGeom>
            <a:avLst/>
            <a:gdLst/>
            <a:ahLst/>
            <a:cxnLst/>
            <a:rect l="l" t="t" r="r" b="b"/>
            <a:pathLst>
              <a:path w="2801620" h="91439">
                <a:moveTo>
                  <a:pt x="0" y="91046"/>
                </a:moveTo>
                <a:lnTo>
                  <a:pt x="2801112" y="91046"/>
                </a:lnTo>
                <a:lnTo>
                  <a:pt x="2801112" y="0"/>
                </a:lnTo>
                <a:lnTo>
                  <a:pt x="0" y="0"/>
                </a:lnTo>
                <a:lnTo>
                  <a:pt x="0" y="91046"/>
                </a:lnTo>
                <a:close/>
              </a:path>
            </a:pathLst>
          </a:custGeom>
          <a:solidFill>
            <a:srgbClr val="AC80AB"/>
          </a:solidFill>
        </p:spPr>
        <p:txBody>
          <a:bodyPr wrap="square" lIns="0" tIns="0" rIns="0" bIns="0" rtlCol="0"/>
          <a:lstStyle/>
          <a:p>
            <a:endParaRPr sz="1588"/>
          </a:p>
        </p:txBody>
      </p:sp>
      <p:sp>
        <p:nvSpPr>
          <p:cNvPr id="27" name="object 27"/>
          <p:cNvSpPr/>
          <p:nvPr/>
        </p:nvSpPr>
        <p:spPr>
          <a:xfrm>
            <a:off x="7476889" y="1195141"/>
            <a:ext cx="2472018" cy="72838"/>
          </a:xfrm>
          <a:custGeom>
            <a:avLst/>
            <a:gdLst/>
            <a:ahLst/>
            <a:cxnLst/>
            <a:rect l="l" t="t" r="r" b="b"/>
            <a:pathLst>
              <a:path w="2801620" h="82550">
                <a:moveTo>
                  <a:pt x="0" y="82181"/>
                </a:moveTo>
                <a:lnTo>
                  <a:pt x="2801111" y="82181"/>
                </a:lnTo>
                <a:lnTo>
                  <a:pt x="2801111" y="0"/>
                </a:lnTo>
                <a:lnTo>
                  <a:pt x="0" y="0"/>
                </a:lnTo>
                <a:lnTo>
                  <a:pt x="0" y="82181"/>
                </a:lnTo>
                <a:close/>
              </a:path>
            </a:pathLst>
          </a:custGeom>
          <a:solidFill>
            <a:srgbClr val="E94C82"/>
          </a:solidFill>
        </p:spPr>
        <p:txBody>
          <a:bodyPr wrap="square" lIns="0" tIns="0" rIns="0" bIns="0" rtlCol="0"/>
          <a:lstStyle/>
          <a:p>
            <a:endParaRPr sz="1588"/>
          </a:p>
        </p:txBody>
      </p:sp>
      <p:sp>
        <p:nvSpPr>
          <p:cNvPr id="28" name="object 28"/>
          <p:cNvSpPr/>
          <p:nvPr/>
        </p:nvSpPr>
        <p:spPr>
          <a:xfrm>
            <a:off x="7476889" y="3644377"/>
            <a:ext cx="2472018" cy="72838"/>
          </a:xfrm>
          <a:custGeom>
            <a:avLst/>
            <a:gdLst/>
            <a:ahLst/>
            <a:cxnLst/>
            <a:rect l="l" t="t" r="r" b="b"/>
            <a:pathLst>
              <a:path w="2801620" h="82550">
                <a:moveTo>
                  <a:pt x="0" y="82181"/>
                </a:moveTo>
                <a:lnTo>
                  <a:pt x="2801111" y="82181"/>
                </a:lnTo>
                <a:lnTo>
                  <a:pt x="2801111" y="0"/>
                </a:lnTo>
                <a:lnTo>
                  <a:pt x="0" y="0"/>
                </a:lnTo>
                <a:lnTo>
                  <a:pt x="0" y="82181"/>
                </a:lnTo>
                <a:close/>
              </a:path>
            </a:pathLst>
          </a:custGeom>
          <a:solidFill>
            <a:srgbClr val="FF854C"/>
          </a:solidFill>
        </p:spPr>
        <p:txBody>
          <a:bodyPr wrap="square" lIns="0" tIns="0" rIns="0" bIns="0" rtlCol="0"/>
          <a:lstStyle/>
          <a:p>
            <a:endParaRPr sz="1588"/>
          </a:p>
        </p:txBody>
      </p:sp>
      <p:sp>
        <p:nvSpPr>
          <p:cNvPr id="29" name="object 29"/>
          <p:cNvSpPr txBox="1"/>
          <p:nvPr/>
        </p:nvSpPr>
        <p:spPr>
          <a:xfrm>
            <a:off x="4966598" y="1314198"/>
            <a:ext cx="1316691" cy="196834"/>
          </a:xfrm>
          <a:prstGeom prst="rect">
            <a:avLst/>
          </a:prstGeom>
        </p:spPr>
        <p:txBody>
          <a:bodyPr vert="horz" wrap="square" lIns="0" tIns="13447" rIns="0" bIns="0" rtlCol="0">
            <a:spAutoFit/>
          </a:bodyPr>
          <a:lstStyle/>
          <a:p>
            <a:pPr marL="11206">
              <a:spcBef>
                <a:spcPts val="106"/>
              </a:spcBef>
            </a:pPr>
            <a:r>
              <a:rPr sz="1191" b="1" spc="62">
                <a:solidFill>
                  <a:srgbClr val="8FB733"/>
                </a:solidFill>
                <a:latin typeface="Calibri"/>
                <a:cs typeface="Calibri"/>
              </a:rPr>
              <a:t>A</a:t>
            </a:r>
            <a:r>
              <a:rPr sz="1191" b="1" spc="146">
                <a:solidFill>
                  <a:srgbClr val="8FB733"/>
                </a:solidFill>
                <a:latin typeface="Calibri"/>
                <a:cs typeface="Calibri"/>
              </a:rPr>
              <a:t>CCOUN</a:t>
            </a:r>
            <a:r>
              <a:rPr sz="1191" b="1" spc="35">
                <a:solidFill>
                  <a:srgbClr val="8FB733"/>
                </a:solidFill>
                <a:latin typeface="Calibri"/>
                <a:cs typeface="Calibri"/>
              </a:rPr>
              <a:t>T</a:t>
            </a:r>
            <a:r>
              <a:rPr sz="1191" b="1" spc="93">
                <a:solidFill>
                  <a:srgbClr val="8FB733"/>
                </a:solidFill>
                <a:latin typeface="Calibri"/>
                <a:cs typeface="Calibri"/>
              </a:rPr>
              <a:t>ABILITY</a:t>
            </a:r>
            <a:endParaRPr sz="1191">
              <a:latin typeface="Calibri"/>
              <a:cs typeface="Calibri"/>
            </a:endParaRPr>
          </a:p>
        </p:txBody>
      </p:sp>
      <p:sp>
        <p:nvSpPr>
          <p:cNvPr id="30" name="object 30"/>
          <p:cNvSpPr/>
          <p:nvPr/>
        </p:nvSpPr>
        <p:spPr>
          <a:xfrm>
            <a:off x="8914581" y="3644373"/>
            <a:ext cx="1034370" cy="958151"/>
          </a:xfrm>
          <a:prstGeom prst="rect">
            <a:avLst/>
          </a:prstGeom>
          <a:blipFill>
            <a:blip r:embed="rId2" cstate="print"/>
            <a:stretch>
              <a:fillRect/>
            </a:stretch>
          </a:blipFill>
        </p:spPr>
        <p:txBody>
          <a:bodyPr wrap="square" lIns="0" tIns="0" rIns="0" bIns="0" rtlCol="0"/>
          <a:lstStyle/>
          <a:p>
            <a:endParaRPr sz="1588"/>
          </a:p>
        </p:txBody>
      </p:sp>
      <p:sp>
        <p:nvSpPr>
          <p:cNvPr id="31" name="object 31"/>
          <p:cNvSpPr/>
          <p:nvPr/>
        </p:nvSpPr>
        <p:spPr>
          <a:xfrm>
            <a:off x="3692646" y="2723529"/>
            <a:ext cx="1063979" cy="947418"/>
          </a:xfrm>
          <a:prstGeom prst="rect">
            <a:avLst/>
          </a:prstGeom>
          <a:blipFill>
            <a:blip r:embed="rId3" cstate="print"/>
            <a:stretch>
              <a:fillRect/>
            </a:stretch>
          </a:blipFill>
        </p:spPr>
        <p:txBody>
          <a:bodyPr wrap="square" lIns="0" tIns="0" rIns="0" bIns="0" rtlCol="0"/>
          <a:lstStyle/>
          <a:p>
            <a:endParaRPr sz="1588"/>
          </a:p>
        </p:txBody>
      </p:sp>
      <p:sp>
        <p:nvSpPr>
          <p:cNvPr id="32" name="object 32"/>
          <p:cNvSpPr/>
          <p:nvPr/>
        </p:nvSpPr>
        <p:spPr>
          <a:xfrm>
            <a:off x="6342507" y="1195359"/>
            <a:ext cx="1008529" cy="932329"/>
          </a:xfrm>
          <a:custGeom>
            <a:avLst/>
            <a:gdLst/>
            <a:ahLst/>
            <a:cxnLst/>
            <a:rect l="l" t="t" r="r" b="b"/>
            <a:pathLst>
              <a:path w="1143000" h="1056639">
                <a:moveTo>
                  <a:pt x="10350" y="0"/>
                </a:moveTo>
                <a:lnTo>
                  <a:pt x="5872" y="33960"/>
                </a:lnTo>
                <a:lnTo>
                  <a:pt x="2632" y="68294"/>
                </a:lnTo>
                <a:lnTo>
                  <a:pt x="663" y="102980"/>
                </a:lnTo>
                <a:lnTo>
                  <a:pt x="0" y="137998"/>
                </a:lnTo>
                <a:lnTo>
                  <a:pt x="1273" y="186785"/>
                </a:lnTo>
                <a:lnTo>
                  <a:pt x="5050" y="234908"/>
                </a:lnTo>
                <a:lnTo>
                  <a:pt x="11269" y="282305"/>
                </a:lnTo>
                <a:lnTo>
                  <a:pt x="19865" y="328912"/>
                </a:lnTo>
                <a:lnTo>
                  <a:pt x="30774" y="374665"/>
                </a:lnTo>
                <a:lnTo>
                  <a:pt x="43935" y="419501"/>
                </a:lnTo>
                <a:lnTo>
                  <a:pt x="59281" y="463356"/>
                </a:lnTo>
                <a:lnTo>
                  <a:pt x="76752" y="506167"/>
                </a:lnTo>
                <a:lnTo>
                  <a:pt x="96282" y="547870"/>
                </a:lnTo>
                <a:lnTo>
                  <a:pt x="117809" y="588402"/>
                </a:lnTo>
                <a:lnTo>
                  <a:pt x="141269" y="627700"/>
                </a:lnTo>
                <a:lnTo>
                  <a:pt x="166598" y="665699"/>
                </a:lnTo>
                <a:lnTo>
                  <a:pt x="193733" y="702337"/>
                </a:lnTo>
                <a:lnTo>
                  <a:pt x="222611" y="737550"/>
                </a:lnTo>
                <a:lnTo>
                  <a:pt x="253167" y="771274"/>
                </a:lnTo>
                <a:lnTo>
                  <a:pt x="285339" y="803446"/>
                </a:lnTo>
                <a:lnTo>
                  <a:pt x="319064" y="834003"/>
                </a:lnTo>
                <a:lnTo>
                  <a:pt x="354276" y="862881"/>
                </a:lnTo>
                <a:lnTo>
                  <a:pt x="390914" y="890016"/>
                </a:lnTo>
                <a:lnTo>
                  <a:pt x="428914" y="915345"/>
                </a:lnTo>
                <a:lnTo>
                  <a:pt x="468211" y="938805"/>
                </a:lnTo>
                <a:lnTo>
                  <a:pt x="508744" y="960331"/>
                </a:lnTo>
                <a:lnTo>
                  <a:pt x="550447" y="979862"/>
                </a:lnTo>
                <a:lnTo>
                  <a:pt x="593258" y="997332"/>
                </a:lnTo>
                <a:lnTo>
                  <a:pt x="637113" y="1012679"/>
                </a:lnTo>
                <a:lnTo>
                  <a:pt x="681949" y="1025839"/>
                </a:lnTo>
                <a:lnTo>
                  <a:pt x="727702" y="1036749"/>
                </a:lnTo>
                <a:lnTo>
                  <a:pt x="774308" y="1045345"/>
                </a:lnTo>
                <a:lnTo>
                  <a:pt x="821705" y="1051563"/>
                </a:lnTo>
                <a:lnTo>
                  <a:pt x="869829" y="1055341"/>
                </a:lnTo>
                <a:lnTo>
                  <a:pt x="918616" y="1056614"/>
                </a:lnTo>
                <a:lnTo>
                  <a:pt x="976095" y="1054826"/>
                </a:lnTo>
                <a:lnTo>
                  <a:pt x="1032627" y="1049545"/>
                </a:lnTo>
                <a:lnTo>
                  <a:pt x="1088116" y="1040900"/>
                </a:lnTo>
                <a:lnTo>
                  <a:pt x="1142466" y="1029017"/>
                </a:lnTo>
                <a:lnTo>
                  <a:pt x="10350" y="0"/>
                </a:lnTo>
                <a:close/>
              </a:path>
              <a:path w="1143000" h="1056639">
                <a:moveTo>
                  <a:pt x="1142466" y="0"/>
                </a:moveTo>
                <a:lnTo>
                  <a:pt x="10350" y="0"/>
                </a:lnTo>
                <a:lnTo>
                  <a:pt x="1142466" y="1029017"/>
                </a:lnTo>
                <a:lnTo>
                  <a:pt x="1142466" y="0"/>
                </a:lnTo>
                <a:close/>
              </a:path>
            </a:pathLst>
          </a:custGeom>
          <a:solidFill>
            <a:srgbClr val="97D700"/>
          </a:solidFill>
        </p:spPr>
        <p:txBody>
          <a:bodyPr wrap="square" lIns="0" tIns="0" rIns="0" bIns="0" rtlCol="0"/>
          <a:lstStyle/>
          <a:p>
            <a:endParaRPr sz="1588"/>
          </a:p>
        </p:txBody>
      </p:sp>
      <p:sp>
        <p:nvSpPr>
          <p:cNvPr id="33" name="object 33"/>
          <p:cNvSpPr/>
          <p:nvPr/>
        </p:nvSpPr>
        <p:spPr>
          <a:xfrm>
            <a:off x="6458992" y="1523439"/>
            <a:ext cx="731184" cy="445993"/>
          </a:xfrm>
          <a:custGeom>
            <a:avLst/>
            <a:gdLst/>
            <a:ahLst/>
            <a:cxnLst/>
            <a:rect l="l" t="t" r="r" b="b"/>
            <a:pathLst>
              <a:path w="828675" h="505460">
                <a:moveTo>
                  <a:pt x="807974" y="0"/>
                </a:moveTo>
                <a:lnTo>
                  <a:pt x="20421" y="0"/>
                </a:lnTo>
                <a:lnTo>
                  <a:pt x="13373" y="2616"/>
                </a:lnTo>
                <a:lnTo>
                  <a:pt x="2679" y="13347"/>
                </a:lnTo>
                <a:lnTo>
                  <a:pt x="0" y="20345"/>
                </a:lnTo>
                <a:lnTo>
                  <a:pt x="0" y="505409"/>
                </a:lnTo>
                <a:lnTo>
                  <a:pt x="828319" y="505409"/>
                </a:lnTo>
                <a:lnTo>
                  <a:pt x="828319" y="20345"/>
                </a:lnTo>
                <a:lnTo>
                  <a:pt x="825677" y="13347"/>
                </a:lnTo>
                <a:lnTo>
                  <a:pt x="820305" y="8000"/>
                </a:lnTo>
                <a:lnTo>
                  <a:pt x="814984" y="2616"/>
                </a:lnTo>
                <a:lnTo>
                  <a:pt x="807974" y="0"/>
                </a:lnTo>
                <a:close/>
              </a:path>
            </a:pathLst>
          </a:custGeom>
          <a:solidFill>
            <a:srgbClr val="4D4D4F"/>
          </a:solidFill>
        </p:spPr>
        <p:txBody>
          <a:bodyPr wrap="square" lIns="0" tIns="0" rIns="0" bIns="0" rtlCol="0"/>
          <a:lstStyle/>
          <a:p>
            <a:endParaRPr sz="1588"/>
          </a:p>
        </p:txBody>
      </p:sp>
      <p:sp>
        <p:nvSpPr>
          <p:cNvPr id="34" name="object 34"/>
          <p:cNvSpPr/>
          <p:nvPr/>
        </p:nvSpPr>
        <p:spPr>
          <a:xfrm>
            <a:off x="6814175" y="1531776"/>
            <a:ext cx="20731" cy="20731"/>
          </a:xfrm>
          <a:custGeom>
            <a:avLst/>
            <a:gdLst/>
            <a:ahLst/>
            <a:cxnLst/>
            <a:rect l="l" t="t" r="r" b="b"/>
            <a:pathLst>
              <a:path w="23495" h="23494">
                <a:moveTo>
                  <a:pt x="18046" y="0"/>
                </a:moveTo>
                <a:lnTo>
                  <a:pt x="5168" y="0"/>
                </a:lnTo>
                <a:lnTo>
                  <a:pt x="0" y="5168"/>
                </a:lnTo>
                <a:lnTo>
                  <a:pt x="0" y="18046"/>
                </a:lnTo>
                <a:lnTo>
                  <a:pt x="5168" y="23241"/>
                </a:lnTo>
                <a:lnTo>
                  <a:pt x="18046" y="23241"/>
                </a:lnTo>
                <a:lnTo>
                  <a:pt x="23228" y="18046"/>
                </a:lnTo>
                <a:lnTo>
                  <a:pt x="23228" y="5168"/>
                </a:lnTo>
                <a:lnTo>
                  <a:pt x="18046" y="0"/>
                </a:lnTo>
                <a:close/>
              </a:path>
            </a:pathLst>
          </a:custGeom>
          <a:solidFill>
            <a:srgbClr val="4D4D4F"/>
          </a:solidFill>
        </p:spPr>
        <p:txBody>
          <a:bodyPr wrap="square" lIns="0" tIns="0" rIns="0" bIns="0" rtlCol="0"/>
          <a:lstStyle/>
          <a:p>
            <a:endParaRPr sz="1588"/>
          </a:p>
        </p:txBody>
      </p:sp>
      <p:sp>
        <p:nvSpPr>
          <p:cNvPr id="35" name="object 35"/>
          <p:cNvSpPr/>
          <p:nvPr/>
        </p:nvSpPr>
        <p:spPr>
          <a:xfrm>
            <a:off x="6820011" y="1537659"/>
            <a:ext cx="8965" cy="8965"/>
          </a:xfrm>
          <a:custGeom>
            <a:avLst/>
            <a:gdLst/>
            <a:ahLst/>
            <a:cxnLst/>
            <a:rect l="l" t="t" r="r" b="b"/>
            <a:pathLst>
              <a:path w="10160" h="10160">
                <a:moveTo>
                  <a:pt x="7734" y="0"/>
                </a:moveTo>
                <a:lnTo>
                  <a:pt x="2285" y="0"/>
                </a:lnTo>
                <a:lnTo>
                  <a:pt x="0" y="2222"/>
                </a:lnTo>
                <a:lnTo>
                  <a:pt x="0" y="7683"/>
                </a:lnTo>
                <a:lnTo>
                  <a:pt x="2285" y="9880"/>
                </a:lnTo>
                <a:lnTo>
                  <a:pt x="7734" y="9880"/>
                </a:lnTo>
                <a:lnTo>
                  <a:pt x="9994" y="7683"/>
                </a:lnTo>
                <a:lnTo>
                  <a:pt x="9994" y="2222"/>
                </a:lnTo>
                <a:lnTo>
                  <a:pt x="7734" y="0"/>
                </a:lnTo>
                <a:close/>
              </a:path>
            </a:pathLst>
          </a:custGeom>
          <a:solidFill>
            <a:srgbClr val="FFFFFF"/>
          </a:solidFill>
        </p:spPr>
        <p:txBody>
          <a:bodyPr wrap="square" lIns="0" tIns="0" rIns="0" bIns="0" rtlCol="0"/>
          <a:lstStyle/>
          <a:p>
            <a:endParaRPr sz="1588"/>
          </a:p>
        </p:txBody>
      </p:sp>
      <p:sp>
        <p:nvSpPr>
          <p:cNvPr id="36" name="object 36"/>
          <p:cNvSpPr/>
          <p:nvPr/>
        </p:nvSpPr>
        <p:spPr>
          <a:xfrm>
            <a:off x="6497036" y="1560609"/>
            <a:ext cx="654984" cy="409015"/>
          </a:xfrm>
          <a:custGeom>
            <a:avLst/>
            <a:gdLst/>
            <a:ahLst/>
            <a:cxnLst/>
            <a:rect l="l" t="t" r="r" b="b"/>
            <a:pathLst>
              <a:path w="742314" h="463550">
                <a:moveTo>
                  <a:pt x="742086" y="463270"/>
                </a:moveTo>
                <a:lnTo>
                  <a:pt x="0" y="463270"/>
                </a:lnTo>
                <a:lnTo>
                  <a:pt x="0" y="0"/>
                </a:lnTo>
                <a:lnTo>
                  <a:pt x="742086" y="0"/>
                </a:lnTo>
                <a:lnTo>
                  <a:pt x="742086" y="463270"/>
                </a:lnTo>
                <a:close/>
              </a:path>
            </a:pathLst>
          </a:custGeom>
          <a:solidFill>
            <a:srgbClr val="FFFFFF"/>
          </a:solidFill>
        </p:spPr>
        <p:txBody>
          <a:bodyPr wrap="square" lIns="0" tIns="0" rIns="0" bIns="0" rtlCol="0"/>
          <a:lstStyle/>
          <a:p>
            <a:endParaRPr sz="1588"/>
          </a:p>
        </p:txBody>
      </p:sp>
      <p:sp>
        <p:nvSpPr>
          <p:cNvPr id="37" name="object 37"/>
          <p:cNvSpPr/>
          <p:nvPr/>
        </p:nvSpPr>
        <p:spPr>
          <a:xfrm>
            <a:off x="6531662" y="1661698"/>
            <a:ext cx="271743" cy="152960"/>
          </a:xfrm>
          <a:custGeom>
            <a:avLst/>
            <a:gdLst/>
            <a:ahLst/>
            <a:cxnLst/>
            <a:rect l="l" t="t" r="r" b="b"/>
            <a:pathLst>
              <a:path w="307975" h="173355">
                <a:moveTo>
                  <a:pt x="307835" y="173164"/>
                </a:moveTo>
                <a:lnTo>
                  <a:pt x="0" y="173164"/>
                </a:lnTo>
                <a:lnTo>
                  <a:pt x="0" y="0"/>
                </a:lnTo>
                <a:lnTo>
                  <a:pt x="307835" y="0"/>
                </a:lnTo>
                <a:lnTo>
                  <a:pt x="307835" y="173164"/>
                </a:lnTo>
                <a:close/>
              </a:path>
            </a:pathLst>
          </a:custGeom>
          <a:solidFill>
            <a:srgbClr val="009CDE"/>
          </a:solidFill>
        </p:spPr>
        <p:txBody>
          <a:bodyPr wrap="square" lIns="0" tIns="0" rIns="0" bIns="0" rtlCol="0"/>
          <a:lstStyle/>
          <a:p>
            <a:endParaRPr sz="1588"/>
          </a:p>
        </p:txBody>
      </p:sp>
      <p:sp>
        <p:nvSpPr>
          <p:cNvPr id="38" name="object 38"/>
          <p:cNvSpPr/>
          <p:nvPr/>
        </p:nvSpPr>
        <p:spPr>
          <a:xfrm>
            <a:off x="6644118" y="1711084"/>
            <a:ext cx="47065" cy="54348"/>
          </a:xfrm>
          <a:custGeom>
            <a:avLst/>
            <a:gdLst/>
            <a:ahLst/>
            <a:cxnLst/>
            <a:rect l="l" t="t" r="r" b="b"/>
            <a:pathLst>
              <a:path w="53339" h="61594">
                <a:moveTo>
                  <a:pt x="0" y="0"/>
                </a:moveTo>
                <a:lnTo>
                  <a:pt x="0" y="61201"/>
                </a:lnTo>
                <a:lnTo>
                  <a:pt x="52959" y="30556"/>
                </a:lnTo>
                <a:lnTo>
                  <a:pt x="0" y="0"/>
                </a:lnTo>
                <a:close/>
              </a:path>
            </a:pathLst>
          </a:custGeom>
          <a:solidFill>
            <a:srgbClr val="FFFFFF"/>
          </a:solidFill>
        </p:spPr>
        <p:txBody>
          <a:bodyPr wrap="square" lIns="0" tIns="0" rIns="0" bIns="0" rtlCol="0"/>
          <a:lstStyle/>
          <a:p>
            <a:endParaRPr sz="1588"/>
          </a:p>
        </p:txBody>
      </p:sp>
      <p:sp>
        <p:nvSpPr>
          <p:cNvPr id="39" name="object 39"/>
          <p:cNvSpPr/>
          <p:nvPr/>
        </p:nvSpPr>
        <p:spPr>
          <a:xfrm>
            <a:off x="6844216" y="1693130"/>
            <a:ext cx="112059" cy="0"/>
          </a:xfrm>
          <a:custGeom>
            <a:avLst/>
            <a:gdLst/>
            <a:ahLst/>
            <a:cxnLst/>
            <a:rect l="l" t="t" r="r" b="b"/>
            <a:pathLst>
              <a:path w="127000">
                <a:moveTo>
                  <a:pt x="0" y="0"/>
                </a:moveTo>
                <a:lnTo>
                  <a:pt x="126746" y="0"/>
                </a:lnTo>
              </a:path>
            </a:pathLst>
          </a:custGeom>
          <a:ln w="71272">
            <a:solidFill>
              <a:srgbClr val="4D4D4F"/>
            </a:solidFill>
          </a:ln>
        </p:spPr>
        <p:txBody>
          <a:bodyPr wrap="square" lIns="0" tIns="0" rIns="0" bIns="0" rtlCol="0"/>
          <a:lstStyle/>
          <a:p>
            <a:endParaRPr sz="1588"/>
          </a:p>
        </p:txBody>
      </p:sp>
      <p:sp>
        <p:nvSpPr>
          <p:cNvPr id="40" name="object 40"/>
          <p:cNvSpPr/>
          <p:nvPr/>
        </p:nvSpPr>
        <p:spPr>
          <a:xfrm>
            <a:off x="6890536" y="1682062"/>
            <a:ext cx="19610" cy="22412"/>
          </a:xfrm>
          <a:custGeom>
            <a:avLst/>
            <a:gdLst/>
            <a:ahLst/>
            <a:cxnLst/>
            <a:rect l="l" t="t" r="r" b="b"/>
            <a:pathLst>
              <a:path w="22225" h="25400">
                <a:moveTo>
                  <a:pt x="0" y="0"/>
                </a:moveTo>
                <a:lnTo>
                  <a:pt x="0" y="25184"/>
                </a:lnTo>
                <a:lnTo>
                  <a:pt x="21793" y="12534"/>
                </a:lnTo>
                <a:lnTo>
                  <a:pt x="0" y="0"/>
                </a:lnTo>
                <a:close/>
              </a:path>
            </a:pathLst>
          </a:custGeom>
          <a:solidFill>
            <a:srgbClr val="DCDDDE"/>
          </a:solidFill>
        </p:spPr>
        <p:txBody>
          <a:bodyPr wrap="square" lIns="0" tIns="0" rIns="0" bIns="0" rtlCol="0"/>
          <a:lstStyle/>
          <a:p>
            <a:endParaRPr sz="1588"/>
          </a:p>
        </p:txBody>
      </p:sp>
      <p:sp>
        <p:nvSpPr>
          <p:cNvPr id="41" name="object 41"/>
          <p:cNvSpPr/>
          <p:nvPr/>
        </p:nvSpPr>
        <p:spPr>
          <a:xfrm>
            <a:off x="6844216" y="1782995"/>
            <a:ext cx="112059" cy="0"/>
          </a:xfrm>
          <a:custGeom>
            <a:avLst/>
            <a:gdLst/>
            <a:ahLst/>
            <a:cxnLst/>
            <a:rect l="l" t="t" r="r" b="b"/>
            <a:pathLst>
              <a:path w="127000">
                <a:moveTo>
                  <a:pt x="0" y="0"/>
                </a:moveTo>
                <a:lnTo>
                  <a:pt x="126746" y="0"/>
                </a:lnTo>
              </a:path>
            </a:pathLst>
          </a:custGeom>
          <a:ln w="71386">
            <a:solidFill>
              <a:srgbClr val="4D4D4F"/>
            </a:solidFill>
          </a:ln>
        </p:spPr>
        <p:txBody>
          <a:bodyPr wrap="square" lIns="0" tIns="0" rIns="0" bIns="0" rtlCol="0"/>
          <a:lstStyle/>
          <a:p>
            <a:endParaRPr sz="1588"/>
          </a:p>
        </p:txBody>
      </p:sp>
      <p:sp>
        <p:nvSpPr>
          <p:cNvPr id="42" name="object 42"/>
          <p:cNvSpPr/>
          <p:nvPr/>
        </p:nvSpPr>
        <p:spPr>
          <a:xfrm>
            <a:off x="6890536" y="1771889"/>
            <a:ext cx="19610" cy="22412"/>
          </a:xfrm>
          <a:custGeom>
            <a:avLst/>
            <a:gdLst/>
            <a:ahLst/>
            <a:cxnLst/>
            <a:rect l="l" t="t" r="r" b="b"/>
            <a:pathLst>
              <a:path w="22225" h="25400">
                <a:moveTo>
                  <a:pt x="0" y="0"/>
                </a:moveTo>
                <a:lnTo>
                  <a:pt x="0" y="25184"/>
                </a:lnTo>
                <a:lnTo>
                  <a:pt x="21793" y="12661"/>
                </a:lnTo>
                <a:lnTo>
                  <a:pt x="0" y="0"/>
                </a:lnTo>
                <a:close/>
              </a:path>
            </a:pathLst>
          </a:custGeom>
          <a:solidFill>
            <a:srgbClr val="DCDDDE"/>
          </a:solidFill>
        </p:spPr>
        <p:txBody>
          <a:bodyPr wrap="square" lIns="0" tIns="0" rIns="0" bIns="0" rtlCol="0"/>
          <a:lstStyle/>
          <a:p>
            <a:endParaRPr sz="1588"/>
          </a:p>
        </p:txBody>
      </p:sp>
      <p:sp>
        <p:nvSpPr>
          <p:cNvPr id="43" name="object 43"/>
          <p:cNvSpPr/>
          <p:nvPr/>
        </p:nvSpPr>
        <p:spPr>
          <a:xfrm>
            <a:off x="6844216" y="1872895"/>
            <a:ext cx="112059" cy="0"/>
          </a:xfrm>
          <a:custGeom>
            <a:avLst/>
            <a:gdLst/>
            <a:ahLst/>
            <a:cxnLst/>
            <a:rect l="l" t="t" r="r" b="b"/>
            <a:pathLst>
              <a:path w="127000">
                <a:moveTo>
                  <a:pt x="0" y="0"/>
                </a:moveTo>
                <a:lnTo>
                  <a:pt x="126746" y="0"/>
                </a:lnTo>
              </a:path>
            </a:pathLst>
          </a:custGeom>
          <a:ln w="71272">
            <a:solidFill>
              <a:srgbClr val="4D4D4F"/>
            </a:solidFill>
          </a:ln>
        </p:spPr>
        <p:txBody>
          <a:bodyPr wrap="square" lIns="0" tIns="0" rIns="0" bIns="0" rtlCol="0"/>
          <a:lstStyle/>
          <a:p>
            <a:endParaRPr sz="1588"/>
          </a:p>
        </p:txBody>
      </p:sp>
      <p:sp>
        <p:nvSpPr>
          <p:cNvPr id="44" name="object 44"/>
          <p:cNvSpPr/>
          <p:nvPr/>
        </p:nvSpPr>
        <p:spPr>
          <a:xfrm>
            <a:off x="6890536" y="1861820"/>
            <a:ext cx="19610" cy="22412"/>
          </a:xfrm>
          <a:custGeom>
            <a:avLst/>
            <a:gdLst/>
            <a:ahLst/>
            <a:cxnLst/>
            <a:rect l="l" t="t" r="r" b="b"/>
            <a:pathLst>
              <a:path w="22225" h="25400">
                <a:moveTo>
                  <a:pt x="0" y="0"/>
                </a:moveTo>
                <a:lnTo>
                  <a:pt x="0" y="25082"/>
                </a:lnTo>
                <a:lnTo>
                  <a:pt x="21793" y="12547"/>
                </a:lnTo>
                <a:lnTo>
                  <a:pt x="0" y="0"/>
                </a:lnTo>
                <a:close/>
              </a:path>
            </a:pathLst>
          </a:custGeom>
          <a:solidFill>
            <a:srgbClr val="DCDDDE"/>
          </a:solidFill>
        </p:spPr>
        <p:txBody>
          <a:bodyPr wrap="square" lIns="0" tIns="0" rIns="0" bIns="0" rtlCol="0"/>
          <a:lstStyle/>
          <a:p>
            <a:endParaRPr sz="1588"/>
          </a:p>
        </p:txBody>
      </p:sp>
      <p:sp>
        <p:nvSpPr>
          <p:cNvPr id="45" name="object 45"/>
          <p:cNvSpPr/>
          <p:nvPr/>
        </p:nvSpPr>
        <p:spPr>
          <a:xfrm>
            <a:off x="6978867" y="1702324"/>
            <a:ext cx="138393" cy="0"/>
          </a:xfrm>
          <a:custGeom>
            <a:avLst/>
            <a:gdLst/>
            <a:ahLst/>
            <a:cxnLst/>
            <a:rect l="l" t="t" r="r" b="b"/>
            <a:pathLst>
              <a:path w="156845">
                <a:moveTo>
                  <a:pt x="0" y="0"/>
                </a:moveTo>
                <a:lnTo>
                  <a:pt x="156768" y="0"/>
                </a:lnTo>
              </a:path>
            </a:pathLst>
          </a:custGeom>
          <a:ln w="8978">
            <a:solidFill>
              <a:srgbClr val="DCDDDE"/>
            </a:solidFill>
          </a:ln>
        </p:spPr>
        <p:txBody>
          <a:bodyPr wrap="square" lIns="0" tIns="0" rIns="0" bIns="0" rtlCol="0"/>
          <a:lstStyle/>
          <a:p>
            <a:endParaRPr sz="1588"/>
          </a:p>
        </p:txBody>
      </p:sp>
      <p:sp>
        <p:nvSpPr>
          <p:cNvPr id="46" name="object 46"/>
          <p:cNvSpPr/>
          <p:nvPr/>
        </p:nvSpPr>
        <p:spPr>
          <a:xfrm>
            <a:off x="6978867" y="1720663"/>
            <a:ext cx="138393" cy="0"/>
          </a:xfrm>
          <a:custGeom>
            <a:avLst/>
            <a:gdLst/>
            <a:ahLst/>
            <a:cxnLst/>
            <a:rect l="l" t="t" r="r" b="b"/>
            <a:pathLst>
              <a:path w="156845">
                <a:moveTo>
                  <a:pt x="0" y="0"/>
                </a:moveTo>
                <a:lnTo>
                  <a:pt x="156768" y="0"/>
                </a:lnTo>
              </a:path>
            </a:pathLst>
          </a:custGeom>
          <a:ln w="8889">
            <a:solidFill>
              <a:srgbClr val="DCDDDE"/>
            </a:solidFill>
          </a:ln>
        </p:spPr>
        <p:txBody>
          <a:bodyPr wrap="square" lIns="0" tIns="0" rIns="0" bIns="0" rtlCol="0"/>
          <a:lstStyle/>
          <a:p>
            <a:endParaRPr sz="1588"/>
          </a:p>
        </p:txBody>
      </p:sp>
      <p:sp>
        <p:nvSpPr>
          <p:cNvPr id="47" name="object 47"/>
          <p:cNvSpPr/>
          <p:nvPr/>
        </p:nvSpPr>
        <p:spPr>
          <a:xfrm>
            <a:off x="6978867" y="1683986"/>
            <a:ext cx="138393" cy="0"/>
          </a:xfrm>
          <a:custGeom>
            <a:avLst/>
            <a:gdLst/>
            <a:ahLst/>
            <a:cxnLst/>
            <a:rect l="l" t="t" r="r" b="b"/>
            <a:pathLst>
              <a:path w="156845">
                <a:moveTo>
                  <a:pt x="0" y="0"/>
                </a:moveTo>
                <a:lnTo>
                  <a:pt x="156768" y="0"/>
                </a:lnTo>
              </a:path>
            </a:pathLst>
          </a:custGeom>
          <a:ln w="8889">
            <a:solidFill>
              <a:srgbClr val="DCDDDE"/>
            </a:solidFill>
          </a:ln>
        </p:spPr>
        <p:txBody>
          <a:bodyPr wrap="square" lIns="0" tIns="0" rIns="0" bIns="0" rtlCol="0"/>
          <a:lstStyle/>
          <a:p>
            <a:endParaRPr sz="1588"/>
          </a:p>
        </p:txBody>
      </p:sp>
      <p:sp>
        <p:nvSpPr>
          <p:cNvPr id="48" name="object 48"/>
          <p:cNvSpPr/>
          <p:nvPr/>
        </p:nvSpPr>
        <p:spPr>
          <a:xfrm>
            <a:off x="6591905" y="1863689"/>
            <a:ext cx="211790" cy="0"/>
          </a:xfrm>
          <a:custGeom>
            <a:avLst/>
            <a:gdLst/>
            <a:ahLst/>
            <a:cxnLst/>
            <a:rect l="l" t="t" r="r" b="b"/>
            <a:pathLst>
              <a:path w="240029">
                <a:moveTo>
                  <a:pt x="0" y="0"/>
                </a:moveTo>
                <a:lnTo>
                  <a:pt x="239560" y="0"/>
                </a:lnTo>
              </a:path>
            </a:pathLst>
          </a:custGeom>
          <a:ln w="8978">
            <a:solidFill>
              <a:srgbClr val="DCDDDE"/>
            </a:solidFill>
          </a:ln>
        </p:spPr>
        <p:txBody>
          <a:bodyPr wrap="square" lIns="0" tIns="0" rIns="0" bIns="0" rtlCol="0"/>
          <a:lstStyle/>
          <a:p>
            <a:endParaRPr sz="1588"/>
          </a:p>
        </p:txBody>
      </p:sp>
      <p:sp>
        <p:nvSpPr>
          <p:cNvPr id="49" name="object 49"/>
          <p:cNvSpPr/>
          <p:nvPr/>
        </p:nvSpPr>
        <p:spPr>
          <a:xfrm>
            <a:off x="6531674" y="1845407"/>
            <a:ext cx="120463" cy="0"/>
          </a:xfrm>
          <a:custGeom>
            <a:avLst/>
            <a:gdLst/>
            <a:ahLst/>
            <a:cxnLst/>
            <a:rect l="l" t="t" r="r" b="b"/>
            <a:pathLst>
              <a:path w="136525">
                <a:moveTo>
                  <a:pt x="0" y="0"/>
                </a:moveTo>
                <a:lnTo>
                  <a:pt x="136461" y="0"/>
                </a:lnTo>
              </a:path>
            </a:pathLst>
          </a:custGeom>
          <a:ln w="8991">
            <a:solidFill>
              <a:srgbClr val="DCDDDE"/>
            </a:solidFill>
          </a:ln>
        </p:spPr>
        <p:txBody>
          <a:bodyPr wrap="square" lIns="0" tIns="0" rIns="0" bIns="0" rtlCol="0"/>
          <a:lstStyle/>
          <a:p>
            <a:endParaRPr sz="1588"/>
          </a:p>
        </p:txBody>
      </p:sp>
      <p:sp>
        <p:nvSpPr>
          <p:cNvPr id="50" name="object 50"/>
          <p:cNvSpPr/>
          <p:nvPr/>
        </p:nvSpPr>
        <p:spPr>
          <a:xfrm>
            <a:off x="6978867" y="1792151"/>
            <a:ext cx="138393" cy="0"/>
          </a:xfrm>
          <a:custGeom>
            <a:avLst/>
            <a:gdLst/>
            <a:ahLst/>
            <a:cxnLst/>
            <a:rect l="l" t="t" r="r" b="b"/>
            <a:pathLst>
              <a:path w="156845">
                <a:moveTo>
                  <a:pt x="0" y="0"/>
                </a:moveTo>
                <a:lnTo>
                  <a:pt x="156768" y="0"/>
                </a:lnTo>
              </a:path>
            </a:pathLst>
          </a:custGeom>
          <a:ln w="8978">
            <a:solidFill>
              <a:srgbClr val="DCDDDE"/>
            </a:solidFill>
          </a:ln>
        </p:spPr>
        <p:txBody>
          <a:bodyPr wrap="square" lIns="0" tIns="0" rIns="0" bIns="0" rtlCol="0"/>
          <a:lstStyle/>
          <a:p>
            <a:endParaRPr sz="1588"/>
          </a:p>
        </p:txBody>
      </p:sp>
      <p:sp>
        <p:nvSpPr>
          <p:cNvPr id="51" name="object 51"/>
          <p:cNvSpPr/>
          <p:nvPr/>
        </p:nvSpPr>
        <p:spPr>
          <a:xfrm>
            <a:off x="6978867" y="1810523"/>
            <a:ext cx="138393" cy="0"/>
          </a:xfrm>
          <a:custGeom>
            <a:avLst/>
            <a:gdLst/>
            <a:ahLst/>
            <a:cxnLst/>
            <a:rect l="l" t="t" r="r" b="b"/>
            <a:pathLst>
              <a:path w="156845">
                <a:moveTo>
                  <a:pt x="0" y="0"/>
                </a:moveTo>
                <a:lnTo>
                  <a:pt x="156768" y="0"/>
                </a:lnTo>
              </a:path>
            </a:pathLst>
          </a:custGeom>
          <a:ln w="8991">
            <a:solidFill>
              <a:srgbClr val="DCDDDE"/>
            </a:solidFill>
          </a:ln>
        </p:spPr>
        <p:txBody>
          <a:bodyPr wrap="square" lIns="0" tIns="0" rIns="0" bIns="0" rtlCol="0"/>
          <a:lstStyle/>
          <a:p>
            <a:endParaRPr sz="1588"/>
          </a:p>
        </p:txBody>
      </p:sp>
      <p:sp>
        <p:nvSpPr>
          <p:cNvPr id="52" name="object 52"/>
          <p:cNvSpPr/>
          <p:nvPr/>
        </p:nvSpPr>
        <p:spPr>
          <a:xfrm>
            <a:off x="6978867" y="1773874"/>
            <a:ext cx="138393" cy="0"/>
          </a:xfrm>
          <a:custGeom>
            <a:avLst/>
            <a:gdLst/>
            <a:ahLst/>
            <a:cxnLst/>
            <a:rect l="l" t="t" r="r" b="b"/>
            <a:pathLst>
              <a:path w="156845">
                <a:moveTo>
                  <a:pt x="0" y="0"/>
                </a:moveTo>
                <a:lnTo>
                  <a:pt x="156768" y="0"/>
                </a:lnTo>
              </a:path>
            </a:pathLst>
          </a:custGeom>
          <a:ln w="8978">
            <a:solidFill>
              <a:srgbClr val="DCDDDE"/>
            </a:solidFill>
          </a:ln>
        </p:spPr>
        <p:txBody>
          <a:bodyPr wrap="square" lIns="0" tIns="0" rIns="0" bIns="0" rtlCol="0"/>
          <a:lstStyle/>
          <a:p>
            <a:endParaRPr sz="1588"/>
          </a:p>
        </p:txBody>
      </p:sp>
      <p:sp>
        <p:nvSpPr>
          <p:cNvPr id="53" name="object 53"/>
          <p:cNvSpPr/>
          <p:nvPr/>
        </p:nvSpPr>
        <p:spPr>
          <a:xfrm>
            <a:off x="6978867" y="1755469"/>
            <a:ext cx="79001" cy="0"/>
          </a:xfrm>
          <a:custGeom>
            <a:avLst/>
            <a:gdLst/>
            <a:ahLst/>
            <a:cxnLst/>
            <a:rect l="l" t="t" r="r" b="b"/>
            <a:pathLst>
              <a:path w="89535">
                <a:moveTo>
                  <a:pt x="0" y="0"/>
                </a:moveTo>
                <a:lnTo>
                  <a:pt x="89293" y="0"/>
                </a:lnTo>
              </a:path>
            </a:pathLst>
          </a:custGeom>
          <a:ln w="8991">
            <a:solidFill>
              <a:srgbClr val="DCDDDE"/>
            </a:solidFill>
          </a:ln>
        </p:spPr>
        <p:txBody>
          <a:bodyPr wrap="square" lIns="0" tIns="0" rIns="0" bIns="0" rtlCol="0"/>
          <a:lstStyle/>
          <a:p>
            <a:endParaRPr sz="1588"/>
          </a:p>
        </p:txBody>
      </p:sp>
      <p:sp>
        <p:nvSpPr>
          <p:cNvPr id="54" name="object 54"/>
          <p:cNvSpPr/>
          <p:nvPr/>
        </p:nvSpPr>
        <p:spPr>
          <a:xfrm>
            <a:off x="6978867" y="1845407"/>
            <a:ext cx="79001" cy="0"/>
          </a:xfrm>
          <a:custGeom>
            <a:avLst/>
            <a:gdLst/>
            <a:ahLst/>
            <a:cxnLst/>
            <a:rect l="l" t="t" r="r" b="b"/>
            <a:pathLst>
              <a:path w="89535">
                <a:moveTo>
                  <a:pt x="0" y="0"/>
                </a:moveTo>
                <a:lnTo>
                  <a:pt x="89293" y="0"/>
                </a:lnTo>
              </a:path>
            </a:pathLst>
          </a:custGeom>
          <a:ln w="8991">
            <a:solidFill>
              <a:srgbClr val="DCDDDE"/>
            </a:solidFill>
          </a:ln>
        </p:spPr>
        <p:txBody>
          <a:bodyPr wrap="square" lIns="0" tIns="0" rIns="0" bIns="0" rtlCol="0"/>
          <a:lstStyle/>
          <a:p>
            <a:endParaRPr sz="1588"/>
          </a:p>
        </p:txBody>
      </p:sp>
      <p:sp>
        <p:nvSpPr>
          <p:cNvPr id="55" name="object 55"/>
          <p:cNvSpPr/>
          <p:nvPr/>
        </p:nvSpPr>
        <p:spPr>
          <a:xfrm>
            <a:off x="6531674" y="1613075"/>
            <a:ext cx="585507" cy="0"/>
          </a:xfrm>
          <a:custGeom>
            <a:avLst/>
            <a:gdLst/>
            <a:ahLst/>
            <a:cxnLst/>
            <a:rect l="l" t="t" r="r" b="b"/>
            <a:pathLst>
              <a:path w="663575">
                <a:moveTo>
                  <a:pt x="0" y="0"/>
                </a:moveTo>
                <a:lnTo>
                  <a:pt x="663575" y="0"/>
                </a:lnTo>
              </a:path>
            </a:pathLst>
          </a:custGeom>
          <a:ln w="35991">
            <a:solidFill>
              <a:srgbClr val="009CDE"/>
            </a:solidFill>
          </a:ln>
        </p:spPr>
        <p:txBody>
          <a:bodyPr wrap="square" lIns="0" tIns="0" rIns="0" bIns="0" rtlCol="0"/>
          <a:lstStyle/>
          <a:p>
            <a:endParaRPr sz="1588"/>
          </a:p>
        </p:txBody>
      </p:sp>
      <p:sp>
        <p:nvSpPr>
          <p:cNvPr id="56" name="object 56"/>
          <p:cNvSpPr/>
          <p:nvPr/>
        </p:nvSpPr>
        <p:spPr>
          <a:xfrm>
            <a:off x="6541008" y="1613030"/>
            <a:ext cx="283509" cy="0"/>
          </a:xfrm>
          <a:custGeom>
            <a:avLst/>
            <a:gdLst/>
            <a:ahLst/>
            <a:cxnLst/>
            <a:rect l="l" t="t" r="r" b="b"/>
            <a:pathLst>
              <a:path w="321310">
                <a:moveTo>
                  <a:pt x="0" y="0"/>
                </a:moveTo>
                <a:lnTo>
                  <a:pt x="321208" y="0"/>
                </a:lnTo>
              </a:path>
            </a:pathLst>
          </a:custGeom>
          <a:ln w="8991">
            <a:solidFill>
              <a:srgbClr val="FFFFFF"/>
            </a:solidFill>
          </a:ln>
        </p:spPr>
        <p:txBody>
          <a:bodyPr wrap="square" lIns="0" tIns="0" rIns="0" bIns="0" rtlCol="0"/>
          <a:lstStyle/>
          <a:p>
            <a:endParaRPr sz="1588"/>
          </a:p>
        </p:txBody>
      </p:sp>
      <p:sp>
        <p:nvSpPr>
          <p:cNvPr id="57" name="object 57"/>
          <p:cNvSpPr/>
          <p:nvPr/>
        </p:nvSpPr>
        <p:spPr>
          <a:xfrm>
            <a:off x="6375467" y="1983680"/>
            <a:ext cx="898151" cy="23532"/>
          </a:xfrm>
          <a:custGeom>
            <a:avLst/>
            <a:gdLst/>
            <a:ahLst/>
            <a:cxnLst/>
            <a:rect l="l" t="t" r="r" b="b"/>
            <a:pathLst>
              <a:path w="1017904" h="26669">
                <a:moveTo>
                  <a:pt x="0" y="26504"/>
                </a:moveTo>
                <a:lnTo>
                  <a:pt x="1017638" y="26504"/>
                </a:lnTo>
                <a:lnTo>
                  <a:pt x="1017638" y="0"/>
                </a:lnTo>
                <a:lnTo>
                  <a:pt x="0" y="0"/>
                </a:lnTo>
                <a:lnTo>
                  <a:pt x="0" y="26504"/>
                </a:lnTo>
                <a:close/>
              </a:path>
            </a:pathLst>
          </a:custGeom>
          <a:solidFill>
            <a:srgbClr val="A2A4A7"/>
          </a:solidFill>
        </p:spPr>
        <p:txBody>
          <a:bodyPr wrap="square" lIns="0" tIns="0" rIns="0" bIns="0" rtlCol="0"/>
          <a:lstStyle/>
          <a:p>
            <a:endParaRPr sz="1588"/>
          </a:p>
        </p:txBody>
      </p:sp>
      <p:sp>
        <p:nvSpPr>
          <p:cNvPr id="58" name="object 58"/>
          <p:cNvSpPr/>
          <p:nvPr/>
        </p:nvSpPr>
        <p:spPr>
          <a:xfrm>
            <a:off x="6375464" y="1969770"/>
            <a:ext cx="898151" cy="14007"/>
          </a:xfrm>
          <a:custGeom>
            <a:avLst/>
            <a:gdLst/>
            <a:ahLst/>
            <a:cxnLst/>
            <a:rect l="l" t="t" r="r" b="b"/>
            <a:pathLst>
              <a:path w="1017904" h="15875">
                <a:moveTo>
                  <a:pt x="0" y="15773"/>
                </a:moveTo>
                <a:lnTo>
                  <a:pt x="1017638" y="15773"/>
                </a:lnTo>
                <a:lnTo>
                  <a:pt x="1017638" y="0"/>
                </a:lnTo>
                <a:lnTo>
                  <a:pt x="0" y="0"/>
                </a:lnTo>
                <a:lnTo>
                  <a:pt x="0" y="15773"/>
                </a:lnTo>
                <a:close/>
              </a:path>
            </a:pathLst>
          </a:custGeom>
          <a:solidFill>
            <a:srgbClr val="FFFFFF"/>
          </a:solidFill>
        </p:spPr>
        <p:txBody>
          <a:bodyPr wrap="square" lIns="0" tIns="0" rIns="0" bIns="0" rtlCol="0"/>
          <a:lstStyle/>
          <a:p>
            <a:endParaRPr sz="1588"/>
          </a:p>
        </p:txBody>
      </p:sp>
      <p:sp>
        <p:nvSpPr>
          <p:cNvPr id="59" name="object 59"/>
          <p:cNvSpPr/>
          <p:nvPr/>
        </p:nvSpPr>
        <p:spPr>
          <a:xfrm>
            <a:off x="6746490" y="1973238"/>
            <a:ext cx="156322" cy="0"/>
          </a:xfrm>
          <a:custGeom>
            <a:avLst/>
            <a:gdLst/>
            <a:ahLst/>
            <a:cxnLst/>
            <a:rect l="l" t="t" r="r" b="b"/>
            <a:pathLst>
              <a:path w="177164">
                <a:moveTo>
                  <a:pt x="0" y="0"/>
                </a:moveTo>
                <a:lnTo>
                  <a:pt x="176644" y="0"/>
                </a:lnTo>
              </a:path>
            </a:pathLst>
          </a:custGeom>
          <a:ln w="7886">
            <a:solidFill>
              <a:srgbClr val="DCDDDE"/>
            </a:solidFill>
          </a:ln>
        </p:spPr>
        <p:txBody>
          <a:bodyPr wrap="square" lIns="0" tIns="0" rIns="0" bIns="0" rtlCol="0"/>
          <a:lstStyle/>
          <a:p>
            <a:endParaRPr sz="1588"/>
          </a:p>
        </p:txBody>
      </p:sp>
      <p:sp>
        <p:nvSpPr>
          <p:cNvPr id="60" name="object 60"/>
          <p:cNvSpPr/>
          <p:nvPr/>
        </p:nvSpPr>
        <p:spPr>
          <a:xfrm>
            <a:off x="6421227" y="1310364"/>
            <a:ext cx="192887" cy="155100"/>
          </a:xfrm>
          <a:prstGeom prst="rect">
            <a:avLst/>
          </a:prstGeom>
          <a:blipFill>
            <a:blip r:embed="rId4" cstate="print"/>
            <a:stretch>
              <a:fillRect/>
            </a:stretch>
          </a:blipFill>
        </p:spPr>
        <p:txBody>
          <a:bodyPr wrap="square" lIns="0" tIns="0" rIns="0" bIns="0" rtlCol="0"/>
          <a:lstStyle/>
          <a:p>
            <a:endParaRPr sz="1588"/>
          </a:p>
        </p:txBody>
      </p:sp>
      <p:sp>
        <p:nvSpPr>
          <p:cNvPr id="61" name="object 61"/>
          <p:cNvSpPr/>
          <p:nvPr/>
        </p:nvSpPr>
        <p:spPr>
          <a:xfrm>
            <a:off x="7003644" y="1267658"/>
            <a:ext cx="194275" cy="194261"/>
          </a:xfrm>
          <a:prstGeom prst="rect">
            <a:avLst/>
          </a:prstGeom>
          <a:blipFill>
            <a:blip r:embed="rId5" cstate="print"/>
            <a:stretch>
              <a:fillRect/>
            </a:stretch>
          </a:blipFill>
        </p:spPr>
        <p:txBody>
          <a:bodyPr wrap="square" lIns="0" tIns="0" rIns="0" bIns="0" rtlCol="0"/>
          <a:lstStyle/>
          <a:p>
            <a:endParaRPr sz="1588"/>
          </a:p>
        </p:txBody>
      </p:sp>
      <p:sp>
        <p:nvSpPr>
          <p:cNvPr id="62" name="object 62"/>
          <p:cNvSpPr/>
          <p:nvPr/>
        </p:nvSpPr>
        <p:spPr>
          <a:xfrm>
            <a:off x="7234357" y="1393078"/>
            <a:ext cx="80828" cy="125587"/>
          </a:xfrm>
          <a:prstGeom prst="rect">
            <a:avLst/>
          </a:prstGeom>
          <a:blipFill>
            <a:blip r:embed="rId6" cstate="print"/>
            <a:stretch>
              <a:fillRect/>
            </a:stretch>
          </a:blipFill>
        </p:spPr>
        <p:txBody>
          <a:bodyPr wrap="square" lIns="0" tIns="0" rIns="0" bIns="0" rtlCol="0"/>
          <a:lstStyle/>
          <a:p>
            <a:endParaRPr sz="1588"/>
          </a:p>
        </p:txBody>
      </p:sp>
      <p:sp>
        <p:nvSpPr>
          <p:cNvPr id="63" name="object 63"/>
          <p:cNvSpPr/>
          <p:nvPr/>
        </p:nvSpPr>
        <p:spPr>
          <a:xfrm>
            <a:off x="6949076" y="2036365"/>
            <a:ext cx="151705" cy="151705"/>
          </a:xfrm>
          <a:prstGeom prst="rect">
            <a:avLst/>
          </a:prstGeom>
          <a:blipFill>
            <a:blip r:embed="rId7" cstate="print"/>
            <a:stretch>
              <a:fillRect/>
            </a:stretch>
          </a:blipFill>
        </p:spPr>
        <p:txBody>
          <a:bodyPr wrap="square" lIns="0" tIns="0" rIns="0" bIns="0" rtlCol="0"/>
          <a:lstStyle/>
          <a:p>
            <a:endParaRPr sz="1588"/>
          </a:p>
        </p:txBody>
      </p:sp>
      <p:sp>
        <p:nvSpPr>
          <p:cNvPr id="64" name="object 64"/>
          <p:cNvSpPr txBox="1"/>
          <p:nvPr/>
        </p:nvSpPr>
        <p:spPr>
          <a:xfrm>
            <a:off x="6967661" y="1467984"/>
            <a:ext cx="101413" cy="196834"/>
          </a:xfrm>
          <a:prstGeom prst="rect">
            <a:avLst/>
          </a:prstGeom>
        </p:spPr>
        <p:txBody>
          <a:bodyPr vert="horz" wrap="square" lIns="0" tIns="13447" rIns="0" bIns="0" rtlCol="0">
            <a:spAutoFit/>
          </a:bodyPr>
          <a:lstStyle/>
          <a:p>
            <a:pPr marL="11206">
              <a:spcBef>
                <a:spcPts val="106"/>
              </a:spcBef>
            </a:pPr>
            <a:r>
              <a:rPr sz="1191" b="1" u="sng" spc="40">
                <a:solidFill>
                  <a:srgbClr val="E0004D"/>
                </a:solidFill>
                <a:uFill>
                  <a:solidFill>
                    <a:srgbClr val="DCDDDE"/>
                  </a:solidFill>
                </a:uFill>
                <a:latin typeface="Calibri"/>
                <a:cs typeface="Calibri"/>
              </a:rPr>
              <a:t>  </a:t>
            </a:r>
            <a:endParaRPr sz="1191">
              <a:latin typeface="Calibri"/>
              <a:cs typeface="Calibri"/>
            </a:endParaRPr>
          </a:p>
        </p:txBody>
      </p:sp>
      <p:sp>
        <p:nvSpPr>
          <p:cNvPr id="65" name="object 65"/>
          <p:cNvSpPr/>
          <p:nvPr/>
        </p:nvSpPr>
        <p:spPr>
          <a:xfrm>
            <a:off x="8938297" y="1192063"/>
            <a:ext cx="1008529" cy="932329"/>
          </a:xfrm>
          <a:custGeom>
            <a:avLst/>
            <a:gdLst/>
            <a:ahLst/>
            <a:cxnLst/>
            <a:rect l="l" t="t" r="r" b="b"/>
            <a:pathLst>
              <a:path w="1143000" h="1056639">
                <a:moveTo>
                  <a:pt x="10350" y="0"/>
                </a:moveTo>
                <a:lnTo>
                  <a:pt x="5872" y="33960"/>
                </a:lnTo>
                <a:lnTo>
                  <a:pt x="2632" y="68294"/>
                </a:lnTo>
                <a:lnTo>
                  <a:pt x="663" y="102980"/>
                </a:lnTo>
                <a:lnTo>
                  <a:pt x="0" y="137998"/>
                </a:lnTo>
                <a:lnTo>
                  <a:pt x="1273" y="186785"/>
                </a:lnTo>
                <a:lnTo>
                  <a:pt x="5050" y="234908"/>
                </a:lnTo>
                <a:lnTo>
                  <a:pt x="11269" y="282305"/>
                </a:lnTo>
                <a:lnTo>
                  <a:pt x="19865" y="328912"/>
                </a:lnTo>
                <a:lnTo>
                  <a:pt x="30774" y="374665"/>
                </a:lnTo>
                <a:lnTo>
                  <a:pt x="43935" y="419501"/>
                </a:lnTo>
                <a:lnTo>
                  <a:pt x="59281" y="463356"/>
                </a:lnTo>
                <a:lnTo>
                  <a:pt x="76752" y="506167"/>
                </a:lnTo>
                <a:lnTo>
                  <a:pt x="96282" y="547870"/>
                </a:lnTo>
                <a:lnTo>
                  <a:pt x="117809" y="588402"/>
                </a:lnTo>
                <a:lnTo>
                  <a:pt x="141269" y="627700"/>
                </a:lnTo>
                <a:lnTo>
                  <a:pt x="166598" y="665699"/>
                </a:lnTo>
                <a:lnTo>
                  <a:pt x="193733" y="702337"/>
                </a:lnTo>
                <a:lnTo>
                  <a:pt x="222611" y="737550"/>
                </a:lnTo>
                <a:lnTo>
                  <a:pt x="253167" y="771274"/>
                </a:lnTo>
                <a:lnTo>
                  <a:pt x="285339" y="803446"/>
                </a:lnTo>
                <a:lnTo>
                  <a:pt x="319064" y="834003"/>
                </a:lnTo>
                <a:lnTo>
                  <a:pt x="354276" y="862881"/>
                </a:lnTo>
                <a:lnTo>
                  <a:pt x="390914" y="890016"/>
                </a:lnTo>
                <a:lnTo>
                  <a:pt x="428914" y="915345"/>
                </a:lnTo>
                <a:lnTo>
                  <a:pt x="468211" y="938805"/>
                </a:lnTo>
                <a:lnTo>
                  <a:pt x="508744" y="960331"/>
                </a:lnTo>
                <a:lnTo>
                  <a:pt x="550447" y="979862"/>
                </a:lnTo>
                <a:lnTo>
                  <a:pt x="593258" y="997332"/>
                </a:lnTo>
                <a:lnTo>
                  <a:pt x="637113" y="1012679"/>
                </a:lnTo>
                <a:lnTo>
                  <a:pt x="681949" y="1025839"/>
                </a:lnTo>
                <a:lnTo>
                  <a:pt x="727702" y="1036749"/>
                </a:lnTo>
                <a:lnTo>
                  <a:pt x="774308" y="1045345"/>
                </a:lnTo>
                <a:lnTo>
                  <a:pt x="821705" y="1051563"/>
                </a:lnTo>
                <a:lnTo>
                  <a:pt x="869829" y="1055341"/>
                </a:lnTo>
                <a:lnTo>
                  <a:pt x="918616" y="1056614"/>
                </a:lnTo>
                <a:lnTo>
                  <a:pt x="976095" y="1054826"/>
                </a:lnTo>
                <a:lnTo>
                  <a:pt x="1032627" y="1049545"/>
                </a:lnTo>
                <a:lnTo>
                  <a:pt x="1088116" y="1040900"/>
                </a:lnTo>
                <a:lnTo>
                  <a:pt x="1142466" y="1029017"/>
                </a:lnTo>
                <a:lnTo>
                  <a:pt x="10350" y="0"/>
                </a:lnTo>
                <a:close/>
              </a:path>
              <a:path w="1143000" h="1056639">
                <a:moveTo>
                  <a:pt x="1142466" y="0"/>
                </a:moveTo>
                <a:lnTo>
                  <a:pt x="10350" y="0"/>
                </a:lnTo>
                <a:lnTo>
                  <a:pt x="1142466" y="1029017"/>
                </a:lnTo>
                <a:lnTo>
                  <a:pt x="1142466" y="0"/>
                </a:lnTo>
                <a:close/>
              </a:path>
            </a:pathLst>
          </a:custGeom>
          <a:solidFill>
            <a:srgbClr val="E0004D"/>
          </a:solidFill>
        </p:spPr>
        <p:txBody>
          <a:bodyPr wrap="square" lIns="0" tIns="0" rIns="0" bIns="0" rtlCol="0"/>
          <a:lstStyle/>
          <a:p>
            <a:endParaRPr sz="1588"/>
          </a:p>
        </p:txBody>
      </p:sp>
      <p:sp>
        <p:nvSpPr>
          <p:cNvPr id="66" name="object 66"/>
          <p:cNvSpPr/>
          <p:nvPr/>
        </p:nvSpPr>
        <p:spPr>
          <a:xfrm>
            <a:off x="6736347" y="3982449"/>
            <a:ext cx="388844" cy="229160"/>
          </a:xfrm>
          <a:custGeom>
            <a:avLst/>
            <a:gdLst/>
            <a:ahLst/>
            <a:cxnLst/>
            <a:rect l="l" t="t" r="r" b="b"/>
            <a:pathLst>
              <a:path w="440689" h="259714">
                <a:moveTo>
                  <a:pt x="44932" y="170992"/>
                </a:moveTo>
                <a:lnTo>
                  <a:pt x="44157" y="170992"/>
                </a:lnTo>
                <a:lnTo>
                  <a:pt x="26971" y="174461"/>
                </a:lnTo>
                <a:lnTo>
                  <a:pt x="12934" y="183922"/>
                </a:lnTo>
                <a:lnTo>
                  <a:pt x="3470" y="197958"/>
                </a:lnTo>
                <a:lnTo>
                  <a:pt x="0" y="215150"/>
                </a:lnTo>
                <a:lnTo>
                  <a:pt x="3470" y="232332"/>
                </a:lnTo>
                <a:lnTo>
                  <a:pt x="12934" y="246368"/>
                </a:lnTo>
                <a:lnTo>
                  <a:pt x="26971" y="255836"/>
                </a:lnTo>
                <a:lnTo>
                  <a:pt x="44157" y="259308"/>
                </a:lnTo>
                <a:lnTo>
                  <a:pt x="371284" y="259308"/>
                </a:lnTo>
                <a:lnTo>
                  <a:pt x="398083" y="253896"/>
                </a:lnTo>
                <a:lnTo>
                  <a:pt x="419966" y="239134"/>
                </a:lnTo>
                <a:lnTo>
                  <a:pt x="434721" y="217239"/>
                </a:lnTo>
                <a:lnTo>
                  <a:pt x="440131" y="190423"/>
                </a:lnTo>
                <a:lnTo>
                  <a:pt x="436232" y="171094"/>
                </a:lnTo>
                <a:lnTo>
                  <a:pt x="46431" y="171094"/>
                </a:lnTo>
                <a:lnTo>
                  <a:pt x="45656" y="171056"/>
                </a:lnTo>
                <a:lnTo>
                  <a:pt x="44932" y="170992"/>
                </a:lnTo>
                <a:close/>
              </a:path>
              <a:path w="440689" h="259714">
                <a:moveTo>
                  <a:pt x="110680" y="77381"/>
                </a:moveTo>
                <a:lnTo>
                  <a:pt x="83865" y="82793"/>
                </a:lnTo>
                <a:lnTo>
                  <a:pt x="61969" y="97555"/>
                </a:lnTo>
                <a:lnTo>
                  <a:pt x="47208" y="119450"/>
                </a:lnTo>
                <a:lnTo>
                  <a:pt x="41795" y="146265"/>
                </a:lnTo>
                <a:lnTo>
                  <a:pt x="41795" y="155028"/>
                </a:lnTo>
                <a:lnTo>
                  <a:pt x="43459" y="163398"/>
                </a:lnTo>
                <a:lnTo>
                  <a:pt x="46431" y="171094"/>
                </a:lnTo>
                <a:lnTo>
                  <a:pt x="436232" y="171094"/>
                </a:lnTo>
                <a:lnTo>
                  <a:pt x="398083" y="126949"/>
                </a:lnTo>
                <a:lnTo>
                  <a:pt x="371182" y="121539"/>
                </a:lnTo>
                <a:lnTo>
                  <a:pt x="371284" y="118160"/>
                </a:lnTo>
                <a:lnTo>
                  <a:pt x="364373" y="83947"/>
                </a:lnTo>
                <a:lnTo>
                  <a:pt x="140017" y="83947"/>
                </a:lnTo>
                <a:lnTo>
                  <a:pt x="133152" y="81147"/>
                </a:lnTo>
                <a:lnTo>
                  <a:pt x="125944" y="79087"/>
                </a:lnTo>
                <a:lnTo>
                  <a:pt x="118438" y="77815"/>
                </a:lnTo>
                <a:lnTo>
                  <a:pt x="110680" y="77381"/>
                </a:lnTo>
                <a:close/>
              </a:path>
              <a:path w="440689" h="259714">
                <a:moveTo>
                  <a:pt x="253098" y="0"/>
                </a:moveTo>
                <a:lnTo>
                  <a:pt x="214987" y="6289"/>
                </a:lnTo>
                <a:lnTo>
                  <a:pt x="182051" y="23766"/>
                </a:lnTo>
                <a:lnTo>
                  <a:pt x="156368" y="50347"/>
                </a:lnTo>
                <a:lnTo>
                  <a:pt x="140017" y="83947"/>
                </a:lnTo>
                <a:lnTo>
                  <a:pt x="364373" y="83947"/>
                </a:lnTo>
                <a:lnTo>
                  <a:pt x="361995" y="72175"/>
                </a:lnTo>
                <a:lnTo>
                  <a:pt x="336665" y="34615"/>
                </a:lnTo>
                <a:lnTo>
                  <a:pt x="299098" y="9288"/>
                </a:lnTo>
                <a:lnTo>
                  <a:pt x="253098" y="0"/>
                </a:lnTo>
                <a:close/>
              </a:path>
            </a:pathLst>
          </a:custGeom>
          <a:solidFill>
            <a:srgbClr val="BFE6F7"/>
          </a:solidFill>
        </p:spPr>
        <p:txBody>
          <a:bodyPr wrap="square" lIns="0" tIns="0" rIns="0" bIns="0" rtlCol="0"/>
          <a:lstStyle/>
          <a:p>
            <a:endParaRPr sz="1588"/>
          </a:p>
        </p:txBody>
      </p:sp>
      <p:sp>
        <p:nvSpPr>
          <p:cNvPr id="67" name="object 67"/>
          <p:cNvSpPr/>
          <p:nvPr/>
        </p:nvSpPr>
        <p:spPr>
          <a:xfrm>
            <a:off x="7011132" y="4195646"/>
            <a:ext cx="339538" cy="222996"/>
          </a:xfrm>
          <a:custGeom>
            <a:avLst/>
            <a:gdLst/>
            <a:ahLst/>
            <a:cxnLst/>
            <a:rect l="l" t="t" r="r" b="b"/>
            <a:pathLst>
              <a:path w="384810" h="252729">
                <a:moveTo>
                  <a:pt x="45846" y="168501"/>
                </a:moveTo>
                <a:lnTo>
                  <a:pt x="41884" y="168501"/>
                </a:lnTo>
                <a:lnTo>
                  <a:pt x="25578" y="171792"/>
                </a:lnTo>
                <a:lnTo>
                  <a:pt x="12274" y="180765"/>
                </a:lnTo>
                <a:lnTo>
                  <a:pt x="3304" y="194074"/>
                </a:lnTo>
                <a:lnTo>
                  <a:pt x="0" y="210373"/>
                </a:lnTo>
                <a:lnTo>
                  <a:pt x="3295" y="226666"/>
                </a:lnTo>
                <a:lnTo>
                  <a:pt x="12279" y="239974"/>
                </a:lnTo>
                <a:lnTo>
                  <a:pt x="25594" y="248942"/>
                </a:lnTo>
                <a:lnTo>
                  <a:pt x="41884" y="252220"/>
                </a:lnTo>
                <a:lnTo>
                  <a:pt x="384704" y="252220"/>
                </a:lnTo>
                <a:lnTo>
                  <a:pt x="384704" y="170127"/>
                </a:lnTo>
                <a:lnTo>
                  <a:pt x="53390" y="170127"/>
                </a:lnTo>
                <a:lnTo>
                  <a:pt x="49720" y="169073"/>
                </a:lnTo>
                <a:lnTo>
                  <a:pt x="45846" y="168501"/>
                </a:lnTo>
                <a:close/>
              </a:path>
              <a:path w="384810" h="252729">
                <a:moveTo>
                  <a:pt x="130428" y="97762"/>
                </a:moveTo>
                <a:lnTo>
                  <a:pt x="101443" y="103394"/>
                </a:lnTo>
                <a:lnTo>
                  <a:pt x="77469" y="118800"/>
                </a:lnTo>
                <a:lnTo>
                  <a:pt x="60716" y="141779"/>
                </a:lnTo>
                <a:lnTo>
                  <a:pt x="53390" y="170127"/>
                </a:lnTo>
                <a:lnTo>
                  <a:pt x="384704" y="170127"/>
                </a:lnTo>
                <a:lnTo>
                  <a:pt x="384704" y="131239"/>
                </a:lnTo>
                <a:lnTo>
                  <a:pt x="194068" y="131239"/>
                </a:lnTo>
                <a:lnTo>
                  <a:pt x="181976" y="117484"/>
                </a:lnTo>
                <a:lnTo>
                  <a:pt x="166939" y="106924"/>
                </a:lnTo>
                <a:lnTo>
                  <a:pt x="149557" y="100152"/>
                </a:lnTo>
                <a:lnTo>
                  <a:pt x="130428" y="97762"/>
                </a:lnTo>
                <a:close/>
              </a:path>
              <a:path w="384810" h="252729">
                <a:moveTo>
                  <a:pt x="249250" y="112177"/>
                </a:moveTo>
                <a:lnTo>
                  <a:pt x="242036" y="112177"/>
                </a:lnTo>
                <a:lnTo>
                  <a:pt x="228476" y="113494"/>
                </a:lnTo>
                <a:lnTo>
                  <a:pt x="215804" y="117279"/>
                </a:lnTo>
                <a:lnTo>
                  <a:pt x="204256" y="123278"/>
                </a:lnTo>
                <a:lnTo>
                  <a:pt x="194068" y="131239"/>
                </a:lnTo>
                <a:lnTo>
                  <a:pt x="384704" y="131239"/>
                </a:lnTo>
                <a:lnTo>
                  <a:pt x="384704" y="115301"/>
                </a:lnTo>
                <a:lnTo>
                  <a:pt x="262737" y="115301"/>
                </a:lnTo>
                <a:lnTo>
                  <a:pt x="256171" y="113256"/>
                </a:lnTo>
                <a:lnTo>
                  <a:pt x="249250" y="112177"/>
                </a:lnTo>
                <a:close/>
              </a:path>
              <a:path w="384810" h="252729">
                <a:moveTo>
                  <a:pt x="384704" y="0"/>
                </a:moveTo>
                <a:lnTo>
                  <a:pt x="341859" y="8209"/>
                </a:lnTo>
                <a:lnTo>
                  <a:pt x="302877" y="32881"/>
                </a:lnTo>
                <a:lnTo>
                  <a:pt x="275346" y="69741"/>
                </a:lnTo>
                <a:lnTo>
                  <a:pt x="262737" y="115301"/>
                </a:lnTo>
                <a:lnTo>
                  <a:pt x="384704" y="115301"/>
                </a:lnTo>
                <a:lnTo>
                  <a:pt x="384704" y="0"/>
                </a:lnTo>
                <a:close/>
              </a:path>
            </a:pathLst>
          </a:custGeom>
          <a:solidFill>
            <a:srgbClr val="CCEBF8"/>
          </a:solidFill>
        </p:spPr>
        <p:txBody>
          <a:bodyPr wrap="square" lIns="0" tIns="0" rIns="0" bIns="0" rtlCol="0"/>
          <a:lstStyle/>
          <a:p>
            <a:endParaRPr sz="1588"/>
          </a:p>
        </p:txBody>
      </p:sp>
      <p:sp>
        <p:nvSpPr>
          <p:cNvPr id="68" name="object 68"/>
          <p:cNvSpPr/>
          <p:nvPr/>
        </p:nvSpPr>
        <p:spPr>
          <a:xfrm>
            <a:off x="6555397" y="5022924"/>
            <a:ext cx="93569" cy="152960"/>
          </a:xfrm>
          <a:custGeom>
            <a:avLst/>
            <a:gdLst/>
            <a:ahLst/>
            <a:cxnLst/>
            <a:rect l="l" t="t" r="r" b="b"/>
            <a:pathLst>
              <a:path w="106045" h="173354">
                <a:moveTo>
                  <a:pt x="0" y="173354"/>
                </a:moveTo>
                <a:lnTo>
                  <a:pt x="105943" y="173354"/>
                </a:lnTo>
                <a:lnTo>
                  <a:pt x="105943" y="0"/>
                </a:lnTo>
                <a:lnTo>
                  <a:pt x="0" y="0"/>
                </a:lnTo>
                <a:lnTo>
                  <a:pt x="0" y="173354"/>
                </a:lnTo>
                <a:close/>
              </a:path>
            </a:pathLst>
          </a:custGeom>
          <a:solidFill>
            <a:srgbClr val="FFFFFF"/>
          </a:solidFill>
        </p:spPr>
        <p:txBody>
          <a:bodyPr wrap="square" lIns="0" tIns="0" rIns="0" bIns="0" rtlCol="0"/>
          <a:lstStyle/>
          <a:p>
            <a:endParaRPr sz="1588"/>
          </a:p>
        </p:txBody>
      </p:sp>
      <p:sp>
        <p:nvSpPr>
          <p:cNvPr id="69" name="object 69"/>
          <p:cNvSpPr/>
          <p:nvPr/>
        </p:nvSpPr>
        <p:spPr>
          <a:xfrm>
            <a:off x="6648876" y="5022924"/>
            <a:ext cx="702049" cy="152960"/>
          </a:xfrm>
          <a:custGeom>
            <a:avLst/>
            <a:gdLst/>
            <a:ahLst/>
            <a:cxnLst/>
            <a:rect l="l" t="t" r="r" b="b"/>
            <a:pathLst>
              <a:path w="795654" h="173354">
                <a:moveTo>
                  <a:pt x="0" y="173354"/>
                </a:moveTo>
                <a:lnTo>
                  <a:pt x="795248" y="173354"/>
                </a:lnTo>
                <a:lnTo>
                  <a:pt x="795248" y="0"/>
                </a:lnTo>
                <a:lnTo>
                  <a:pt x="0" y="0"/>
                </a:lnTo>
                <a:lnTo>
                  <a:pt x="0" y="173354"/>
                </a:lnTo>
                <a:close/>
              </a:path>
            </a:pathLst>
          </a:custGeom>
          <a:solidFill>
            <a:srgbClr val="97D700"/>
          </a:solidFill>
        </p:spPr>
        <p:txBody>
          <a:bodyPr wrap="square" lIns="0" tIns="0" rIns="0" bIns="0" rtlCol="0"/>
          <a:lstStyle/>
          <a:p>
            <a:endParaRPr sz="1588"/>
          </a:p>
        </p:txBody>
      </p:sp>
      <p:sp>
        <p:nvSpPr>
          <p:cNvPr id="70" name="object 70"/>
          <p:cNvSpPr/>
          <p:nvPr/>
        </p:nvSpPr>
        <p:spPr>
          <a:xfrm>
            <a:off x="6765372" y="5117995"/>
            <a:ext cx="465604" cy="0"/>
          </a:xfrm>
          <a:custGeom>
            <a:avLst/>
            <a:gdLst/>
            <a:ahLst/>
            <a:cxnLst/>
            <a:rect l="l" t="t" r="r" b="b"/>
            <a:pathLst>
              <a:path w="527685">
                <a:moveTo>
                  <a:pt x="0" y="0"/>
                </a:moveTo>
                <a:lnTo>
                  <a:pt x="527062" y="0"/>
                </a:lnTo>
              </a:path>
            </a:pathLst>
          </a:custGeom>
          <a:ln w="23088">
            <a:solidFill>
              <a:srgbClr val="FFFFFF"/>
            </a:solidFill>
          </a:ln>
        </p:spPr>
        <p:txBody>
          <a:bodyPr wrap="square" lIns="0" tIns="0" rIns="0" bIns="0" rtlCol="0"/>
          <a:lstStyle/>
          <a:p>
            <a:endParaRPr sz="1588"/>
          </a:p>
        </p:txBody>
      </p:sp>
      <p:sp>
        <p:nvSpPr>
          <p:cNvPr id="71" name="object 71"/>
          <p:cNvSpPr/>
          <p:nvPr/>
        </p:nvSpPr>
        <p:spPr>
          <a:xfrm>
            <a:off x="6997905" y="5080848"/>
            <a:ext cx="233082" cy="0"/>
          </a:xfrm>
          <a:custGeom>
            <a:avLst/>
            <a:gdLst/>
            <a:ahLst/>
            <a:cxnLst/>
            <a:rect l="l" t="t" r="r" b="b"/>
            <a:pathLst>
              <a:path w="264160">
                <a:moveTo>
                  <a:pt x="0" y="0"/>
                </a:moveTo>
                <a:lnTo>
                  <a:pt x="263537" y="0"/>
                </a:lnTo>
              </a:path>
            </a:pathLst>
          </a:custGeom>
          <a:ln w="23164">
            <a:solidFill>
              <a:srgbClr val="FFFFFF"/>
            </a:solidFill>
          </a:ln>
        </p:spPr>
        <p:txBody>
          <a:bodyPr wrap="square" lIns="0" tIns="0" rIns="0" bIns="0" rtlCol="0"/>
          <a:lstStyle/>
          <a:p>
            <a:endParaRPr sz="1588"/>
          </a:p>
        </p:txBody>
      </p:sp>
      <p:sp>
        <p:nvSpPr>
          <p:cNvPr id="72" name="object 72"/>
          <p:cNvSpPr/>
          <p:nvPr/>
        </p:nvSpPr>
        <p:spPr>
          <a:xfrm>
            <a:off x="7193436" y="4753837"/>
            <a:ext cx="157443" cy="153521"/>
          </a:xfrm>
          <a:custGeom>
            <a:avLst/>
            <a:gdLst/>
            <a:ahLst/>
            <a:cxnLst/>
            <a:rect l="l" t="t" r="r" b="b"/>
            <a:pathLst>
              <a:path w="178435" h="173989">
                <a:moveTo>
                  <a:pt x="0" y="173367"/>
                </a:moveTo>
                <a:lnTo>
                  <a:pt x="178079" y="173367"/>
                </a:lnTo>
                <a:lnTo>
                  <a:pt x="178079" y="0"/>
                </a:lnTo>
                <a:lnTo>
                  <a:pt x="0" y="0"/>
                </a:lnTo>
                <a:lnTo>
                  <a:pt x="0" y="173367"/>
                </a:lnTo>
                <a:close/>
              </a:path>
            </a:pathLst>
          </a:custGeom>
          <a:solidFill>
            <a:srgbClr val="FF671F"/>
          </a:solidFill>
        </p:spPr>
        <p:txBody>
          <a:bodyPr wrap="square" lIns="0" tIns="0" rIns="0" bIns="0" rtlCol="0"/>
          <a:lstStyle/>
          <a:p>
            <a:endParaRPr sz="1588"/>
          </a:p>
        </p:txBody>
      </p:sp>
      <p:sp>
        <p:nvSpPr>
          <p:cNvPr id="73" name="object 73"/>
          <p:cNvSpPr/>
          <p:nvPr/>
        </p:nvSpPr>
        <p:spPr>
          <a:xfrm>
            <a:off x="6726723" y="4753837"/>
            <a:ext cx="396688" cy="153521"/>
          </a:xfrm>
          <a:custGeom>
            <a:avLst/>
            <a:gdLst/>
            <a:ahLst/>
            <a:cxnLst/>
            <a:rect l="l" t="t" r="r" b="b"/>
            <a:pathLst>
              <a:path w="449579" h="173989">
                <a:moveTo>
                  <a:pt x="0" y="173367"/>
                </a:moveTo>
                <a:lnTo>
                  <a:pt x="449440" y="173367"/>
                </a:lnTo>
                <a:lnTo>
                  <a:pt x="449440" y="0"/>
                </a:lnTo>
                <a:lnTo>
                  <a:pt x="0" y="0"/>
                </a:lnTo>
                <a:lnTo>
                  <a:pt x="0" y="173367"/>
                </a:lnTo>
                <a:close/>
              </a:path>
            </a:pathLst>
          </a:custGeom>
          <a:solidFill>
            <a:srgbClr val="FF671F"/>
          </a:solidFill>
        </p:spPr>
        <p:txBody>
          <a:bodyPr wrap="square" lIns="0" tIns="0" rIns="0" bIns="0" rtlCol="0"/>
          <a:lstStyle/>
          <a:p>
            <a:endParaRPr sz="1588"/>
          </a:p>
        </p:txBody>
      </p:sp>
      <p:sp>
        <p:nvSpPr>
          <p:cNvPr id="74" name="object 74"/>
          <p:cNvSpPr/>
          <p:nvPr/>
        </p:nvSpPr>
        <p:spPr>
          <a:xfrm>
            <a:off x="6516579" y="4753837"/>
            <a:ext cx="140074" cy="153521"/>
          </a:xfrm>
          <a:custGeom>
            <a:avLst/>
            <a:gdLst/>
            <a:ahLst/>
            <a:cxnLst/>
            <a:rect l="l" t="t" r="r" b="b"/>
            <a:pathLst>
              <a:path w="158750" h="173989">
                <a:moveTo>
                  <a:pt x="0" y="173367"/>
                </a:moveTo>
                <a:lnTo>
                  <a:pt x="158648" y="173367"/>
                </a:lnTo>
                <a:lnTo>
                  <a:pt x="158648" y="0"/>
                </a:lnTo>
                <a:lnTo>
                  <a:pt x="0" y="0"/>
                </a:lnTo>
                <a:lnTo>
                  <a:pt x="0" y="173367"/>
                </a:lnTo>
                <a:close/>
              </a:path>
            </a:pathLst>
          </a:custGeom>
          <a:solidFill>
            <a:srgbClr val="FF671F"/>
          </a:solidFill>
        </p:spPr>
        <p:txBody>
          <a:bodyPr wrap="square" lIns="0" tIns="0" rIns="0" bIns="0" rtlCol="0"/>
          <a:lstStyle/>
          <a:p>
            <a:endParaRPr sz="1588"/>
          </a:p>
        </p:txBody>
      </p:sp>
      <p:sp>
        <p:nvSpPr>
          <p:cNvPr id="75" name="object 75"/>
          <p:cNvSpPr/>
          <p:nvPr/>
        </p:nvSpPr>
        <p:spPr>
          <a:xfrm>
            <a:off x="7158362" y="4753849"/>
            <a:ext cx="0" cy="152960"/>
          </a:xfrm>
          <a:custGeom>
            <a:avLst/>
            <a:gdLst/>
            <a:ahLst/>
            <a:cxnLst/>
            <a:rect l="l" t="t" r="r" b="b"/>
            <a:pathLst>
              <a:path h="173354">
                <a:moveTo>
                  <a:pt x="0" y="0"/>
                </a:moveTo>
                <a:lnTo>
                  <a:pt x="0" y="173355"/>
                </a:lnTo>
              </a:path>
            </a:pathLst>
          </a:custGeom>
          <a:ln w="79501">
            <a:solidFill>
              <a:srgbClr val="FFFFFF"/>
            </a:solidFill>
          </a:ln>
        </p:spPr>
        <p:txBody>
          <a:bodyPr wrap="square" lIns="0" tIns="0" rIns="0" bIns="0" rtlCol="0"/>
          <a:lstStyle/>
          <a:p>
            <a:endParaRPr sz="1588"/>
          </a:p>
        </p:txBody>
      </p:sp>
      <p:sp>
        <p:nvSpPr>
          <p:cNvPr id="76" name="object 76"/>
          <p:cNvSpPr/>
          <p:nvPr/>
        </p:nvSpPr>
        <p:spPr>
          <a:xfrm>
            <a:off x="7228376" y="4753849"/>
            <a:ext cx="0" cy="152960"/>
          </a:xfrm>
          <a:custGeom>
            <a:avLst/>
            <a:gdLst/>
            <a:ahLst/>
            <a:cxnLst/>
            <a:rect l="l" t="t" r="r" b="b"/>
            <a:pathLst>
              <a:path h="173354">
                <a:moveTo>
                  <a:pt x="0" y="0"/>
                </a:moveTo>
                <a:lnTo>
                  <a:pt x="0" y="173355"/>
                </a:lnTo>
              </a:path>
            </a:pathLst>
          </a:custGeom>
          <a:ln w="26466">
            <a:solidFill>
              <a:srgbClr val="FFFFFF"/>
            </a:solidFill>
          </a:ln>
        </p:spPr>
        <p:txBody>
          <a:bodyPr wrap="square" lIns="0" tIns="0" rIns="0" bIns="0" rtlCol="0"/>
          <a:lstStyle/>
          <a:p>
            <a:endParaRPr sz="1588"/>
          </a:p>
        </p:txBody>
      </p:sp>
      <p:sp>
        <p:nvSpPr>
          <p:cNvPr id="77" name="object 77"/>
          <p:cNvSpPr/>
          <p:nvPr/>
        </p:nvSpPr>
        <p:spPr>
          <a:xfrm>
            <a:off x="6691643" y="4753849"/>
            <a:ext cx="0" cy="152960"/>
          </a:xfrm>
          <a:custGeom>
            <a:avLst/>
            <a:gdLst/>
            <a:ahLst/>
            <a:cxnLst/>
            <a:rect l="l" t="t" r="r" b="b"/>
            <a:pathLst>
              <a:path h="173354">
                <a:moveTo>
                  <a:pt x="0" y="0"/>
                </a:moveTo>
                <a:lnTo>
                  <a:pt x="0" y="173355"/>
                </a:lnTo>
              </a:path>
            </a:pathLst>
          </a:custGeom>
          <a:ln w="79514">
            <a:solidFill>
              <a:srgbClr val="FFFFFF"/>
            </a:solidFill>
          </a:ln>
        </p:spPr>
        <p:txBody>
          <a:bodyPr wrap="square" lIns="0" tIns="0" rIns="0" bIns="0" rtlCol="0"/>
          <a:lstStyle/>
          <a:p>
            <a:endParaRPr sz="1588"/>
          </a:p>
        </p:txBody>
      </p:sp>
      <p:sp>
        <p:nvSpPr>
          <p:cNvPr id="78" name="object 78"/>
          <p:cNvSpPr/>
          <p:nvPr/>
        </p:nvSpPr>
        <p:spPr>
          <a:xfrm>
            <a:off x="6621645" y="4753849"/>
            <a:ext cx="0" cy="152960"/>
          </a:xfrm>
          <a:custGeom>
            <a:avLst/>
            <a:gdLst/>
            <a:ahLst/>
            <a:cxnLst/>
            <a:rect l="l" t="t" r="r" b="b"/>
            <a:pathLst>
              <a:path h="173354">
                <a:moveTo>
                  <a:pt x="0" y="0"/>
                </a:moveTo>
                <a:lnTo>
                  <a:pt x="0" y="173355"/>
                </a:lnTo>
              </a:path>
            </a:pathLst>
          </a:custGeom>
          <a:ln w="26466">
            <a:solidFill>
              <a:srgbClr val="FFFFFF"/>
            </a:solidFill>
          </a:ln>
        </p:spPr>
        <p:txBody>
          <a:bodyPr wrap="square" lIns="0" tIns="0" rIns="0" bIns="0" rtlCol="0"/>
          <a:lstStyle/>
          <a:p>
            <a:endParaRPr sz="1588"/>
          </a:p>
        </p:txBody>
      </p:sp>
      <p:sp>
        <p:nvSpPr>
          <p:cNvPr id="79" name="object 79"/>
          <p:cNvSpPr/>
          <p:nvPr/>
        </p:nvSpPr>
        <p:spPr>
          <a:xfrm>
            <a:off x="7148412" y="4906809"/>
            <a:ext cx="102534" cy="116541"/>
          </a:xfrm>
          <a:custGeom>
            <a:avLst/>
            <a:gdLst/>
            <a:ahLst/>
            <a:cxnLst/>
            <a:rect l="l" t="t" r="r" b="b"/>
            <a:pathLst>
              <a:path w="116204" h="132079">
                <a:moveTo>
                  <a:pt x="0" y="131572"/>
                </a:moveTo>
                <a:lnTo>
                  <a:pt x="116001" y="131572"/>
                </a:lnTo>
                <a:lnTo>
                  <a:pt x="116001" y="0"/>
                </a:lnTo>
                <a:lnTo>
                  <a:pt x="0" y="0"/>
                </a:lnTo>
                <a:lnTo>
                  <a:pt x="0" y="131572"/>
                </a:lnTo>
                <a:close/>
              </a:path>
            </a:pathLst>
          </a:custGeom>
          <a:solidFill>
            <a:srgbClr val="FFFFFF"/>
          </a:solidFill>
        </p:spPr>
        <p:txBody>
          <a:bodyPr wrap="square" lIns="0" tIns="0" rIns="0" bIns="0" rtlCol="0"/>
          <a:lstStyle/>
          <a:p>
            <a:endParaRPr sz="1588"/>
          </a:p>
        </p:txBody>
      </p:sp>
      <p:sp>
        <p:nvSpPr>
          <p:cNvPr id="80" name="object 80"/>
          <p:cNvSpPr/>
          <p:nvPr/>
        </p:nvSpPr>
        <p:spPr>
          <a:xfrm>
            <a:off x="6453075" y="4906809"/>
            <a:ext cx="102534" cy="116541"/>
          </a:xfrm>
          <a:custGeom>
            <a:avLst/>
            <a:gdLst/>
            <a:ahLst/>
            <a:cxnLst/>
            <a:rect l="l" t="t" r="r" b="b"/>
            <a:pathLst>
              <a:path w="116204" h="132079">
                <a:moveTo>
                  <a:pt x="0" y="131572"/>
                </a:moveTo>
                <a:lnTo>
                  <a:pt x="115950" y="131572"/>
                </a:lnTo>
                <a:lnTo>
                  <a:pt x="115950" y="0"/>
                </a:lnTo>
                <a:lnTo>
                  <a:pt x="0" y="0"/>
                </a:lnTo>
                <a:lnTo>
                  <a:pt x="0" y="131572"/>
                </a:lnTo>
                <a:close/>
              </a:path>
            </a:pathLst>
          </a:custGeom>
          <a:solidFill>
            <a:srgbClr val="FFFFFF"/>
          </a:solidFill>
        </p:spPr>
        <p:txBody>
          <a:bodyPr wrap="square" lIns="0" tIns="0" rIns="0" bIns="0" rtlCol="0"/>
          <a:lstStyle/>
          <a:p>
            <a:endParaRPr sz="1588"/>
          </a:p>
        </p:txBody>
      </p:sp>
      <p:sp>
        <p:nvSpPr>
          <p:cNvPr id="81" name="object 81"/>
          <p:cNvSpPr/>
          <p:nvPr/>
        </p:nvSpPr>
        <p:spPr>
          <a:xfrm>
            <a:off x="6555385" y="4906809"/>
            <a:ext cx="593351" cy="116541"/>
          </a:xfrm>
          <a:custGeom>
            <a:avLst/>
            <a:gdLst/>
            <a:ahLst/>
            <a:cxnLst/>
            <a:rect l="l" t="t" r="r" b="b"/>
            <a:pathLst>
              <a:path w="672464" h="132079">
                <a:moveTo>
                  <a:pt x="672096" y="0"/>
                </a:moveTo>
                <a:lnTo>
                  <a:pt x="0" y="0"/>
                </a:lnTo>
                <a:lnTo>
                  <a:pt x="0" y="131572"/>
                </a:lnTo>
                <a:lnTo>
                  <a:pt x="672096" y="131572"/>
                </a:lnTo>
                <a:lnTo>
                  <a:pt x="672096" y="0"/>
                </a:lnTo>
                <a:close/>
              </a:path>
            </a:pathLst>
          </a:custGeom>
          <a:solidFill>
            <a:srgbClr val="DCDDDE"/>
          </a:solidFill>
        </p:spPr>
        <p:txBody>
          <a:bodyPr wrap="square" lIns="0" tIns="0" rIns="0" bIns="0" rtlCol="0"/>
          <a:lstStyle/>
          <a:p>
            <a:endParaRPr sz="1588"/>
          </a:p>
        </p:txBody>
      </p:sp>
      <p:sp>
        <p:nvSpPr>
          <p:cNvPr id="82" name="object 82"/>
          <p:cNvSpPr/>
          <p:nvPr/>
        </p:nvSpPr>
        <p:spPr>
          <a:xfrm>
            <a:off x="7230052" y="4350234"/>
            <a:ext cx="0" cy="825874"/>
          </a:xfrm>
          <a:custGeom>
            <a:avLst/>
            <a:gdLst/>
            <a:ahLst/>
            <a:cxnLst/>
            <a:rect l="l" t="t" r="r" b="b"/>
            <a:pathLst>
              <a:path h="935989">
                <a:moveTo>
                  <a:pt x="0" y="0"/>
                </a:moveTo>
                <a:lnTo>
                  <a:pt x="0" y="935736"/>
                </a:lnTo>
              </a:path>
            </a:pathLst>
          </a:custGeom>
          <a:ln w="47002">
            <a:solidFill>
              <a:srgbClr val="4D4D4F"/>
            </a:solidFill>
          </a:ln>
        </p:spPr>
        <p:txBody>
          <a:bodyPr wrap="square" lIns="0" tIns="0" rIns="0" bIns="0" rtlCol="0"/>
          <a:lstStyle/>
          <a:p>
            <a:endParaRPr sz="1588"/>
          </a:p>
        </p:txBody>
      </p:sp>
      <p:sp>
        <p:nvSpPr>
          <p:cNvPr id="83" name="object 83"/>
          <p:cNvSpPr/>
          <p:nvPr/>
        </p:nvSpPr>
        <p:spPr>
          <a:xfrm>
            <a:off x="6960635" y="4493979"/>
            <a:ext cx="249331" cy="0"/>
          </a:xfrm>
          <a:custGeom>
            <a:avLst/>
            <a:gdLst/>
            <a:ahLst/>
            <a:cxnLst/>
            <a:rect l="l" t="t" r="r" b="b"/>
            <a:pathLst>
              <a:path w="282575">
                <a:moveTo>
                  <a:pt x="0" y="0"/>
                </a:moveTo>
                <a:lnTo>
                  <a:pt x="281978" y="0"/>
                </a:lnTo>
              </a:path>
            </a:pathLst>
          </a:custGeom>
          <a:ln w="20891">
            <a:solidFill>
              <a:srgbClr val="4D4D4F"/>
            </a:solidFill>
          </a:ln>
        </p:spPr>
        <p:txBody>
          <a:bodyPr wrap="square" lIns="0" tIns="0" rIns="0" bIns="0" rtlCol="0"/>
          <a:lstStyle/>
          <a:p>
            <a:endParaRPr sz="1588"/>
          </a:p>
        </p:txBody>
      </p:sp>
      <p:sp>
        <p:nvSpPr>
          <p:cNvPr id="84" name="object 84"/>
          <p:cNvSpPr/>
          <p:nvPr/>
        </p:nvSpPr>
        <p:spPr>
          <a:xfrm>
            <a:off x="6960635" y="4628528"/>
            <a:ext cx="249331" cy="0"/>
          </a:xfrm>
          <a:custGeom>
            <a:avLst/>
            <a:gdLst/>
            <a:ahLst/>
            <a:cxnLst/>
            <a:rect l="l" t="t" r="r" b="b"/>
            <a:pathLst>
              <a:path w="282575">
                <a:moveTo>
                  <a:pt x="0" y="0"/>
                </a:moveTo>
                <a:lnTo>
                  <a:pt x="281978" y="0"/>
                </a:lnTo>
              </a:path>
            </a:pathLst>
          </a:custGeom>
          <a:ln w="20891">
            <a:solidFill>
              <a:srgbClr val="4D4D4F"/>
            </a:solidFill>
          </a:ln>
        </p:spPr>
        <p:txBody>
          <a:bodyPr wrap="square" lIns="0" tIns="0" rIns="0" bIns="0" rtlCol="0"/>
          <a:lstStyle/>
          <a:p>
            <a:endParaRPr sz="1588"/>
          </a:p>
        </p:txBody>
      </p:sp>
      <p:sp>
        <p:nvSpPr>
          <p:cNvPr id="85" name="object 85"/>
          <p:cNvSpPr/>
          <p:nvPr/>
        </p:nvSpPr>
        <p:spPr>
          <a:xfrm>
            <a:off x="6960635" y="4763066"/>
            <a:ext cx="249331" cy="0"/>
          </a:xfrm>
          <a:custGeom>
            <a:avLst/>
            <a:gdLst/>
            <a:ahLst/>
            <a:cxnLst/>
            <a:rect l="l" t="t" r="r" b="b"/>
            <a:pathLst>
              <a:path w="282575">
                <a:moveTo>
                  <a:pt x="0" y="0"/>
                </a:moveTo>
                <a:lnTo>
                  <a:pt x="281978" y="0"/>
                </a:lnTo>
              </a:path>
            </a:pathLst>
          </a:custGeom>
          <a:ln w="20891">
            <a:solidFill>
              <a:srgbClr val="4D4D4F"/>
            </a:solidFill>
          </a:ln>
        </p:spPr>
        <p:txBody>
          <a:bodyPr wrap="square" lIns="0" tIns="0" rIns="0" bIns="0" rtlCol="0"/>
          <a:lstStyle/>
          <a:p>
            <a:endParaRPr sz="1588"/>
          </a:p>
        </p:txBody>
      </p:sp>
      <p:sp>
        <p:nvSpPr>
          <p:cNvPr id="86" name="object 86"/>
          <p:cNvSpPr/>
          <p:nvPr/>
        </p:nvSpPr>
        <p:spPr>
          <a:xfrm>
            <a:off x="6960635" y="4897592"/>
            <a:ext cx="249331" cy="0"/>
          </a:xfrm>
          <a:custGeom>
            <a:avLst/>
            <a:gdLst/>
            <a:ahLst/>
            <a:cxnLst/>
            <a:rect l="l" t="t" r="r" b="b"/>
            <a:pathLst>
              <a:path w="282575">
                <a:moveTo>
                  <a:pt x="0" y="0"/>
                </a:moveTo>
                <a:lnTo>
                  <a:pt x="281978" y="0"/>
                </a:lnTo>
              </a:path>
            </a:pathLst>
          </a:custGeom>
          <a:ln w="20891">
            <a:solidFill>
              <a:srgbClr val="4D4D4F"/>
            </a:solidFill>
          </a:ln>
        </p:spPr>
        <p:txBody>
          <a:bodyPr wrap="square" lIns="0" tIns="0" rIns="0" bIns="0" rtlCol="0"/>
          <a:lstStyle/>
          <a:p>
            <a:endParaRPr sz="1588"/>
          </a:p>
        </p:txBody>
      </p:sp>
      <p:sp>
        <p:nvSpPr>
          <p:cNvPr id="87" name="object 87"/>
          <p:cNvSpPr/>
          <p:nvPr/>
        </p:nvSpPr>
        <p:spPr>
          <a:xfrm>
            <a:off x="6960635" y="5032129"/>
            <a:ext cx="249331" cy="0"/>
          </a:xfrm>
          <a:custGeom>
            <a:avLst/>
            <a:gdLst/>
            <a:ahLst/>
            <a:cxnLst/>
            <a:rect l="l" t="t" r="r" b="b"/>
            <a:pathLst>
              <a:path w="282575">
                <a:moveTo>
                  <a:pt x="0" y="0"/>
                </a:moveTo>
                <a:lnTo>
                  <a:pt x="281978" y="0"/>
                </a:lnTo>
              </a:path>
            </a:pathLst>
          </a:custGeom>
          <a:ln w="20891">
            <a:solidFill>
              <a:srgbClr val="4D4D4F"/>
            </a:solidFill>
          </a:ln>
        </p:spPr>
        <p:txBody>
          <a:bodyPr wrap="square" lIns="0" tIns="0" rIns="0" bIns="0" rtlCol="0"/>
          <a:lstStyle/>
          <a:p>
            <a:endParaRPr sz="1588"/>
          </a:p>
        </p:txBody>
      </p:sp>
      <p:sp>
        <p:nvSpPr>
          <p:cNvPr id="88" name="object 88"/>
          <p:cNvSpPr/>
          <p:nvPr/>
        </p:nvSpPr>
        <p:spPr>
          <a:xfrm>
            <a:off x="6940021" y="4350234"/>
            <a:ext cx="0" cy="825874"/>
          </a:xfrm>
          <a:custGeom>
            <a:avLst/>
            <a:gdLst/>
            <a:ahLst/>
            <a:cxnLst/>
            <a:rect l="l" t="t" r="r" b="b"/>
            <a:pathLst>
              <a:path h="935989">
                <a:moveTo>
                  <a:pt x="0" y="0"/>
                </a:moveTo>
                <a:lnTo>
                  <a:pt x="0" y="935736"/>
                </a:lnTo>
              </a:path>
            </a:pathLst>
          </a:custGeom>
          <a:ln w="47002">
            <a:solidFill>
              <a:srgbClr val="4D4D4F"/>
            </a:solidFill>
          </a:ln>
        </p:spPr>
        <p:txBody>
          <a:bodyPr wrap="square" lIns="0" tIns="0" rIns="0" bIns="0" rtlCol="0"/>
          <a:lstStyle/>
          <a:p>
            <a:endParaRPr sz="1588"/>
          </a:p>
        </p:txBody>
      </p:sp>
      <p:sp>
        <p:nvSpPr>
          <p:cNvPr id="89" name="object 89"/>
          <p:cNvSpPr/>
          <p:nvPr/>
        </p:nvSpPr>
        <p:spPr>
          <a:xfrm>
            <a:off x="6711193" y="4566872"/>
            <a:ext cx="165264" cy="97368"/>
          </a:xfrm>
          <a:prstGeom prst="rect">
            <a:avLst/>
          </a:prstGeom>
          <a:blipFill>
            <a:blip r:embed="rId8" cstate="print"/>
            <a:stretch>
              <a:fillRect/>
            </a:stretch>
          </a:blipFill>
        </p:spPr>
        <p:txBody>
          <a:bodyPr wrap="square" lIns="0" tIns="0" rIns="0" bIns="0" rtlCol="0"/>
          <a:lstStyle/>
          <a:p>
            <a:endParaRPr sz="1588"/>
          </a:p>
        </p:txBody>
      </p:sp>
      <p:sp>
        <p:nvSpPr>
          <p:cNvPr id="90" name="object 90"/>
          <p:cNvSpPr/>
          <p:nvPr/>
        </p:nvSpPr>
        <p:spPr>
          <a:xfrm>
            <a:off x="6633319" y="4208305"/>
            <a:ext cx="190724" cy="117460"/>
          </a:xfrm>
          <a:prstGeom prst="rect">
            <a:avLst/>
          </a:prstGeom>
          <a:blipFill>
            <a:blip r:embed="rId9" cstate="print"/>
            <a:stretch>
              <a:fillRect/>
            </a:stretch>
          </a:blipFill>
        </p:spPr>
        <p:txBody>
          <a:bodyPr wrap="square" lIns="0" tIns="0" rIns="0" bIns="0" rtlCol="0"/>
          <a:lstStyle/>
          <a:p>
            <a:endParaRPr sz="1588"/>
          </a:p>
        </p:txBody>
      </p:sp>
      <p:sp>
        <p:nvSpPr>
          <p:cNvPr id="91" name="object 91"/>
          <p:cNvSpPr txBox="1"/>
          <p:nvPr/>
        </p:nvSpPr>
        <p:spPr>
          <a:xfrm>
            <a:off x="4966529" y="1647996"/>
            <a:ext cx="2162175" cy="277262"/>
          </a:xfrm>
          <a:prstGeom prst="rect">
            <a:avLst/>
          </a:prstGeom>
        </p:spPr>
        <p:txBody>
          <a:bodyPr vert="horz" wrap="square" lIns="0" tIns="12326" rIns="0" bIns="0" rtlCol="0">
            <a:spAutoFit/>
          </a:bodyPr>
          <a:lstStyle/>
          <a:p>
            <a:pPr marL="11206">
              <a:spcBef>
                <a:spcPts val="97"/>
              </a:spcBef>
              <a:tabLst>
                <a:tab pos="1624940" algn="l"/>
                <a:tab pos="1836742" algn="l"/>
                <a:tab pos="2012123" algn="l"/>
              </a:tabLst>
            </a:pPr>
            <a:r>
              <a:rPr sz="1721" spc="44">
                <a:solidFill>
                  <a:srgbClr val="8FB733"/>
                </a:solidFill>
                <a:latin typeface="Calibri"/>
                <a:cs typeface="Calibri"/>
              </a:rPr>
              <a:t>19</a:t>
            </a:r>
            <a:r>
              <a:rPr sz="1721" spc="-22">
                <a:solidFill>
                  <a:srgbClr val="8FB733"/>
                </a:solidFill>
                <a:latin typeface="Calibri"/>
                <a:cs typeface="Calibri"/>
              </a:rPr>
              <a:t> </a:t>
            </a:r>
            <a:r>
              <a:rPr sz="1721" spc="106">
                <a:solidFill>
                  <a:srgbClr val="8FB733"/>
                </a:solidFill>
                <a:latin typeface="Calibri"/>
                <a:cs typeface="Calibri"/>
              </a:rPr>
              <a:t>states	</a:t>
            </a:r>
            <a:r>
              <a:rPr sz="1721" u="dbl" spc="159">
                <a:solidFill>
                  <a:srgbClr val="8FB733"/>
                </a:solidFill>
                <a:uFill>
                  <a:solidFill>
                    <a:srgbClr val="DCDDDE"/>
                  </a:solidFill>
                </a:uFill>
                <a:latin typeface="Calibri"/>
                <a:cs typeface="Calibri"/>
              </a:rPr>
              <a:t> </a:t>
            </a:r>
            <a:r>
              <a:rPr sz="1721" u="dbl" spc="106">
                <a:solidFill>
                  <a:srgbClr val="8FB733"/>
                </a:solidFill>
                <a:uFill>
                  <a:solidFill>
                    <a:srgbClr val="DCDDDE"/>
                  </a:solidFill>
                </a:uFill>
                <a:latin typeface="Calibri"/>
                <a:cs typeface="Calibri"/>
              </a:rPr>
              <a:t>	</a:t>
            </a:r>
            <a:r>
              <a:rPr sz="1721" spc="106">
                <a:solidFill>
                  <a:srgbClr val="8FB733"/>
                </a:solidFill>
                <a:latin typeface="Calibri"/>
                <a:cs typeface="Calibri"/>
              </a:rPr>
              <a:t>	</a:t>
            </a:r>
            <a:r>
              <a:rPr sz="1721" u="dbl" spc="159">
                <a:solidFill>
                  <a:srgbClr val="8FB733"/>
                </a:solidFill>
                <a:uFill>
                  <a:solidFill>
                    <a:srgbClr val="DCDDDE"/>
                  </a:solidFill>
                </a:uFill>
                <a:latin typeface="Calibri"/>
                <a:cs typeface="Calibri"/>
              </a:rPr>
              <a:t> </a:t>
            </a:r>
            <a:r>
              <a:rPr sz="1721" u="dbl" spc="-132">
                <a:solidFill>
                  <a:srgbClr val="8FB733"/>
                </a:solidFill>
                <a:uFill>
                  <a:solidFill>
                    <a:srgbClr val="DCDDDE"/>
                  </a:solidFill>
                </a:uFill>
                <a:latin typeface="Calibri"/>
                <a:cs typeface="Calibri"/>
              </a:rPr>
              <a:t> </a:t>
            </a:r>
            <a:endParaRPr sz="1721">
              <a:latin typeface="Calibri"/>
              <a:cs typeface="Calibri"/>
            </a:endParaRPr>
          </a:p>
        </p:txBody>
      </p:sp>
      <p:sp>
        <p:nvSpPr>
          <p:cNvPr id="92" name="object 92"/>
          <p:cNvSpPr txBox="1"/>
          <p:nvPr/>
        </p:nvSpPr>
        <p:spPr>
          <a:xfrm>
            <a:off x="7492241" y="1314198"/>
            <a:ext cx="2474259" cy="1976680"/>
          </a:xfrm>
          <a:prstGeom prst="rect">
            <a:avLst/>
          </a:prstGeom>
        </p:spPr>
        <p:txBody>
          <a:bodyPr vert="horz" wrap="square" lIns="0" tIns="13447" rIns="0" bIns="0" rtlCol="0">
            <a:spAutoFit/>
          </a:bodyPr>
          <a:lstStyle/>
          <a:p>
            <a:pPr marL="87411">
              <a:lnSpc>
                <a:spcPts val="1319"/>
              </a:lnSpc>
              <a:spcBef>
                <a:spcPts val="106"/>
              </a:spcBef>
            </a:pPr>
            <a:r>
              <a:rPr sz="1191" b="1" spc="176">
                <a:solidFill>
                  <a:srgbClr val="E0004D"/>
                </a:solidFill>
                <a:latin typeface="Calibri"/>
                <a:cs typeface="Calibri"/>
              </a:rPr>
              <a:t>SCHOOL</a:t>
            </a:r>
            <a:endParaRPr sz="1191">
              <a:latin typeface="Calibri"/>
              <a:cs typeface="Calibri"/>
            </a:endParaRPr>
          </a:p>
          <a:p>
            <a:pPr marL="87411">
              <a:lnSpc>
                <a:spcPts val="1319"/>
              </a:lnSpc>
            </a:pPr>
            <a:r>
              <a:rPr sz="1191" b="1" spc="115">
                <a:solidFill>
                  <a:srgbClr val="E0004D"/>
                </a:solidFill>
                <a:latin typeface="Calibri"/>
                <a:cs typeface="Calibri"/>
              </a:rPr>
              <a:t>IMPROVEMENT</a:t>
            </a:r>
            <a:endParaRPr sz="1191">
              <a:latin typeface="Calibri"/>
              <a:cs typeface="Calibri"/>
            </a:endParaRPr>
          </a:p>
          <a:p>
            <a:pPr>
              <a:spcBef>
                <a:spcPts val="44"/>
              </a:spcBef>
            </a:pPr>
            <a:endParaRPr sz="1103">
              <a:latin typeface="Times New Roman"/>
              <a:cs typeface="Times New Roman"/>
            </a:endParaRPr>
          </a:p>
          <a:p>
            <a:pPr marL="340117" indent="-252706">
              <a:lnSpc>
                <a:spcPts val="1985"/>
              </a:lnSpc>
              <a:buAutoNum type="arabicPlain" startAt="11"/>
              <a:tabLst>
                <a:tab pos="340677" algn="l"/>
              </a:tabLst>
            </a:pPr>
            <a:r>
              <a:rPr sz="1721" spc="106">
                <a:solidFill>
                  <a:srgbClr val="E0004D"/>
                </a:solidFill>
                <a:latin typeface="Calibri"/>
                <a:cs typeface="Calibri"/>
              </a:rPr>
              <a:t>states</a:t>
            </a:r>
            <a:endParaRPr sz="1721">
              <a:latin typeface="Calibri"/>
              <a:cs typeface="Calibri"/>
            </a:endParaRPr>
          </a:p>
          <a:p>
            <a:pPr marL="87411" marR="517179">
              <a:lnSpc>
                <a:spcPts val="1121"/>
              </a:lnSpc>
              <a:spcBef>
                <a:spcPts val="40"/>
              </a:spcBef>
            </a:pPr>
            <a:r>
              <a:rPr sz="662" spc="9">
                <a:latin typeface="Calibri"/>
                <a:cs typeface="Calibri"/>
              </a:rPr>
              <a:t>will </a:t>
            </a:r>
            <a:r>
              <a:rPr sz="662" spc="18">
                <a:latin typeface="Calibri"/>
                <a:cs typeface="Calibri"/>
              </a:rPr>
              <a:t>prioritize </a:t>
            </a:r>
            <a:r>
              <a:rPr sz="1015" b="1" spc="53">
                <a:latin typeface="Calibri"/>
                <a:cs typeface="Calibri"/>
              </a:rPr>
              <a:t>personalized </a:t>
            </a:r>
            <a:r>
              <a:rPr sz="1015" b="1" spc="49">
                <a:latin typeface="Calibri"/>
                <a:cs typeface="Calibri"/>
              </a:rPr>
              <a:t>learning  strategies </a:t>
            </a:r>
            <a:r>
              <a:rPr sz="662" spc="9">
                <a:latin typeface="Calibri"/>
                <a:cs typeface="Calibri"/>
              </a:rPr>
              <a:t>for </a:t>
            </a:r>
            <a:r>
              <a:rPr sz="662" spc="31">
                <a:latin typeface="Calibri"/>
                <a:cs typeface="Calibri"/>
              </a:rPr>
              <a:t>supporting </a:t>
            </a:r>
            <a:r>
              <a:rPr sz="662" spc="44">
                <a:latin typeface="Calibri"/>
                <a:cs typeface="Calibri"/>
              </a:rPr>
              <a:t>schools</a:t>
            </a:r>
            <a:r>
              <a:rPr sz="662" spc="49">
                <a:latin typeface="Calibri"/>
                <a:cs typeface="Calibri"/>
              </a:rPr>
              <a:t> </a:t>
            </a:r>
            <a:r>
              <a:rPr sz="662" spc="22">
                <a:latin typeface="Calibri"/>
                <a:cs typeface="Calibri"/>
              </a:rPr>
              <a:t>identified</a:t>
            </a:r>
            <a:endParaRPr sz="662">
              <a:latin typeface="Calibri"/>
              <a:cs typeface="Calibri"/>
            </a:endParaRPr>
          </a:p>
          <a:p>
            <a:pPr marL="87411">
              <a:spcBef>
                <a:spcPts val="71"/>
              </a:spcBef>
            </a:pPr>
            <a:r>
              <a:rPr sz="662" spc="9">
                <a:latin typeface="Calibri"/>
                <a:cs typeface="Calibri"/>
              </a:rPr>
              <a:t>for</a:t>
            </a:r>
            <a:r>
              <a:rPr sz="662" spc="22">
                <a:latin typeface="Calibri"/>
                <a:cs typeface="Calibri"/>
              </a:rPr>
              <a:t> </a:t>
            </a:r>
            <a:r>
              <a:rPr sz="662" spc="26">
                <a:latin typeface="Calibri"/>
                <a:cs typeface="Calibri"/>
              </a:rPr>
              <a:t>improvement.</a:t>
            </a:r>
            <a:endParaRPr sz="662">
              <a:latin typeface="Calibri"/>
              <a:cs typeface="Calibri"/>
            </a:endParaRPr>
          </a:p>
          <a:p>
            <a:pPr>
              <a:spcBef>
                <a:spcPts val="44"/>
              </a:spcBef>
            </a:pPr>
            <a:endParaRPr sz="971">
              <a:latin typeface="Times New Roman"/>
              <a:cs typeface="Times New Roman"/>
            </a:endParaRPr>
          </a:p>
          <a:p>
            <a:pPr marL="374857" indent="-287446">
              <a:lnSpc>
                <a:spcPts val="1950"/>
              </a:lnSpc>
              <a:buAutoNum type="arabicPlain" startAt="12"/>
              <a:tabLst>
                <a:tab pos="375417" algn="l"/>
              </a:tabLst>
            </a:pPr>
            <a:r>
              <a:rPr sz="1721" spc="106">
                <a:solidFill>
                  <a:srgbClr val="E0004D"/>
                </a:solidFill>
                <a:latin typeface="Calibri"/>
                <a:cs typeface="Calibri"/>
              </a:rPr>
              <a:t>states</a:t>
            </a:r>
            <a:endParaRPr sz="1721">
              <a:latin typeface="Calibri"/>
              <a:cs typeface="Calibri"/>
            </a:endParaRPr>
          </a:p>
          <a:p>
            <a:pPr marL="87411">
              <a:lnSpc>
                <a:spcPts val="1059"/>
              </a:lnSpc>
            </a:pPr>
            <a:r>
              <a:rPr sz="662" spc="9">
                <a:latin typeface="Calibri"/>
                <a:cs typeface="Calibri"/>
              </a:rPr>
              <a:t>will </a:t>
            </a:r>
            <a:r>
              <a:rPr sz="662" spc="18">
                <a:latin typeface="Calibri"/>
                <a:cs typeface="Calibri"/>
              </a:rPr>
              <a:t>prioritize </a:t>
            </a:r>
            <a:r>
              <a:rPr sz="662" spc="31">
                <a:latin typeface="Calibri"/>
                <a:cs typeface="Calibri"/>
              </a:rPr>
              <a:t>strategies </a:t>
            </a:r>
            <a:r>
              <a:rPr sz="662" spc="9">
                <a:latin typeface="Calibri"/>
                <a:cs typeface="Calibri"/>
              </a:rPr>
              <a:t>for</a:t>
            </a:r>
            <a:r>
              <a:rPr sz="662" spc="141">
                <a:latin typeface="Calibri"/>
                <a:cs typeface="Calibri"/>
              </a:rPr>
              <a:t> </a:t>
            </a:r>
            <a:r>
              <a:rPr sz="1015" b="1" spc="49">
                <a:latin typeface="Calibri"/>
                <a:cs typeface="Calibri"/>
              </a:rPr>
              <a:t>meaningful</a:t>
            </a:r>
            <a:endParaRPr sz="1015">
              <a:latin typeface="Calibri"/>
              <a:cs typeface="Calibri"/>
            </a:endParaRPr>
          </a:p>
          <a:p>
            <a:pPr marL="87411" marR="148486">
              <a:lnSpc>
                <a:spcPts val="1041"/>
              </a:lnSpc>
              <a:spcBef>
                <a:spcPts val="137"/>
              </a:spcBef>
            </a:pPr>
            <a:r>
              <a:rPr sz="1015" b="1" spc="49">
                <a:latin typeface="Calibri"/>
                <a:cs typeface="Calibri"/>
              </a:rPr>
              <a:t>community </a:t>
            </a:r>
            <a:r>
              <a:rPr sz="1015" b="1" spc="66">
                <a:latin typeface="Calibri"/>
                <a:cs typeface="Calibri"/>
              </a:rPr>
              <a:t>engagement </a:t>
            </a:r>
            <a:r>
              <a:rPr sz="662" spc="18">
                <a:latin typeface="Calibri"/>
                <a:cs typeface="Calibri"/>
              </a:rPr>
              <a:t>in </a:t>
            </a:r>
            <a:r>
              <a:rPr sz="662" spc="22">
                <a:latin typeface="Calibri"/>
                <a:cs typeface="Calibri"/>
              </a:rPr>
              <a:t>the</a:t>
            </a:r>
            <a:r>
              <a:rPr sz="662" spc="-44">
                <a:latin typeface="Calibri"/>
                <a:cs typeface="Calibri"/>
              </a:rPr>
              <a:t> </a:t>
            </a:r>
            <a:r>
              <a:rPr sz="662" spc="35">
                <a:latin typeface="Calibri"/>
                <a:cs typeface="Calibri"/>
              </a:rPr>
              <a:t>development  </a:t>
            </a:r>
            <a:r>
              <a:rPr sz="662" spc="40">
                <a:latin typeface="Calibri"/>
                <a:cs typeface="Calibri"/>
              </a:rPr>
              <a:t>and </a:t>
            </a:r>
            <a:r>
              <a:rPr sz="662" spc="22">
                <a:latin typeface="Calibri"/>
                <a:cs typeface="Calibri"/>
              </a:rPr>
              <a:t>implementation </a:t>
            </a:r>
            <a:r>
              <a:rPr sz="662" spc="18">
                <a:latin typeface="Calibri"/>
                <a:cs typeface="Calibri"/>
              </a:rPr>
              <a:t>of </a:t>
            </a:r>
            <a:r>
              <a:rPr sz="662" spc="40">
                <a:latin typeface="Calibri"/>
                <a:cs typeface="Calibri"/>
              </a:rPr>
              <a:t>school </a:t>
            </a:r>
            <a:r>
              <a:rPr sz="662" spc="26">
                <a:latin typeface="Calibri"/>
                <a:cs typeface="Calibri"/>
              </a:rPr>
              <a:t>improvement </a:t>
            </a:r>
            <a:r>
              <a:rPr sz="662" spc="31">
                <a:latin typeface="Calibri"/>
                <a:cs typeface="Calibri"/>
              </a:rPr>
              <a:t>plans.</a:t>
            </a:r>
            <a:endParaRPr sz="662">
              <a:latin typeface="Calibri"/>
              <a:cs typeface="Calibri"/>
            </a:endParaRPr>
          </a:p>
        </p:txBody>
      </p:sp>
      <p:sp>
        <p:nvSpPr>
          <p:cNvPr id="93" name="object 93"/>
          <p:cNvSpPr txBox="1"/>
          <p:nvPr/>
        </p:nvSpPr>
        <p:spPr>
          <a:xfrm>
            <a:off x="7492241" y="3766779"/>
            <a:ext cx="2474259" cy="2232647"/>
          </a:xfrm>
          <a:prstGeom prst="rect">
            <a:avLst/>
          </a:prstGeom>
        </p:spPr>
        <p:txBody>
          <a:bodyPr vert="horz" wrap="square" lIns="0" tIns="42022" rIns="0" bIns="0" rtlCol="0">
            <a:spAutoFit/>
          </a:bodyPr>
          <a:lstStyle/>
          <a:p>
            <a:pPr marL="87411" marR="1237756">
              <a:lnSpc>
                <a:spcPts val="1209"/>
              </a:lnSpc>
              <a:spcBef>
                <a:spcPts val="331"/>
              </a:spcBef>
            </a:pPr>
            <a:r>
              <a:rPr sz="1191" b="1" spc="141">
                <a:solidFill>
                  <a:srgbClr val="FF671F"/>
                </a:solidFill>
                <a:latin typeface="Calibri"/>
                <a:cs typeface="Calibri"/>
              </a:rPr>
              <a:t>SUPPORTING  ALL</a:t>
            </a:r>
            <a:r>
              <a:rPr sz="1191" b="1" spc="66">
                <a:solidFill>
                  <a:srgbClr val="FF671F"/>
                </a:solidFill>
                <a:latin typeface="Calibri"/>
                <a:cs typeface="Calibri"/>
              </a:rPr>
              <a:t> </a:t>
            </a:r>
            <a:r>
              <a:rPr sz="1191" b="1" spc="150">
                <a:solidFill>
                  <a:srgbClr val="FF671F"/>
                </a:solidFill>
                <a:latin typeface="Calibri"/>
                <a:cs typeface="Calibri"/>
              </a:rPr>
              <a:t>STUDENTS</a:t>
            </a:r>
            <a:endParaRPr sz="1191">
              <a:latin typeface="Calibri"/>
              <a:cs typeface="Calibri"/>
            </a:endParaRPr>
          </a:p>
          <a:p>
            <a:pPr>
              <a:spcBef>
                <a:spcPts val="22"/>
              </a:spcBef>
            </a:pPr>
            <a:endParaRPr sz="1147">
              <a:latin typeface="Times New Roman"/>
              <a:cs typeface="Times New Roman"/>
            </a:endParaRPr>
          </a:p>
          <a:p>
            <a:pPr marL="65558"/>
            <a:r>
              <a:rPr sz="1721" spc="35">
                <a:solidFill>
                  <a:srgbClr val="FF671F"/>
                </a:solidFill>
                <a:latin typeface="Calibri"/>
                <a:cs typeface="Calibri"/>
              </a:rPr>
              <a:t>21</a:t>
            </a:r>
            <a:r>
              <a:rPr sz="1721" spc="49">
                <a:solidFill>
                  <a:srgbClr val="FF671F"/>
                </a:solidFill>
                <a:latin typeface="Calibri"/>
                <a:cs typeface="Calibri"/>
              </a:rPr>
              <a:t> </a:t>
            </a:r>
            <a:r>
              <a:rPr sz="1721" spc="106">
                <a:solidFill>
                  <a:srgbClr val="FF671F"/>
                </a:solidFill>
                <a:latin typeface="Calibri"/>
                <a:cs typeface="Calibri"/>
              </a:rPr>
              <a:t>states</a:t>
            </a:r>
            <a:endParaRPr sz="1721">
              <a:latin typeface="Calibri"/>
              <a:cs typeface="Calibri"/>
            </a:endParaRPr>
          </a:p>
          <a:p>
            <a:pPr marL="87411">
              <a:spcBef>
                <a:spcPts val="119"/>
              </a:spcBef>
            </a:pPr>
            <a:r>
              <a:rPr sz="662" spc="9">
                <a:latin typeface="Calibri"/>
                <a:cs typeface="Calibri"/>
              </a:rPr>
              <a:t>will </a:t>
            </a:r>
            <a:r>
              <a:rPr sz="662" spc="18">
                <a:latin typeface="Calibri"/>
                <a:cs typeface="Calibri"/>
              </a:rPr>
              <a:t>prioritize </a:t>
            </a:r>
            <a:r>
              <a:rPr sz="662" spc="22">
                <a:latin typeface="Calibri"/>
                <a:cs typeface="Calibri"/>
              </a:rPr>
              <a:t>the </a:t>
            </a:r>
            <a:r>
              <a:rPr sz="662" spc="49">
                <a:latin typeface="Calibri"/>
                <a:cs typeface="Calibri"/>
              </a:rPr>
              <a:t>use </a:t>
            </a:r>
            <a:r>
              <a:rPr sz="662" spc="18">
                <a:latin typeface="Calibri"/>
                <a:cs typeface="Calibri"/>
              </a:rPr>
              <a:t>of </a:t>
            </a:r>
            <a:r>
              <a:rPr sz="662" spc="22">
                <a:latin typeface="Calibri"/>
                <a:cs typeface="Calibri"/>
              </a:rPr>
              <a:t>Title</a:t>
            </a:r>
            <a:r>
              <a:rPr sz="662" spc="44">
                <a:latin typeface="Calibri"/>
                <a:cs typeface="Calibri"/>
              </a:rPr>
              <a:t> </a:t>
            </a:r>
            <a:r>
              <a:rPr sz="662" spc="35">
                <a:latin typeface="Calibri"/>
                <a:cs typeface="Calibri"/>
              </a:rPr>
              <a:t>IV</a:t>
            </a:r>
            <a:endParaRPr sz="662">
              <a:latin typeface="Calibri"/>
              <a:cs typeface="Calibri"/>
            </a:endParaRPr>
          </a:p>
          <a:p>
            <a:pPr marL="87411">
              <a:lnSpc>
                <a:spcPts val="741"/>
              </a:lnSpc>
              <a:spcBef>
                <a:spcPts val="243"/>
              </a:spcBef>
            </a:pPr>
            <a:r>
              <a:rPr sz="662" spc="31">
                <a:latin typeface="Calibri"/>
                <a:cs typeface="Calibri"/>
              </a:rPr>
              <a:t>funds </a:t>
            </a:r>
            <a:r>
              <a:rPr sz="662" spc="13">
                <a:latin typeface="Calibri"/>
                <a:cs typeface="Calibri"/>
              </a:rPr>
              <a:t>to </a:t>
            </a:r>
            <a:r>
              <a:rPr sz="662" spc="31">
                <a:latin typeface="Calibri"/>
                <a:cs typeface="Calibri"/>
              </a:rPr>
              <a:t>support </a:t>
            </a:r>
            <a:r>
              <a:rPr sz="662" spc="44">
                <a:latin typeface="Calibri"/>
                <a:cs typeface="Calibri"/>
              </a:rPr>
              <a:t>schools </a:t>
            </a:r>
            <a:r>
              <a:rPr sz="662" spc="40">
                <a:latin typeface="Calibri"/>
                <a:cs typeface="Calibri"/>
              </a:rPr>
              <a:t>and </a:t>
            </a:r>
            <a:r>
              <a:rPr sz="662" spc="22">
                <a:latin typeface="Calibri"/>
                <a:cs typeface="Calibri"/>
              </a:rPr>
              <a:t>districts</a:t>
            </a:r>
            <a:r>
              <a:rPr sz="662" spc="-4">
                <a:latin typeface="Calibri"/>
                <a:cs typeface="Calibri"/>
              </a:rPr>
              <a:t> </a:t>
            </a:r>
            <a:r>
              <a:rPr sz="662" spc="13">
                <a:latin typeface="Calibri"/>
                <a:cs typeface="Calibri"/>
              </a:rPr>
              <a:t>to</a:t>
            </a:r>
            <a:endParaRPr sz="662">
              <a:latin typeface="Calibri"/>
              <a:cs typeface="Calibri"/>
            </a:endParaRPr>
          </a:p>
          <a:p>
            <a:pPr marL="87411">
              <a:lnSpc>
                <a:spcPts val="1116"/>
              </a:lnSpc>
            </a:pPr>
            <a:r>
              <a:rPr sz="662" spc="18">
                <a:latin typeface="Calibri"/>
                <a:cs typeface="Calibri"/>
              </a:rPr>
              <a:t>offer </a:t>
            </a:r>
            <a:r>
              <a:rPr sz="1015" b="1" spc="40">
                <a:latin typeface="Calibri"/>
                <a:cs typeface="Calibri"/>
              </a:rPr>
              <a:t>social-emotional </a:t>
            </a:r>
            <a:r>
              <a:rPr sz="1015" b="1" spc="49">
                <a:latin typeface="Calibri"/>
                <a:cs typeface="Calibri"/>
              </a:rPr>
              <a:t>learning</a:t>
            </a:r>
            <a:r>
              <a:rPr sz="1015" b="1" spc="40">
                <a:latin typeface="Calibri"/>
                <a:cs typeface="Calibri"/>
              </a:rPr>
              <a:t> </a:t>
            </a:r>
            <a:r>
              <a:rPr sz="1015" b="1" spc="57">
                <a:latin typeface="Calibri"/>
                <a:cs typeface="Calibri"/>
              </a:rPr>
              <a:t>and</a:t>
            </a:r>
            <a:endParaRPr sz="1015">
              <a:latin typeface="Calibri"/>
              <a:cs typeface="Calibri"/>
            </a:endParaRPr>
          </a:p>
          <a:p>
            <a:pPr marL="87411" marR="573211" indent="-560">
              <a:lnSpc>
                <a:spcPts val="1041"/>
              </a:lnSpc>
              <a:spcBef>
                <a:spcPts val="137"/>
              </a:spcBef>
            </a:pPr>
            <a:r>
              <a:rPr sz="1015" b="1" spc="44">
                <a:latin typeface="Calibri"/>
                <a:cs typeface="Calibri"/>
              </a:rPr>
              <a:t>whole child </a:t>
            </a:r>
            <a:r>
              <a:rPr sz="1015" b="1" spc="49">
                <a:latin typeface="Calibri"/>
                <a:cs typeface="Calibri"/>
              </a:rPr>
              <a:t>supports </a:t>
            </a:r>
            <a:r>
              <a:rPr sz="662" spc="13">
                <a:latin typeface="Calibri"/>
                <a:cs typeface="Calibri"/>
              </a:rPr>
              <a:t>to </a:t>
            </a:r>
            <a:r>
              <a:rPr sz="662" spc="44">
                <a:latin typeface="Calibri"/>
                <a:cs typeface="Calibri"/>
              </a:rPr>
              <a:t>enhance</a:t>
            </a:r>
            <a:r>
              <a:rPr sz="662" spc="4">
                <a:latin typeface="Calibri"/>
                <a:cs typeface="Calibri"/>
              </a:rPr>
              <a:t> </a:t>
            </a:r>
            <a:r>
              <a:rPr sz="662" spc="22">
                <a:latin typeface="Calibri"/>
                <a:cs typeface="Calibri"/>
              </a:rPr>
              <a:t>or  </a:t>
            </a:r>
            <a:r>
              <a:rPr sz="662" spc="31">
                <a:latin typeface="Calibri"/>
                <a:cs typeface="Calibri"/>
              </a:rPr>
              <a:t>improve existing </a:t>
            </a:r>
            <a:r>
              <a:rPr sz="662" spc="40">
                <a:latin typeface="Calibri"/>
                <a:cs typeface="Calibri"/>
              </a:rPr>
              <a:t>course</a:t>
            </a:r>
            <a:r>
              <a:rPr sz="662" spc="13">
                <a:latin typeface="Calibri"/>
                <a:cs typeface="Calibri"/>
              </a:rPr>
              <a:t> </a:t>
            </a:r>
            <a:r>
              <a:rPr sz="662" spc="26">
                <a:latin typeface="Calibri"/>
                <a:cs typeface="Calibri"/>
              </a:rPr>
              <a:t>offerings.</a:t>
            </a:r>
            <a:endParaRPr sz="662">
              <a:latin typeface="Calibri"/>
              <a:cs typeface="Calibri"/>
            </a:endParaRPr>
          </a:p>
          <a:p>
            <a:pPr>
              <a:lnSpc>
                <a:spcPct val="100000"/>
              </a:lnSpc>
            </a:pPr>
            <a:endParaRPr sz="1015">
              <a:latin typeface="Times New Roman"/>
              <a:cs typeface="Times New Roman"/>
            </a:endParaRPr>
          </a:p>
          <a:p>
            <a:pPr marL="87411">
              <a:lnSpc>
                <a:spcPts val="1963"/>
              </a:lnSpc>
            </a:pPr>
            <a:r>
              <a:rPr sz="1721" spc="44">
                <a:solidFill>
                  <a:srgbClr val="FF671F"/>
                </a:solidFill>
                <a:latin typeface="Calibri"/>
                <a:cs typeface="Calibri"/>
              </a:rPr>
              <a:t>19</a:t>
            </a:r>
            <a:r>
              <a:rPr sz="1721" spc="49">
                <a:solidFill>
                  <a:srgbClr val="FF671F"/>
                </a:solidFill>
                <a:latin typeface="Calibri"/>
                <a:cs typeface="Calibri"/>
              </a:rPr>
              <a:t> </a:t>
            </a:r>
            <a:r>
              <a:rPr sz="1721" spc="106">
                <a:solidFill>
                  <a:srgbClr val="FF671F"/>
                </a:solidFill>
                <a:latin typeface="Calibri"/>
                <a:cs typeface="Calibri"/>
              </a:rPr>
              <a:t>states</a:t>
            </a:r>
            <a:endParaRPr sz="1721">
              <a:latin typeface="Calibri"/>
              <a:cs typeface="Calibri"/>
            </a:endParaRPr>
          </a:p>
          <a:p>
            <a:pPr marL="87411" marR="440414">
              <a:lnSpc>
                <a:spcPts val="1041"/>
              </a:lnSpc>
              <a:spcBef>
                <a:spcPts val="79"/>
              </a:spcBef>
            </a:pPr>
            <a:r>
              <a:rPr sz="662" spc="9">
                <a:latin typeface="Calibri"/>
                <a:cs typeface="Calibri"/>
              </a:rPr>
              <a:t>will </a:t>
            </a:r>
            <a:r>
              <a:rPr sz="662" spc="40">
                <a:latin typeface="Calibri"/>
                <a:cs typeface="Calibri"/>
              </a:rPr>
              <a:t>ensure </a:t>
            </a:r>
            <a:r>
              <a:rPr sz="662" spc="18">
                <a:latin typeface="Calibri"/>
                <a:cs typeface="Calibri"/>
              </a:rPr>
              <a:t>all </a:t>
            </a:r>
            <a:r>
              <a:rPr sz="662" spc="31">
                <a:latin typeface="Calibri"/>
                <a:cs typeface="Calibri"/>
              </a:rPr>
              <a:t>students </a:t>
            </a:r>
            <a:r>
              <a:rPr sz="662" spc="44">
                <a:latin typeface="Calibri"/>
                <a:cs typeface="Calibri"/>
              </a:rPr>
              <a:t>have a</a:t>
            </a:r>
            <a:r>
              <a:rPr sz="662" spc="-9">
                <a:latin typeface="Calibri"/>
                <a:cs typeface="Calibri"/>
              </a:rPr>
              <a:t> </a:t>
            </a:r>
            <a:r>
              <a:rPr sz="1015" b="1" spc="53">
                <a:latin typeface="Calibri"/>
                <a:cs typeface="Calibri"/>
              </a:rPr>
              <a:t>personalized  </a:t>
            </a:r>
            <a:r>
              <a:rPr sz="1015" b="1" spc="49">
                <a:latin typeface="Calibri"/>
                <a:cs typeface="Calibri"/>
              </a:rPr>
              <a:t>learning </a:t>
            </a:r>
            <a:r>
              <a:rPr sz="1015" b="1" spc="44">
                <a:latin typeface="Calibri"/>
                <a:cs typeface="Calibri"/>
              </a:rPr>
              <a:t>plan </a:t>
            </a:r>
            <a:r>
              <a:rPr sz="662" spc="9">
                <a:latin typeface="Calibri"/>
                <a:cs typeface="Calibri"/>
              </a:rPr>
              <a:t>that </a:t>
            </a:r>
            <a:r>
              <a:rPr sz="662" spc="35">
                <a:latin typeface="Calibri"/>
                <a:cs typeface="Calibri"/>
              </a:rPr>
              <a:t>aligns </a:t>
            </a:r>
            <a:r>
              <a:rPr sz="662" spc="13">
                <a:latin typeface="Calibri"/>
                <a:cs typeface="Calibri"/>
              </a:rPr>
              <a:t>to their </a:t>
            </a:r>
            <a:r>
              <a:rPr sz="662" spc="44">
                <a:latin typeface="Calibri"/>
                <a:cs typeface="Calibri"/>
              </a:rPr>
              <a:t>academic  </a:t>
            </a:r>
            <a:r>
              <a:rPr sz="662" spc="40">
                <a:latin typeface="Calibri"/>
                <a:cs typeface="Calibri"/>
              </a:rPr>
              <a:t>needs, </a:t>
            </a:r>
            <a:r>
              <a:rPr sz="662" spc="22">
                <a:latin typeface="Calibri"/>
                <a:cs typeface="Calibri"/>
              </a:rPr>
              <a:t>interests, </a:t>
            </a:r>
            <a:r>
              <a:rPr sz="662" spc="40">
                <a:latin typeface="Calibri"/>
                <a:cs typeface="Calibri"/>
              </a:rPr>
              <a:t>and</a:t>
            </a:r>
            <a:r>
              <a:rPr sz="662" spc="13">
                <a:latin typeface="Calibri"/>
                <a:cs typeface="Calibri"/>
              </a:rPr>
              <a:t> </a:t>
            </a:r>
            <a:r>
              <a:rPr sz="662" spc="40">
                <a:latin typeface="Calibri"/>
                <a:cs typeface="Calibri"/>
              </a:rPr>
              <a:t>goals.</a:t>
            </a:r>
            <a:endParaRPr sz="662">
              <a:latin typeface="Calibri"/>
              <a:cs typeface="Calibri"/>
            </a:endParaRPr>
          </a:p>
        </p:txBody>
      </p:sp>
      <p:sp>
        <p:nvSpPr>
          <p:cNvPr id="94" name="object 94"/>
          <p:cNvSpPr txBox="1"/>
          <p:nvPr/>
        </p:nvSpPr>
        <p:spPr>
          <a:xfrm>
            <a:off x="2300411" y="2874876"/>
            <a:ext cx="2491628" cy="2109345"/>
          </a:xfrm>
          <a:prstGeom prst="rect">
            <a:avLst/>
          </a:prstGeom>
        </p:spPr>
        <p:txBody>
          <a:bodyPr vert="horz" wrap="square" lIns="0" tIns="42022" rIns="0" bIns="0" rtlCol="0">
            <a:spAutoFit/>
          </a:bodyPr>
          <a:lstStyle/>
          <a:p>
            <a:pPr marL="66679" marR="1468609">
              <a:lnSpc>
                <a:spcPts val="1209"/>
              </a:lnSpc>
              <a:spcBef>
                <a:spcPts val="331"/>
              </a:spcBef>
            </a:pPr>
            <a:r>
              <a:rPr sz="1191" b="1" spc="163">
                <a:solidFill>
                  <a:srgbClr val="702F8A"/>
                </a:solidFill>
                <a:latin typeface="Calibri"/>
                <a:cs typeface="Calibri"/>
              </a:rPr>
              <a:t>EXCELLENT  </a:t>
            </a:r>
            <a:r>
              <a:rPr sz="1191" b="1" spc="176">
                <a:solidFill>
                  <a:srgbClr val="702F8A"/>
                </a:solidFill>
                <a:latin typeface="Calibri"/>
                <a:cs typeface="Calibri"/>
              </a:rPr>
              <a:t>EDU</a:t>
            </a:r>
            <a:r>
              <a:rPr sz="1191" b="1" spc="150">
                <a:solidFill>
                  <a:srgbClr val="702F8A"/>
                </a:solidFill>
                <a:latin typeface="Calibri"/>
                <a:cs typeface="Calibri"/>
              </a:rPr>
              <a:t>C</a:t>
            </a:r>
            <a:r>
              <a:rPr sz="1191" b="1" spc="62">
                <a:solidFill>
                  <a:srgbClr val="702F8A"/>
                </a:solidFill>
                <a:latin typeface="Calibri"/>
                <a:cs typeface="Calibri"/>
              </a:rPr>
              <a:t>A</a:t>
            </a:r>
            <a:r>
              <a:rPr sz="1191" b="1" spc="119">
                <a:solidFill>
                  <a:srgbClr val="702F8A"/>
                </a:solidFill>
                <a:latin typeface="Calibri"/>
                <a:cs typeface="Calibri"/>
              </a:rPr>
              <a:t>T</a:t>
            </a:r>
            <a:r>
              <a:rPr sz="1191" b="1" spc="163">
                <a:solidFill>
                  <a:srgbClr val="702F8A"/>
                </a:solidFill>
                <a:latin typeface="Calibri"/>
                <a:cs typeface="Calibri"/>
              </a:rPr>
              <a:t>ORS</a:t>
            </a:r>
            <a:endParaRPr sz="1191">
              <a:latin typeface="Calibri"/>
              <a:cs typeface="Calibri"/>
            </a:endParaRPr>
          </a:p>
          <a:p>
            <a:pPr>
              <a:spcBef>
                <a:spcPts val="40"/>
              </a:spcBef>
            </a:pPr>
            <a:endParaRPr sz="1279">
              <a:latin typeface="Times New Roman"/>
              <a:cs typeface="Times New Roman"/>
            </a:endParaRPr>
          </a:p>
          <a:p>
            <a:pPr marL="77885"/>
            <a:r>
              <a:rPr sz="1721" spc="53">
                <a:solidFill>
                  <a:srgbClr val="702F8A"/>
                </a:solidFill>
                <a:latin typeface="Calibri"/>
                <a:cs typeface="Calibri"/>
              </a:rPr>
              <a:t>10</a:t>
            </a:r>
            <a:r>
              <a:rPr sz="1721" spc="49">
                <a:solidFill>
                  <a:srgbClr val="702F8A"/>
                </a:solidFill>
                <a:latin typeface="Calibri"/>
                <a:cs typeface="Calibri"/>
              </a:rPr>
              <a:t> </a:t>
            </a:r>
            <a:r>
              <a:rPr sz="1721" spc="106">
                <a:solidFill>
                  <a:srgbClr val="702F8A"/>
                </a:solidFill>
                <a:latin typeface="Calibri"/>
                <a:cs typeface="Calibri"/>
              </a:rPr>
              <a:t>states</a:t>
            </a:r>
            <a:endParaRPr sz="1721">
              <a:latin typeface="Calibri"/>
              <a:cs typeface="Calibri"/>
            </a:endParaRPr>
          </a:p>
          <a:p>
            <a:pPr marL="89092">
              <a:lnSpc>
                <a:spcPts val="741"/>
              </a:lnSpc>
              <a:spcBef>
                <a:spcPts val="93"/>
              </a:spcBef>
            </a:pPr>
            <a:r>
              <a:rPr sz="662" spc="9">
                <a:latin typeface="Calibri"/>
                <a:cs typeface="Calibri"/>
              </a:rPr>
              <a:t>will </a:t>
            </a:r>
            <a:r>
              <a:rPr sz="662" spc="35">
                <a:latin typeface="Calibri"/>
                <a:cs typeface="Calibri"/>
              </a:rPr>
              <a:t>explore </a:t>
            </a:r>
            <a:r>
              <a:rPr sz="662" spc="22">
                <a:latin typeface="Calibri"/>
                <a:cs typeface="Calibri"/>
              </a:rPr>
              <a:t>the </a:t>
            </a:r>
            <a:r>
              <a:rPr sz="662" spc="35">
                <a:latin typeface="Calibri"/>
                <a:cs typeface="Calibri"/>
              </a:rPr>
              <a:t>development </a:t>
            </a:r>
            <a:r>
              <a:rPr sz="662" spc="18">
                <a:latin typeface="Calibri"/>
                <a:cs typeface="Calibri"/>
              </a:rPr>
              <a:t>of</a:t>
            </a:r>
            <a:r>
              <a:rPr sz="662" spc="26">
                <a:latin typeface="Calibri"/>
                <a:cs typeface="Calibri"/>
              </a:rPr>
              <a:t> </a:t>
            </a:r>
            <a:r>
              <a:rPr sz="662" spc="44">
                <a:latin typeface="Calibri"/>
                <a:cs typeface="Calibri"/>
              </a:rPr>
              <a:t>a</a:t>
            </a:r>
            <a:endParaRPr sz="662">
              <a:latin typeface="Calibri"/>
              <a:cs typeface="Calibri"/>
            </a:endParaRPr>
          </a:p>
          <a:p>
            <a:pPr marL="89092" marR="569850">
              <a:lnSpc>
                <a:spcPts val="1041"/>
              </a:lnSpc>
              <a:spcBef>
                <a:spcPts val="128"/>
              </a:spcBef>
            </a:pPr>
            <a:r>
              <a:rPr sz="662" spc="31">
                <a:latin typeface="Calibri"/>
                <a:cs typeface="Calibri"/>
              </a:rPr>
              <a:t>statewide </a:t>
            </a:r>
            <a:r>
              <a:rPr sz="662" spc="35">
                <a:latin typeface="Calibri"/>
                <a:cs typeface="Calibri"/>
              </a:rPr>
              <a:t>system </a:t>
            </a:r>
            <a:r>
              <a:rPr sz="662" spc="18">
                <a:latin typeface="Calibri"/>
                <a:cs typeface="Calibri"/>
              </a:rPr>
              <a:t>of </a:t>
            </a:r>
            <a:r>
              <a:rPr sz="1015" b="1" spc="44">
                <a:latin typeface="Calibri"/>
                <a:cs typeface="Calibri"/>
              </a:rPr>
              <a:t>micro-credentials  </a:t>
            </a:r>
            <a:r>
              <a:rPr sz="662" spc="9">
                <a:latin typeface="Calibri"/>
                <a:cs typeface="Calibri"/>
              </a:rPr>
              <a:t>for </a:t>
            </a:r>
            <a:r>
              <a:rPr sz="662" spc="35">
                <a:latin typeface="Calibri"/>
                <a:cs typeface="Calibri"/>
              </a:rPr>
              <a:t>educators </a:t>
            </a:r>
            <a:r>
              <a:rPr sz="662" spc="13">
                <a:latin typeface="Calibri"/>
                <a:cs typeface="Calibri"/>
              </a:rPr>
              <a:t>to </a:t>
            </a:r>
            <a:r>
              <a:rPr sz="662" spc="35">
                <a:latin typeface="Calibri"/>
                <a:cs typeface="Calibri"/>
              </a:rPr>
              <a:t>personalize </a:t>
            </a:r>
            <a:r>
              <a:rPr sz="662" spc="40">
                <a:latin typeface="Calibri"/>
                <a:cs typeface="Calibri"/>
              </a:rPr>
              <a:t>and </a:t>
            </a:r>
            <a:r>
              <a:rPr sz="662" spc="44">
                <a:latin typeface="Calibri"/>
                <a:cs typeface="Calibri"/>
              </a:rPr>
              <a:t>enhance  </a:t>
            </a:r>
            <a:r>
              <a:rPr sz="662" spc="31">
                <a:latin typeface="Calibri"/>
                <a:cs typeface="Calibri"/>
              </a:rPr>
              <a:t>professional</a:t>
            </a:r>
            <a:r>
              <a:rPr sz="662" spc="22">
                <a:latin typeface="Calibri"/>
                <a:cs typeface="Calibri"/>
              </a:rPr>
              <a:t> </a:t>
            </a:r>
            <a:r>
              <a:rPr sz="662" spc="31">
                <a:latin typeface="Calibri"/>
                <a:cs typeface="Calibri"/>
              </a:rPr>
              <a:t>development.</a:t>
            </a:r>
            <a:endParaRPr sz="662">
              <a:latin typeface="Calibri"/>
              <a:cs typeface="Calibri"/>
            </a:endParaRPr>
          </a:p>
          <a:p>
            <a:pPr>
              <a:spcBef>
                <a:spcPts val="49"/>
              </a:spcBef>
            </a:pPr>
            <a:endParaRPr sz="927">
              <a:latin typeface="Times New Roman"/>
              <a:cs typeface="Times New Roman"/>
            </a:endParaRPr>
          </a:p>
          <a:p>
            <a:pPr marL="77885"/>
            <a:r>
              <a:rPr sz="1721" spc="44">
                <a:solidFill>
                  <a:srgbClr val="702F8A"/>
                </a:solidFill>
                <a:latin typeface="Calibri"/>
                <a:cs typeface="Calibri"/>
              </a:rPr>
              <a:t>14</a:t>
            </a:r>
            <a:r>
              <a:rPr sz="1721" spc="49">
                <a:solidFill>
                  <a:srgbClr val="702F8A"/>
                </a:solidFill>
                <a:latin typeface="Calibri"/>
                <a:cs typeface="Calibri"/>
              </a:rPr>
              <a:t> </a:t>
            </a:r>
            <a:r>
              <a:rPr sz="1721" spc="106">
                <a:solidFill>
                  <a:srgbClr val="702F8A"/>
                </a:solidFill>
                <a:latin typeface="Calibri"/>
                <a:cs typeface="Calibri"/>
              </a:rPr>
              <a:t>states</a:t>
            </a:r>
            <a:endParaRPr sz="1721">
              <a:latin typeface="Calibri"/>
              <a:cs typeface="Calibri"/>
            </a:endParaRPr>
          </a:p>
          <a:p>
            <a:pPr marL="89092" marR="126073" algn="just">
              <a:lnSpc>
                <a:spcPct val="91400"/>
              </a:lnSpc>
              <a:spcBef>
                <a:spcPts val="119"/>
              </a:spcBef>
            </a:pPr>
            <a:r>
              <a:rPr sz="662" spc="9">
                <a:latin typeface="Calibri"/>
                <a:cs typeface="Calibri"/>
              </a:rPr>
              <a:t>will </a:t>
            </a:r>
            <a:r>
              <a:rPr sz="662" spc="35">
                <a:latin typeface="Calibri"/>
                <a:cs typeface="Calibri"/>
              </a:rPr>
              <a:t>launch </a:t>
            </a:r>
            <a:r>
              <a:rPr sz="662" spc="40">
                <a:latin typeface="Calibri"/>
                <a:cs typeface="Calibri"/>
              </a:rPr>
              <a:t>an </a:t>
            </a:r>
            <a:r>
              <a:rPr sz="662" spc="26">
                <a:latin typeface="Calibri"/>
                <a:cs typeface="Calibri"/>
              </a:rPr>
              <a:t>online </a:t>
            </a:r>
            <a:r>
              <a:rPr sz="662" spc="31">
                <a:latin typeface="Calibri"/>
                <a:cs typeface="Calibri"/>
              </a:rPr>
              <a:t>professional </a:t>
            </a:r>
            <a:r>
              <a:rPr sz="662" spc="35">
                <a:latin typeface="Calibri"/>
                <a:cs typeface="Calibri"/>
              </a:rPr>
              <a:t>development </a:t>
            </a:r>
            <a:r>
              <a:rPr sz="662" spc="18">
                <a:latin typeface="Calibri"/>
                <a:cs typeface="Calibri"/>
              </a:rPr>
              <a:t>platform </a:t>
            </a:r>
            <a:r>
              <a:rPr sz="662" spc="9">
                <a:latin typeface="Calibri"/>
                <a:cs typeface="Calibri"/>
              </a:rPr>
              <a:t>for  </a:t>
            </a:r>
            <a:r>
              <a:rPr sz="662" spc="35">
                <a:latin typeface="Calibri"/>
                <a:cs typeface="Calibri"/>
              </a:rPr>
              <a:t>educators </a:t>
            </a:r>
            <a:r>
              <a:rPr sz="662" spc="13">
                <a:latin typeface="Calibri"/>
                <a:cs typeface="Calibri"/>
              </a:rPr>
              <a:t>to </a:t>
            </a:r>
            <a:r>
              <a:rPr sz="662" spc="44">
                <a:latin typeface="Calibri"/>
                <a:cs typeface="Calibri"/>
              </a:rPr>
              <a:t>make </a:t>
            </a:r>
            <a:r>
              <a:rPr sz="1015" b="1" spc="53">
                <a:latin typeface="Calibri"/>
                <a:cs typeface="Calibri"/>
              </a:rPr>
              <a:t>personalized</a:t>
            </a:r>
            <a:r>
              <a:rPr sz="1015" b="1" spc="-18">
                <a:latin typeface="Calibri"/>
                <a:cs typeface="Calibri"/>
              </a:rPr>
              <a:t> </a:t>
            </a:r>
            <a:r>
              <a:rPr sz="1015" b="1" spc="49">
                <a:latin typeface="Calibri"/>
                <a:cs typeface="Calibri"/>
              </a:rPr>
              <a:t>professional  development </a:t>
            </a:r>
            <a:r>
              <a:rPr sz="662" spc="31">
                <a:latin typeface="Calibri"/>
                <a:cs typeface="Calibri"/>
              </a:rPr>
              <a:t>available </a:t>
            </a:r>
            <a:r>
              <a:rPr sz="662" spc="22">
                <a:latin typeface="Calibri"/>
                <a:cs typeface="Calibri"/>
              </a:rPr>
              <a:t>anytime,</a:t>
            </a:r>
            <a:r>
              <a:rPr sz="662" spc="26">
                <a:latin typeface="Calibri"/>
                <a:cs typeface="Calibri"/>
              </a:rPr>
              <a:t> </a:t>
            </a:r>
            <a:r>
              <a:rPr sz="662" spc="31">
                <a:latin typeface="Calibri"/>
                <a:cs typeface="Calibri"/>
              </a:rPr>
              <a:t>anywhere.</a:t>
            </a:r>
            <a:endParaRPr sz="662">
              <a:latin typeface="Calibri"/>
              <a:cs typeface="Calibri"/>
            </a:endParaRPr>
          </a:p>
        </p:txBody>
      </p:sp>
      <p:sp>
        <p:nvSpPr>
          <p:cNvPr id="95" name="object 95"/>
          <p:cNvSpPr txBox="1"/>
          <p:nvPr/>
        </p:nvSpPr>
        <p:spPr>
          <a:xfrm>
            <a:off x="4894348" y="5145536"/>
            <a:ext cx="2474259" cy="797918"/>
          </a:xfrm>
          <a:prstGeom prst="rect">
            <a:avLst/>
          </a:prstGeom>
        </p:spPr>
        <p:txBody>
          <a:bodyPr vert="horz" wrap="square" lIns="0" tIns="12326" rIns="0" bIns="0" rtlCol="0">
            <a:spAutoFit/>
          </a:bodyPr>
          <a:lstStyle/>
          <a:p>
            <a:pPr marL="82928">
              <a:lnSpc>
                <a:spcPts val="1990"/>
              </a:lnSpc>
              <a:spcBef>
                <a:spcPts val="97"/>
              </a:spcBef>
            </a:pPr>
            <a:r>
              <a:rPr sz="1721" spc="132">
                <a:solidFill>
                  <a:srgbClr val="8FB733"/>
                </a:solidFill>
                <a:latin typeface="Calibri"/>
                <a:cs typeface="Calibri"/>
              </a:rPr>
              <a:t>37</a:t>
            </a:r>
            <a:r>
              <a:rPr sz="1721" spc="49">
                <a:solidFill>
                  <a:srgbClr val="8FB733"/>
                </a:solidFill>
                <a:latin typeface="Calibri"/>
                <a:cs typeface="Calibri"/>
              </a:rPr>
              <a:t> </a:t>
            </a:r>
            <a:r>
              <a:rPr sz="1721" spc="106">
                <a:solidFill>
                  <a:srgbClr val="8FB733"/>
                </a:solidFill>
                <a:latin typeface="Calibri"/>
                <a:cs typeface="Calibri"/>
              </a:rPr>
              <a:t>states</a:t>
            </a:r>
            <a:endParaRPr sz="1721">
              <a:latin typeface="Calibri"/>
              <a:cs typeface="Calibri"/>
            </a:endParaRPr>
          </a:p>
          <a:p>
            <a:pPr marL="82928">
              <a:lnSpc>
                <a:spcPts val="1099"/>
              </a:lnSpc>
            </a:pPr>
            <a:r>
              <a:rPr sz="662" spc="9">
                <a:latin typeface="Calibri"/>
                <a:cs typeface="Calibri"/>
              </a:rPr>
              <a:t>will </a:t>
            </a:r>
            <a:r>
              <a:rPr sz="662" spc="26">
                <a:latin typeface="Calibri"/>
                <a:cs typeface="Calibri"/>
              </a:rPr>
              <a:t>incorporate </a:t>
            </a:r>
            <a:r>
              <a:rPr sz="662" spc="40">
                <a:latin typeface="Calibri"/>
                <a:cs typeface="Calibri"/>
              </a:rPr>
              <a:t>an</a:t>
            </a:r>
            <a:r>
              <a:rPr sz="662" spc="44">
                <a:latin typeface="Calibri"/>
                <a:cs typeface="Calibri"/>
              </a:rPr>
              <a:t> </a:t>
            </a:r>
            <a:r>
              <a:rPr sz="1015" b="1" spc="44">
                <a:latin typeface="Calibri"/>
                <a:cs typeface="Calibri"/>
              </a:rPr>
              <a:t>extended-year</a:t>
            </a:r>
            <a:endParaRPr sz="1015">
              <a:latin typeface="Calibri"/>
              <a:cs typeface="Calibri"/>
            </a:endParaRPr>
          </a:p>
          <a:p>
            <a:pPr marL="82928" marR="266714" indent="-560">
              <a:lnSpc>
                <a:spcPts val="1041"/>
              </a:lnSpc>
              <a:spcBef>
                <a:spcPts val="132"/>
              </a:spcBef>
            </a:pPr>
            <a:r>
              <a:rPr sz="1015" b="1" spc="49">
                <a:latin typeface="Calibri"/>
                <a:cs typeface="Calibri"/>
              </a:rPr>
              <a:t>graduation </a:t>
            </a:r>
            <a:r>
              <a:rPr sz="1015" b="1" spc="31">
                <a:latin typeface="Calibri"/>
                <a:cs typeface="Calibri"/>
              </a:rPr>
              <a:t>rate </a:t>
            </a:r>
            <a:r>
              <a:rPr sz="1015" b="1" spc="40">
                <a:latin typeface="Calibri"/>
                <a:cs typeface="Calibri"/>
              </a:rPr>
              <a:t>indicator </a:t>
            </a:r>
            <a:r>
              <a:rPr sz="662" spc="31">
                <a:latin typeface="Calibri"/>
                <a:cs typeface="Calibri"/>
              </a:rPr>
              <a:t>providing </a:t>
            </a:r>
            <a:r>
              <a:rPr sz="662" spc="22">
                <a:latin typeface="Calibri"/>
                <a:cs typeface="Calibri"/>
              </a:rPr>
              <a:t>credit  </a:t>
            </a:r>
            <a:r>
              <a:rPr sz="662" spc="9">
                <a:latin typeface="Calibri"/>
                <a:cs typeface="Calibri"/>
              </a:rPr>
              <a:t>for </a:t>
            </a:r>
            <a:r>
              <a:rPr sz="662" spc="44">
                <a:latin typeface="Calibri"/>
                <a:cs typeface="Calibri"/>
              </a:rPr>
              <a:t>schools </a:t>
            </a:r>
            <a:r>
              <a:rPr sz="662" spc="9">
                <a:latin typeface="Calibri"/>
                <a:cs typeface="Calibri"/>
              </a:rPr>
              <a:t>that </a:t>
            </a:r>
            <a:r>
              <a:rPr sz="662" spc="40">
                <a:latin typeface="Calibri"/>
                <a:cs typeface="Calibri"/>
              </a:rPr>
              <a:t>successfully </a:t>
            </a:r>
            <a:r>
              <a:rPr sz="662" spc="35">
                <a:latin typeface="Calibri"/>
                <a:cs typeface="Calibri"/>
              </a:rPr>
              <a:t>graduate </a:t>
            </a:r>
            <a:r>
              <a:rPr sz="662" spc="31">
                <a:latin typeface="Calibri"/>
                <a:cs typeface="Calibri"/>
              </a:rPr>
              <a:t>students </a:t>
            </a:r>
            <a:r>
              <a:rPr sz="662" spc="35">
                <a:latin typeface="Calibri"/>
                <a:cs typeface="Calibri"/>
              </a:rPr>
              <a:t>who  </a:t>
            </a:r>
            <a:r>
              <a:rPr sz="662" spc="49">
                <a:latin typeface="Calibri"/>
                <a:cs typeface="Calibri"/>
              </a:rPr>
              <a:t>need </a:t>
            </a:r>
            <a:r>
              <a:rPr sz="662" spc="26">
                <a:latin typeface="Calibri"/>
                <a:cs typeface="Calibri"/>
              </a:rPr>
              <a:t>additional</a:t>
            </a:r>
            <a:r>
              <a:rPr sz="662">
                <a:latin typeface="Calibri"/>
                <a:cs typeface="Calibri"/>
              </a:rPr>
              <a:t> </a:t>
            </a:r>
            <a:r>
              <a:rPr sz="662" spc="9">
                <a:latin typeface="Calibri"/>
                <a:cs typeface="Calibri"/>
              </a:rPr>
              <a:t>time.</a:t>
            </a:r>
            <a:endParaRPr sz="662">
              <a:latin typeface="Calibri"/>
              <a:cs typeface="Calibri"/>
            </a:endParaRPr>
          </a:p>
        </p:txBody>
      </p:sp>
      <p:sp>
        <p:nvSpPr>
          <p:cNvPr id="96" name="object 96"/>
          <p:cNvSpPr txBox="1"/>
          <p:nvPr/>
        </p:nvSpPr>
        <p:spPr>
          <a:xfrm>
            <a:off x="4966528" y="1888360"/>
            <a:ext cx="1233768" cy="170340"/>
          </a:xfrm>
          <a:prstGeom prst="rect">
            <a:avLst/>
          </a:prstGeom>
        </p:spPr>
        <p:txBody>
          <a:bodyPr vert="horz" wrap="square" lIns="0" tIns="14007" rIns="0" bIns="0" rtlCol="0">
            <a:spAutoFit/>
          </a:bodyPr>
          <a:lstStyle/>
          <a:p>
            <a:pPr marL="11206">
              <a:spcBef>
                <a:spcPts val="110"/>
              </a:spcBef>
            </a:pPr>
            <a:r>
              <a:rPr sz="662" spc="9">
                <a:latin typeface="Calibri"/>
                <a:cs typeface="Calibri"/>
              </a:rPr>
              <a:t>will </a:t>
            </a:r>
            <a:r>
              <a:rPr sz="662" spc="31">
                <a:latin typeface="Calibri"/>
                <a:cs typeface="Calibri"/>
              </a:rPr>
              <a:t>establish</a:t>
            </a:r>
            <a:r>
              <a:rPr sz="662" spc="4">
                <a:latin typeface="Calibri"/>
                <a:cs typeface="Calibri"/>
              </a:rPr>
              <a:t> </a:t>
            </a:r>
            <a:r>
              <a:rPr sz="1015" b="1" spc="62">
                <a:latin typeface="Calibri"/>
                <a:cs typeface="Calibri"/>
              </a:rPr>
              <a:t>dashboards</a:t>
            </a:r>
            <a:endParaRPr sz="1015">
              <a:latin typeface="Calibri"/>
              <a:cs typeface="Calibri"/>
            </a:endParaRPr>
          </a:p>
        </p:txBody>
      </p:sp>
      <p:sp>
        <p:nvSpPr>
          <p:cNvPr id="97" name="object 97"/>
          <p:cNvSpPr txBox="1"/>
          <p:nvPr/>
        </p:nvSpPr>
        <p:spPr>
          <a:xfrm>
            <a:off x="4966516" y="2037753"/>
            <a:ext cx="1912284" cy="399777"/>
          </a:xfrm>
          <a:prstGeom prst="rect">
            <a:avLst/>
          </a:prstGeom>
        </p:spPr>
        <p:txBody>
          <a:bodyPr vert="horz" wrap="square" lIns="0" tIns="10085" rIns="0" bIns="0" rtlCol="0">
            <a:spAutoFit/>
          </a:bodyPr>
          <a:lstStyle/>
          <a:p>
            <a:pPr marL="11206" marR="4483">
              <a:lnSpc>
                <a:spcPct val="130700"/>
              </a:lnSpc>
              <a:spcBef>
                <a:spcPts val="79"/>
              </a:spcBef>
            </a:pPr>
            <a:r>
              <a:rPr sz="662" spc="13">
                <a:latin typeface="Calibri"/>
                <a:cs typeface="Calibri"/>
              </a:rPr>
              <a:t>to </a:t>
            </a:r>
            <a:r>
              <a:rPr sz="662" spc="35">
                <a:latin typeface="Calibri"/>
                <a:cs typeface="Calibri"/>
              </a:rPr>
              <a:t>provide </a:t>
            </a:r>
            <a:r>
              <a:rPr sz="662" spc="26">
                <a:latin typeface="Calibri"/>
                <a:cs typeface="Calibri"/>
              </a:rPr>
              <a:t>parents, students, </a:t>
            </a:r>
            <a:r>
              <a:rPr sz="662" spc="40">
                <a:latin typeface="Calibri"/>
                <a:cs typeface="Calibri"/>
              </a:rPr>
              <a:t>and </a:t>
            </a:r>
            <a:r>
              <a:rPr sz="662" spc="22">
                <a:latin typeface="Calibri"/>
                <a:cs typeface="Calibri"/>
              </a:rPr>
              <a:t>other  </a:t>
            </a:r>
            <a:r>
              <a:rPr sz="662" spc="35">
                <a:latin typeface="Calibri"/>
                <a:cs typeface="Calibri"/>
              </a:rPr>
              <a:t>education stakeholders </a:t>
            </a:r>
            <a:r>
              <a:rPr sz="662" spc="13">
                <a:latin typeface="Calibri"/>
                <a:cs typeface="Calibri"/>
              </a:rPr>
              <a:t>with </a:t>
            </a:r>
            <a:r>
              <a:rPr sz="662" spc="40">
                <a:latin typeface="Calibri"/>
                <a:cs typeface="Calibri"/>
              </a:rPr>
              <a:t>comprehensive</a:t>
            </a:r>
            <a:r>
              <a:rPr sz="662">
                <a:latin typeface="Calibri"/>
                <a:cs typeface="Calibri"/>
              </a:rPr>
              <a:t> </a:t>
            </a:r>
            <a:r>
              <a:rPr sz="662" spc="31">
                <a:latin typeface="Calibri"/>
                <a:cs typeface="Calibri"/>
              </a:rPr>
              <a:t>data  </a:t>
            </a:r>
            <a:r>
              <a:rPr sz="662" spc="40">
                <a:latin typeface="Calibri"/>
                <a:cs typeface="Calibri"/>
              </a:rPr>
              <a:t>on school </a:t>
            </a:r>
            <a:r>
              <a:rPr sz="662" spc="22">
                <a:latin typeface="Calibri"/>
                <a:cs typeface="Calibri"/>
              </a:rPr>
              <a:t>quality </a:t>
            </a:r>
            <a:r>
              <a:rPr sz="662" spc="40">
                <a:latin typeface="Calibri"/>
                <a:cs typeface="Calibri"/>
              </a:rPr>
              <a:t>and </a:t>
            </a:r>
            <a:r>
              <a:rPr sz="662" spc="26">
                <a:latin typeface="Calibri"/>
                <a:cs typeface="Calibri"/>
              </a:rPr>
              <a:t>student</a:t>
            </a:r>
            <a:r>
              <a:rPr sz="662" spc="-13">
                <a:latin typeface="Calibri"/>
                <a:cs typeface="Calibri"/>
              </a:rPr>
              <a:t> </a:t>
            </a:r>
            <a:r>
              <a:rPr sz="662" spc="22">
                <a:latin typeface="Calibri"/>
                <a:cs typeface="Calibri"/>
              </a:rPr>
              <a:t>opportunities.</a:t>
            </a:r>
            <a:endParaRPr sz="662">
              <a:latin typeface="Calibri"/>
              <a:cs typeface="Calibri"/>
            </a:endParaRPr>
          </a:p>
        </p:txBody>
      </p:sp>
      <p:sp>
        <p:nvSpPr>
          <p:cNvPr id="98" name="object 98"/>
          <p:cNvSpPr txBox="1"/>
          <p:nvPr/>
        </p:nvSpPr>
        <p:spPr>
          <a:xfrm>
            <a:off x="4966481" y="2689528"/>
            <a:ext cx="2158253" cy="1094656"/>
          </a:xfrm>
          <a:prstGeom prst="rect">
            <a:avLst/>
          </a:prstGeom>
        </p:spPr>
        <p:txBody>
          <a:bodyPr vert="horz" wrap="square" lIns="0" tIns="60512" rIns="0" bIns="0" rtlCol="0">
            <a:spAutoFit/>
          </a:bodyPr>
          <a:lstStyle/>
          <a:p>
            <a:pPr marL="11206">
              <a:spcBef>
                <a:spcPts val="476"/>
              </a:spcBef>
            </a:pPr>
            <a:r>
              <a:rPr sz="1721" spc="185">
                <a:solidFill>
                  <a:srgbClr val="8FB733"/>
                </a:solidFill>
                <a:latin typeface="Calibri"/>
                <a:cs typeface="Calibri"/>
              </a:rPr>
              <a:t>25</a:t>
            </a:r>
            <a:r>
              <a:rPr sz="1721" spc="49">
                <a:solidFill>
                  <a:srgbClr val="8FB733"/>
                </a:solidFill>
                <a:latin typeface="Calibri"/>
                <a:cs typeface="Calibri"/>
              </a:rPr>
              <a:t> </a:t>
            </a:r>
            <a:r>
              <a:rPr sz="1721" spc="106">
                <a:solidFill>
                  <a:srgbClr val="8FB733"/>
                </a:solidFill>
                <a:latin typeface="Calibri"/>
                <a:cs typeface="Calibri"/>
              </a:rPr>
              <a:t>states</a:t>
            </a:r>
            <a:endParaRPr sz="1721">
              <a:latin typeface="Calibri"/>
              <a:cs typeface="Calibri"/>
            </a:endParaRPr>
          </a:p>
          <a:p>
            <a:pPr marL="11206" marR="4483">
              <a:lnSpc>
                <a:spcPts val="1041"/>
              </a:lnSpc>
              <a:spcBef>
                <a:spcPts val="13"/>
              </a:spcBef>
            </a:pPr>
            <a:r>
              <a:rPr sz="662" spc="9">
                <a:latin typeface="Calibri"/>
                <a:cs typeface="Calibri"/>
              </a:rPr>
              <a:t>will </a:t>
            </a:r>
            <a:r>
              <a:rPr sz="662" spc="49">
                <a:latin typeface="Calibri"/>
                <a:cs typeface="Calibri"/>
              </a:rPr>
              <a:t>use </a:t>
            </a:r>
            <a:r>
              <a:rPr sz="662" spc="40">
                <a:latin typeface="Calibri"/>
                <a:cs typeface="Calibri"/>
              </a:rPr>
              <a:t>an </a:t>
            </a:r>
            <a:r>
              <a:rPr sz="662" spc="44">
                <a:latin typeface="Calibri"/>
                <a:cs typeface="Calibri"/>
              </a:rPr>
              <a:t>academic </a:t>
            </a:r>
            <a:r>
              <a:rPr sz="662" spc="31">
                <a:latin typeface="Calibri"/>
                <a:cs typeface="Calibri"/>
              </a:rPr>
              <a:t>proficiency </a:t>
            </a:r>
            <a:r>
              <a:rPr sz="662" spc="22">
                <a:latin typeface="Calibri"/>
                <a:cs typeface="Calibri"/>
              </a:rPr>
              <a:t>indicator </a:t>
            </a:r>
            <a:r>
              <a:rPr sz="662" spc="9">
                <a:latin typeface="Calibri"/>
                <a:cs typeface="Calibri"/>
              </a:rPr>
              <a:t>that </a:t>
            </a:r>
            <a:r>
              <a:rPr sz="662" spc="40">
                <a:latin typeface="Calibri"/>
                <a:cs typeface="Calibri"/>
              </a:rPr>
              <a:t>accounts  </a:t>
            </a:r>
            <a:r>
              <a:rPr sz="662" spc="9">
                <a:latin typeface="Calibri"/>
                <a:cs typeface="Calibri"/>
              </a:rPr>
              <a:t>for </a:t>
            </a:r>
            <a:r>
              <a:rPr sz="662" spc="22">
                <a:latin typeface="Calibri"/>
                <a:cs typeface="Calibri"/>
              </a:rPr>
              <a:t>the </a:t>
            </a:r>
            <a:r>
              <a:rPr sz="662" spc="31">
                <a:latin typeface="Calibri"/>
                <a:cs typeface="Calibri"/>
              </a:rPr>
              <a:t>performance level </a:t>
            </a:r>
            <a:r>
              <a:rPr sz="662" spc="18">
                <a:latin typeface="Calibri"/>
                <a:cs typeface="Calibri"/>
              </a:rPr>
              <a:t>of </a:t>
            </a:r>
            <a:r>
              <a:rPr sz="662" spc="49">
                <a:latin typeface="Calibri"/>
                <a:cs typeface="Calibri"/>
              </a:rPr>
              <a:t>each </a:t>
            </a:r>
            <a:r>
              <a:rPr sz="662" spc="26">
                <a:latin typeface="Calibri"/>
                <a:cs typeface="Calibri"/>
              </a:rPr>
              <a:t>student </a:t>
            </a:r>
            <a:r>
              <a:rPr sz="662" spc="18">
                <a:latin typeface="Calibri"/>
                <a:cs typeface="Calibri"/>
              </a:rPr>
              <a:t>in </a:t>
            </a:r>
            <a:r>
              <a:rPr sz="662" spc="44">
                <a:latin typeface="Calibri"/>
                <a:cs typeface="Calibri"/>
              </a:rPr>
              <a:t>a </a:t>
            </a:r>
            <a:r>
              <a:rPr sz="662" spc="35">
                <a:latin typeface="Calibri"/>
                <a:cs typeface="Calibri"/>
              </a:rPr>
              <a:t>school,  </a:t>
            </a:r>
            <a:r>
              <a:rPr sz="662" spc="44">
                <a:latin typeface="Calibri"/>
                <a:cs typeface="Calibri"/>
              </a:rPr>
              <a:t>such </a:t>
            </a:r>
            <a:r>
              <a:rPr sz="662" spc="53">
                <a:latin typeface="Calibri"/>
                <a:cs typeface="Calibri"/>
              </a:rPr>
              <a:t>as </a:t>
            </a:r>
            <a:r>
              <a:rPr sz="1015" b="1" spc="62">
                <a:latin typeface="Calibri"/>
                <a:cs typeface="Calibri"/>
              </a:rPr>
              <a:t>scale </a:t>
            </a:r>
            <a:r>
              <a:rPr sz="1015" b="1" spc="66">
                <a:latin typeface="Calibri"/>
                <a:cs typeface="Calibri"/>
              </a:rPr>
              <a:t>scores </a:t>
            </a:r>
            <a:r>
              <a:rPr sz="1015" b="1" spc="31">
                <a:latin typeface="Calibri"/>
                <a:cs typeface="Calibri"/>
              </a:rPr>
              <a:t>or </a:t>
            </a:r>
            <a:r>
              <a:rPr sz="1015" b="1" spc="49">
                <a:latin typeface="Calibri"/>
                <a:cs typeface="Calibri"/>
              </a:rPr>
              <a:t>performance  </a:t>
            </a:r>
            <a:r>
              <a:rPr sz="1015" b="1" spc="44">
                <a:latin typeface="Calibri"/>
                <a:cs typeface="Calibri"/>
              </a:rPr>
              <a:t>indices</a:t>
            </a:r>
            <a:r>
              <a:rPr sz="662" spc="44">
                <a:latin typeface="Calibri"/>
                <a:cs typeface="Calibri"/>
              </a:rPr>
              <a:t>, </a:t>
            </a:r>
            <a:r>
              <a:rPr sz="662" spc="31">
                <a:latin typeface="Calibri"/>
                <a:cs typeface="Calibri"/>
              </a:rPr>
              <a:t>incentivizing improved performance </a:t>
            </a:r>
            <a:r>
              <a:rPr sz="662" spc="9">
                <a:latin typeface="Calibri"/>
                <a:cs typeface="Calibri"/>
              </a:rPr>
              <a:t>for  </a:t>
            </a:r>
            <a:r>
              <a:rPr sz="662" spc="49">
                <a:latin typeface="Calibri"/>
                <a:cs typeface="Calibri"/>
              </a:rPr>
              <a:t>each </a:t>
            </a:r>
            <a:r>
              <a:rPr sz="662" spc="26">
                <a:latin typeface="Calibri"/>
                <a:cs typeface="Calibri"/>
              </a:rPr>
              <a:t>student </a:t>
            </a:r>
            <a:r>
              <a:rPr sz="662" spc="40">
                <a:latin typeface="Calibri"/>
                <a:cs typeface="Calibri"/>
              </a:rPr>
              <a:t>regardless </a:t>
            </a:r>
            <a:r>
              <a:rPr sz="662" spc="18">
                <a:latin typeface="Calibri"/>
                <a:cs typeface="Calibri"/>
              </a:rPr>
              <a:t>of </a:t>
            </a:r>
            <a:r>
              <a:rPr sz="662" spc="26">
                <a:latin typeface="Calibri"/>
                <a:cs typeface="Calibri"/>
              </a:rPr>
              <a:t>whether</a:t>
            </a:r>
            <a:r>
              <a:rPr sz="662">
                <a:latin typeface="Calibri"/>
                <a:cs typeface="Calibri"/>
              </a:rPr>
              <a:t> </a:t>
            </a:r>
            <a:r>
              <a:rPr sz="662" spc="26">
                <a:latin typeface="Calibri"/>
                <a:cs typeface="Calibri"/>
              </a:rPr>
              <a:t>they</a:t>
            </a:r>
            <a:endParaRPr sz="662">
              <a:latin typeface="Calibri"/>
              <a:cs typeface="Calibri"/>
            </a:endParaRPr>
          </a:p>
          <a:p>
            <a:pPr marL="11206">
              <a:spcBef>
                <a:spcPts val="154"/>
              </a:spcBef>
            </a:pPr>
            <a:r>
              <a:rPr sz="662" spc="44">
                <a:latin typeface="Calibri"/>
                <a:cs typeface="Calibri"/>
              </a:rPr>
              <a:t>score </a:t>
            </a:r>
            <a:r>
              <a:rPr sz="662" spc="35">
                <a:latin typeface="Calibri"/>
                <a:cs typeface="Calibri"/>
              </a:rPr>
              <a:t>below </a:t>
            </a:r>
            <a:r>
              <a:rPr sz="662" spc="22">
                <a:latin typeface="Calibri"/>
                <a:cs typeface="Calibri"/>
              </a:rPr>
              <a:t>or </a:t>
            </a:r>
            <a:r>
              <a:rPr sz="662" spc="49">
                <a:latin typeface="Calibri"/>
                <a:cs typeface="Calibri"/>
              </a:rPr>
              <a:t>above</a:t>
            </a:r>
            <a:r>
              <a:rPr sz="662">
                <a:latin typeface="Calibri"/>
                <a:cs typeface="Calibri"/>
              </a:rPr>
              <a:t> </a:t>
            </a:r>
            <a:r>
              <a:rPr sz="662" spc="18">
                <a:latin typeface="Calibri"/>
                <a:cs typeface="Calibri"/>
              </a:rPr>
              <a:t>proficient.</a:t>
            </a:r>
            <a:endParaRPr sz="662">
              <a:latin typeface="Calibri"/>
              <a:cs typeface="Calibri"/>
            </a:endParaRPr>
          </a:p>
        </p:txBody>
      </p:sp>
      <p:sp>
        <p:nvSpPr>
          <p:cNvPr id="99" name="object 99"/>
          <p:cNvSpPr/>
          <p:nvPr/>
        </p:nvSpPr>
        <p:spPr>
          <a:xfrm>
            <a:off x="2367592" y="1547427"/>
            <a:ext cx="559734" cy="0"/>
          </a:xfrm>
          <a:custGeom>
            <a:avLst/>
            <a:gdLst/>
            <a:ahLst/>
            <a:cxnLst/>
            <a:rect l="l" t="t" r="r" b="b"/>
            <a:pathLst>
              <a:path w="634365">
                <a:moveTo>
                  <a:pt x="0" y="0"/>
                </a:moveTo>
                <a:lnTo>
                  <a:pt x="634187" y="0"/>
                </a:lnTo>
              </a:path>
            </a:pathLst>
          </a:custGeom>
          <a:ln w="8712">
            <a:solidFill>
              <a:srgbClr val="009CDE"/>
            </a:solidFill>
          </a:ln>
        </p:spPr>
        <p:txBody>
          <a:bodyPr wrap="square" lIns="0" tIns="0" rIns="0" bIns="0" rtlCol="0"/>
          <a:lstStyle/>
          <a:p>
            <a:endParaRPr sz="1588"/>
          </a:p>
        </p:txBody>
      </p:sp>
      <p:sp>
        <p:nvSpPr>
          <p:cNvPr id="100" name="object 100"/>
          <p:cNvSpPr/>
          <p:nvPr/>
        </p:nvSpPr>
        <p:spPr>
          <a:xfrm>
            <a:off x="4977734" y="1547427"/>
            <a:ext cx="1270187" cy="0"/>
          </a:xfrm>
          <a:custGeom>
            <a:avLst/>
            <a:gdLst/>
            <a:ahLst/>
            <a:cxnLst/>
            <a:rect l="l" t="t" r="r" b="b"/>
            <a:pathLst>
              <a:path w="1439545">
                <a:moveTo>
                  <a:pt x="0" y="0"/>
                </a:moveTo>
                <a:lnTo>
                  <a:pt x="1439011" y="0"/>
                </a:lnTo>
              </a:path>
            </a:pathLst>
          </a:custGeom>
          <a:ln w="8712">
            <a:solidFill>
              <a:srgbClr val="97D700"/>
            </a:solidFill>
          </a:ln>
        </p:spPr>
        <p:txBody>
          <a:bodyPr wrap="square" lIns="0" tIns="0" rIns="0" bIns="0" rtlCol="0"/>
          <a:lstStyle/>
          <a:p>
            <a:endParaRPr sz="1588"/>
          </a:p>
        </p:txBody>
      </p:sp>
      <p:sp>
        <p:nvSpPr>
          <p:cNvPr id="101" name="object 101"/>
          <p:cNvSpPr/>
          <p:nvPr/>
        </p:nvSpPr>
        <p:spPr>
          <a:xfrm>
            <a:off x="7579959" y="1697291"/>
            <a:ext cx="1132915" cy="0"/>
          </a:xfrm>
          <a:custGeom>
            <a:avLst/>
            <a:gdLst/>
            <a:ahLst/>
            <a:cxnLst/>
            <a:rect l="l" t="t" r="r" b="b"/>
            <a:pathLst>
              <a:path w="1283970">
                <a:moveTo>
                  <a:pt x="0" y="0"/>
                </a:moveTo>
                <a:lnTo>
                  <a:pt x="1283741" y="0"/>
                </a:lnTo>
              </a:path>
            </a:pathLst>
          </a:custGeom>
          <a:ln w="8712">
            <a:solidFill>
              <a:srgbClr val="E0004D"/>
            </a:solidFill>
          </a:ln>
        </p:spPr>
        <p:txBody>
          <a:bodyPr wrap="square" lIns="0" tIns="0" rIns="0" bIns="0" rtlCol="0"/>
          <a:lstStyle/>
          <a:p>
            <a:endParaRPr sz="1588"/>
          </a:p>
        </p:txBody>
      </p:sp>
      <p:sp>
        <p:nvSpPr>
          <p:cNvPr id="102" name="object 102"/>
          <p:cNvSpPr/>
          <p:nvPr/>
        </p:nvSpPr>
        <p:spPr>
          <a:xfrm>
            <a:off x="7579959" y="4152155"/>
            <a:ext cx="1132915" cy="0"/>
          </a:xfrm>
          <a:custGeom>
            <a:avLst/>
            <a:gdLst/>
            <a:ahLst/>
            <a:cxnLst/>
            <a:rect l="l" t="t" r="r" b="b"/>
            <a:pathLst>
              <a:path w="1283970">
                <a:moveTo>
                  <a:pt x="0" y="0"/>
                </a:moveTo>
                <a:lnTo>
                  <a:pt x="1283741" y="0"/>
                </a:lnTo>
              </a:path>
            </a:pathLst>
          </a:custGeom>
          <a:ln w="8712">
            <a:solidFill>
              <a:srgbClr val="FF671F"/>
            </a:solidFill>
          </a:ln>
        </p:spPr>
        <p:txBody>
          <a:bodyPr wrap="square" lIns="0" tIns="0" rIns="0" bIns="0" rtlCol="0"/>
          <a:lstStyle/>
          <a:p>
            <a:endParaRPr sz="1588"/>
          </a:p>
        </p:txBody>
      </p:sp>
      <p:sp>
        <p:nvSpPr>
          <p:cNvPr id="103" name="object 103"/>
          <p:cNvSpPr/>
          <p:nvPr/>
        </p:nvSpPr>
        <p:spPr>
          <a:xfrm>
            <a:off x="2367592" y="3263359"/>
            <a:ext cx="949699" cy="0"/>
          </a:xfrm>
          <a:custGeom>
            <a:avLst/>
            <a:gdLst/>
            <a:ahLst/>
            <a:cxnLst/>
            <a:rect l="l" t="t" r="r" b="b"/>
            <a:pathLst>
              <a:path w="1076325">
                <a:moveTo>
                  <a:pt x="0" y="0"/>
                </a:moveTo>
                <a:lnTo>
                  <a:pt x="1076248" y="0"/>
                </a:lnTo>
              </a:path>
            </a:pathLst>
          </a:custGeom>
          <a:ln w="8712">
            <a:solidFill>
              <a:srgbClr val="702F8A"/>
            </a:solidFill>
          </a:ln>
        </p:spPr>
        <p:txBody>
          <a:bodyPr wrap="square" lIns="0" tIns="0" rIns="0" bIns="0" rtlCol="0"/>
          <a:lstStyle/>
          <a:p>
            <a:endParaRPr sz="1588"/>
          </a:p>
        </p:txBody>
      </p:sp>
      <p:sp>
        <p:nvSpPr>
          <p:cNvPr id="104" name="object 104"/>
          <p:cNvSpPr txBox="1"/>
          <p:nvPr/>
        </p:nvSpPr>
        <p:spPr>
          <a:xfrm>
            <a:off x="4966529" y="4107479"/>
            <a:ext cx="1671357" cy="771821"/>
          </a:xfrm>
          <a:prstGeom prst="rect">
            <a:avLst/>
          </a:prstGeom>
        </p:spPr>
        <p:txBody>
          <a:bodyPr vert="horz" wrap="square" lIns="0" tIns="12326" rIns="0" bIns="0" rtlCol="0">
            <a:spAutoFit/>
          </a:bodyPr>
          <a:lstStyle/>
          <a:p>
            <a:pPr marL="11206">
              <a:spcBef>
                <a:spcPts val="97"/>
              </a:spcBef>
            </a:pPr>
            <a:r>
              <a:rPr sz="1721" spc="180">
                <a:solidFill>
                  <a:srgbClr val="8FB733"/>
                </a:solidFill>
                <a:latin typeface="Calibri"/>
                <a:cs typeface="Calibri"/>
              </a:rPr>
              <a:t>35</a:t>
            </a:r>
            <a:r>
              <a:rPr sz="1721" spc="44">
                <a:solidFill>
                  <a:srgbClr val="8FB733"/>
                </a:solidFill>
                <a:latin typeface="Calibri"/>
                <a:cs typeface="Calibri"/>
              </a:rPr>
              <a:t> </a:t>
            </a:r>
            <a:r>
              <a:rPr sz="1721" spc="106">
                <a:solidFill>
                  <a:srgbClr val="8FB733"/>
                </a:solidFill>
                <a:latin typeface="Calibri"/>
                <a:cs typeface="Calibri"/>
              </a:rPr>
              <a:t>states</a:t>
            </a:r>
            <a:endParaRPr sz="1721">
              <a:latin typeface="Calibri"/>
              <a:cs typeface="Calibri"/>
            </a:endParaRPr>
          </a:p>
          <a:p>
            <a:pPr marL="11206" marR="4483">
              <a:lnSpc>
                <a:spcPct val="90500"/>
              </a:lnSpc>
              <a:spcBef>
                <a:spcPts val="97"/>
              </a:spcBef>
            </a:pPr>
            <a:r>
              <a:rPr sz="662" spc="9">
                <a:latin typeface="Calibri"/>
                <a:cs typeface="Calibri"/>
              </a:rPr>
              <a:t>will </a:t>
            </a:r>
            <a:r>
              <a:rPr sz="662" spc="26">
                <a:latin typeface="Calibri"/>
                <a:cs typeface="Calibri"/>
              </a:rPr>
              <a:t>incorporate </a:t>
            </a:r>
            <a:r>
              <a:rPr sz="662" spc="44">
                <a:latin typeface="Calibri"/>
                <a:cs typeface="Calibri"/>
              </a:rPr>
              <a:t>a </a:t>
            </a:r>
            <a:r>
              <a:rPr sz="662" spc="35">
                <a:latin typeface="Calibri"/>
                <a:cs typeface="Calibri"/>
              </a:rPr>
              <a:t>high </a:t>
            </a:r>
            <a:r>
              <a:rPr sz="662" spc="40">
                <a:latin typeface="Calibri"/>
                <a:cs typeface="Calibri"/>
              </a:rPr>
              <a:t>school </a:t>
            </a:r>
            <a:r>
              <a:rPr sz="662" spc="22">
                <a:latin typeface="Calibri"/>
                <a:cs typeface="Calibri"/>
              </a:rPr>
              <a:t>indicator </a:t>
            </a:r>
            <a:r>
              <a:rPr sz="662" spc="9">
                <a:latin typeface="Calibri"/>
                <a:cs typeface="Calibri"/>
              </a:rPr>
              <a:t>that  </a:t>
            </a:r>
            <a:r>
              <a:rPr sz="662" spc="44">
                <a:latin typeface="Calibri"/>
                <a:cs typeface="Calibri"/>
              </a:rPr>
              <a:t>emphasizes </a:t>
            </a:r>
            <a:r>
              <a:rPr sz="1015" b="1" spc="31">
                <a:latin typeface="Calibri"/>
                <a:cs typeface="Calibri"/>
              </a:rPr>
              <a:t>multiple</a:t>
            </a:r>
            <a:r>
              <a:rPr sz="1015" b="1" spc="9">
                <a:latin typeface="Calibri"/>
                <a:cs typeface="Calibri"/>
              </a:rPr>
              <a:t> </a:t>
            </a:r>
            <a:r>
              <a:rPr sz="1015" b="1" spc="53">
                <a:latin typeface="Calibri"/>
                <a:cs typeface="Calibri"/>
              </a:rPr>
              <a:t>pathways</a:t>
            </a:r>
            <a:endParaRPr sz="1015">
              <a:latin typeface="Calibri"/>
              <a:cs typeface="Calibri"/>
            </a:endParaRPr>
          </a:p>
          <a:p>
            <a:pPr marL="11206" marR="496447">
              <a:lnSpc>
                <a:spcPts val="1041"/>
              </a:lnSpc>
            </a:pPr>
            <a:r>
              <a:rPr sz="662" spc="9">
                <a:latin typeface="Calibri"/>
                <a:cs typeface="Calibri"/>
              </a:rPr>
              <a:t>for </a:t>
            </a:r>
            <a:r>
              <a:rPr sz="662" spc="31">
                <a:latin typeface="Calibri"/>
                <a:cs typeface="Calibri"/>
              </a:rPr>
              <a:t>demonstrating </a:t>
            </a:r>
            <a:r>
              <a:rPr sz="662" spc="44">
                <a:latin typeface="Calibri"/>
                <a:cs typeface="Calibri"/>
              </a:rPr>
              <a:t>college</a:t>
            </a:r>
            <a:r>
              <a:rPr sz="662" spc="4">
                <a:latin typeface="Calibri"/>
                <a:cs typeface="Calibri"/>
              </a:rPr>
              <a:t> </a:t>
            </a:r>
            <a:r>
              <a:rPr sz="662" spc="40">
                <a:latin typeface="Calibri"/>
                <a:cs typeface="Calibri"/>
              </a:rPr>
              <a:t>and  </a:t>
            </a:r>
            <a:r>
              <a:rPr sz="662" spc="35">
                <a:latin typeface="Calibri"/>
                <a:cs typeface="Calibri"/>
              </a:rPr>
              <a:t>career</a:t>
            </a:r>
            <a:r>
              <a:rPr sz="662" spc="22">
                <a:latin typeface="Calibri"/>
                <a:cs typeface="Calibri"/>
              </a:rPr>
              <a:t> </a:t>
            </a:r>
            <a:r>
              <a:rPr sz="662" spc="35">
                <a:latin typeface="Calibri"/>
                <a:cs typeface="Calibri"/>
              </a:rPr>
              <a:t>readiness.</a:t>
            </a:r>
            <a:endParaRPr sz="662">
              <a:latin typeface="Calibri"/>
              <a:cs typeface="Calibri"/>
            </a:endParaRPr>
          </a:p>
        </p:txBody>
      </p:sp>
      <p:sp>
        <p:nvSpPr>
          <p:cNvPr id="105" name="object 105"/>
          <p:cNvSpPr/>
          <p:nvPr/>
        </p:nvSpPr>
        <p:spPr>
          <a:xfrm>
            <a:off x="3757217" y="1195139"/>
            <a:ext cx="999565" cy="928407"/>
          </a:xfrm>
          <a:custGeom>
            <a:avLst/>
            <a:gdLst/>
            <a:ahLst/>
            <a:cxnLst/>
            <a:rect l="l" t="t" r="r" b="b"/>
            <a:pathLst>
              <a:path w="1132839" h="1052195">
                <a:moveTo>
                  <a:pt x="10261" y="0"/>
                </a:moveTo>
                <a:lnTo>
                  <a:pt x="5823" y="33796"/>
                </a:lnTo>
                <a:lnTo>
                  <a:pt x="2611" y="67964"/>
                </a:lnTo>
                <a:lnTo>
                  <a:pt x="658" y="102484"/>
                </a:lnTo>
                <a:lnTo>
                  <a:pt x="0" y="137337"/>
                </a:lnTo>
                <a:lnTo>
                  <a:pt x="1262" y="185892"/>
                </a:lnTo>
                <a:lnTo>
                  <a:pt x="5007" y="233787"/>
                </a:lnTo>
                <a:lnTo>
                  <a:pt x="11173" y="280958"/>
                </a:lnTo>
                <a:lnTo>
                  <a:pt x="19695" y="327343"/>
                </a:lnTo>
                <a:lnTo>
                  <a:pt x="30511" y="372878"/>
                </a:lnTo>
                <a:lnTo>
                  <a:pt x="43559" y="417500"/>
                </a:lnTo>
                <a:lnTo>
                  <a:pt x="58774" y="461146"/>
                </a:lnTo>
                <a:lnTo>
                  <a:pt x="76095" y="503753"/>
                </a:lnTo>
                <a:lnTo>
                  <a:pt x="95458" y="545258"/>
                </a:lnTo>
                <a:lnTo>
                  <a:pt x="116801" y="585597"/>
                </a:lnTo>
                <a:lnTo>
                  <a:pt x="140060" y="624707"/>
                </a:lnTo>
                <a:lnTo>
                  <a:pt x="165172" y="662525"/>
                </a:lnTo>
                <a:lnTo>
                  <a:pt x="192075" y="698988"/>
                </a:lnTo>
                <a:lnTo>
                  <a:pt x="220705" y="734033"/>
                </a:lnTo>
                <a:lnTo>
                  <a:pt x="251000" y="767596"/>
                </a:lnTo>
                <a:lnTo>
                  <a:pt x="282896" y="799614"/>
                </a:lnTo>
                <a:lnTo>
                  <a:pt x="316332" y="830025"/>
                </a:lnTo>
                <a:lnTo>
                  <a:pt x="351243" y="858765"/>
                </a:lnTo>
                <a:lnTo>
                  <a:pt x="387567" y="885770"/>
                </a:lnTo>
                <a:lnTo>
                  <a:pt x="425241" y="910979"/>
                </a:lnTo>
                <a:lnTo>
                  <a:pt x="464201" y="934326"/>
                </a:lnTo>
                <a:lnTo>
                  <a:pt x="504386" y="955750"/>
                </a:lnTo>
                <a:lnTo>
                  <a:pt x="545732" y="975187"/>
                </a:lnTo>
                <a:lnTo>
                  <a:pt x="588176" y="992574"/>
                </a:lnTo>
                <a:lnTo>
                  <a:pt x="631655" y="1007847"/>
                </a:lnTo>
                <a:lnTo>
                  <a:pt x="676106" y="1020944"/>
                </a:lnTo>
                <a:lnTo>
                  <a:pt x="721466" y="1031802"/>
                </a:lnTo>
                <a:lnTo>
                  <a:pt x="767673" y="1040357"/>
                </a:lnTo>
                <a:lnTo>
                  <a:pt x="814663" y="1046545"/>
                </a:lnTo>
                <a:lnTo>
                  <a:pt x="862374" y="1050305"/>
                </a:lnTo>
                <a:lnTo>
                  <a:pt x="910742" y="1051572"/>
                </a:lnTo>
                <a:lnTo>
                  <a:pt x="967723" y="1049793"/>
                </a:lnTo>
                <a:lnTo>
                  <a:pt x="1023769" y="1044540"/>
                </a:lnTo>
                <a:lnTo>
                  <a:pt x="1078781" y="1035938"/>
                </a:lnTo>
                <a:lnTo>
                  <a:pt x="1132662" y="1024115"/>
                </a:lnTo>
                <a:lnTo>
                  <a:pt x="10261" y="0"/>
                </a:lnTo>
                <a:close/>
              </a:path>
              <a:path w="1132839" h="1052195">
                <a:moveTo>
                  <a:pt x="1132662" y="0"/>
                </a:moveTo>
                <a:lnTo>
                  <a:pt x="10261" y="0"/>
                </a:lnTo>
                <a:lnTo>
                  <a:pt x="1132662" y="1024115"/>
                </a:lnTo>
                <a:lnTo>
                  <a:pt x="1132662" y="0"/>
                </a:lnTo>
                <a:close/>
              </a:path>
            </a:pathLst>
          </a:custGeom>
          <a:solidFill>
            <a:srgbClr val="009CDE"/>
          </a:solidFill>
        </p:spPr>
        <p:txBody>
          <a:bodyPr wrap="square" lIns="0" tIns="0" rIns="0" bIns="0" rtlCol="0"/>
          <a:lstStyle/>
          <a:p>
            <a:endParaRPr sz="1588"/>
          </a:p>
        </p:txBody>
      </p:sp>
      <p:sp>
        <p:nvSpPr>
          <p:cNvPr id="106" name="object 106"/>
          <p:cNvSpPr/>
          <p:nvPr/>
        </p:nvSpPr>
        <p:spPr>
          <a:xfrm>
            <a:off x="4093578" y="1672927"/>
            <a:ext cx="241736" cy="234330"/>
          </a:xfrm>
          <a:prstGeom prst="rect">
            <a:avLst/>
          </a:prstGeom>
          <a:blipFill>
            <a:blip r:embed="rId10" cstate="print"/>
            <a:stretch>
              <a:fillRect/>
            </a:stretch>
          </a:blipFill>
        </p:spPr>
        <p:txBody>
          <a:bodyPr wrap="square" lIns="0" tIns="0" rIns="0" bIns="0" rtlCol="0"/>
          <a:lstStyle/>
          <a:p>
            <a:endParaRPr sz="1588"/>
          </a:p>
        </p:txBody>
      </p:sp>
      <p:sp>
        <p:nvSpPr>
          <p:cNvPr id="107" name="object 107"/>
          <p:cNvSpPr/>
          <p:nvPr/>
        </p:nvSpPr>
        <p:spPr>
          <a:xfrm>
            <a:off x="4279786" y="1464685"/>
            <a:ext cx="333375" cy="325531"/>
          </a:xfrm>
          <a:custGeom>
            <a:avLst/>
            <a:gdLst/>
            <a:ahLst/>
            <a:cxnLst/>
            <a:rect l="l" t="t" r="r" b="b"/>
            <a:pathLst>
              <a:path w="377825" h="368935">
                <a:moveTo>
                  <a:pt x="298945" y="0"/>
                </a:moveTo>
                <a:lnTo>
                  <a:pt x="0" y="298945"/>
                </a:lnTo>
                <a:lnTo>
                  <a:pt x="62947" y="361886"/>
                </a:lnTo>
                <a:lnTo>
                  <a:pt x="70310" y="366751"/>
                </a:lnTo>
                <a:lnTo>
                  <a:pt x="78668" y="368371"/>
                </a:lnTo>
                <a:lnTo>
                  <a:pt x="87058" y="366746"/>
                </a:lnTo>
                <a:lnTo>
                  <a:pt x="94411" y="361873"/>
                </a:lnTo>
                <a:lnTo>
                  <a:pt x="377609" y="78663"/>
                </a:lnTo>
                <a:lnTo>
                  <a:pt x="298945" y="0"/>
                </a:lnTo>
                <a:close/>
              </a:path>
            </a:pathLst>
          </a:custGeom>
          <a:solidFill>
            <a:srgbClr val="FF671F"/>
          </a:solidFill>
        </p:spPr>
        <p:txBody>
          <a:bodyPr wrap="square" lIns="0" tIns="0" rIns="0" bIns="0" rtlCol="0"/>
          <a:lstStyle/>
          <a:p>
            <a:endParaRPr sz="1588"/>
          </a:p>
        </p:txBody>
      </p:sp>
      <p:sp>
        <p:nvSpPr>
          <p:cNvPr id="108" name="object 108"/>
          <p:cNvSpPr/>
          <p:nvPr/>
        </p:nvSpPr>
        <p:spPr>
          <a:xfrm>
            <a:off x="4218518" y="1395276"/>
            <a:ext cx="325531" cy="333375"/>
          </a:xfrm>
          <a:custGeom>
            <a:avLst/>
            <a:gdLst/>
            <a:ahLst/>
            <a:cxnLst/>
            <a:rect l="l" t="t" r="r" b="b"/>
            <a:pathLst>
              <a:path w="368935" h="377825">
                <a:moveTo>
                  <a:pt x="289718" y="0"/>
                </a:moveTo>
                <a:lnTo>
                  <a:pt x="6496" y="283210"/>
                </a:lnTo>
                <a:lnTo>
                  <a:pt x="1624" y="290557"/>
                </a:lnTo>
                <a:lnTo>
                  <a:pt x="0" y="298938"/>
                </a:lnTo>
                <a:lnTo>
                  <a:pt x="1624" y="307320"/>
                </a:lnTo>
                <a:lnTo>
                  <a:pt x="6508" y="314680"/>
                </a:lnTo>
                <a:lnTo>
                  <a:pt x="69437" y="377609"/>
                </a:lnTo>
                <a:lnTo>
                  <a:pt x="368382" y="78663"/>
                </a:lnTo>
                <a:lnTo>
                  <a:pt x="289718" y="0"/>
                </a:lnTo>
                <a:close/>
              </a:path>
            </a:pathLst>
          </a:custGeom>
          <a:solidFill>
            <a:srgbClr val="F58153"/>
          </a:solidFill>
        </p:spPr>
        <p:txBody>
          <a:bodyPr wrap="square" lIns="0" tIns="0" rIns="0" bIns="0" rtlCol="0"/>
          <a:lstStyle/>
          <a:p>
            <a:endParaRPr sz="1588"/>
          </a:p>
        </p:txBody>
      </p:sp>
      <p:sp>
        <p:nvSpPr>
          <p:cNvPr id="109" name="object 109"/>
          <p:cNvSpPr/>
          <p:nvPr/>
        </p:nvSpPr>
        <p:spPr>
          <a:xfrm>
            <a:off x="4463383" y="1356750"/>
            <a:ext cx="188112" cy="188115"/>
          </a:xfrm>
          <a:prstGeom prst="rect">
            <a:avLst/>
          </a:prstGeom>
          <a:blipFill>
            <a:blip r:embed="rId11" cstate="print"/>
            <a:stretch>
              <a:fillRect/>
            </a:stretch>
          </a:blipFill>
        </p:spPr>
        <p:txBody>
          <a:bodyPr wrap="square" lIns="0" tIns="0" rIns="0" bIns="0" rtlCol="0"/>
          <a:lstStyle/>
          <a:p>
            <a:endParaRPr sz="1588"/>
          </a:p>
        </p:txBody>
      </p:sp>
      <p:sp>
        <p:nvSpPr>
          <p:cNvPr id="110" name="object 110"/>
          <p:cNvSpPr/>
          <p:nvPr/>
        </p:nvSpPr>
        <p:spPr>
          <a:xfrm>
            <a:off x="3934093" y="1758614"/>
            <a:ext cx="315502" cy="315528"/>
          </a:xfrm>
          <a:prstGeom prst="rect">
            <a:avLst/>
          </a:prstGeom>
          <a:blipFill>
            <a:blip r:embed="rId12" cstate="print"/>
            <a:stretch>
              <a:fillRect/>
            </a:stretch>
          </a:blipFill>
        </p:spPr>
        <p:txBody>
          <a:bodyPr wrap="square" lIns="0" tIns="0" rIns="0" bIns="0" rtlCol="0"/>
          <a:lstStyle/>
          <a:p>
            <a:endParaRPr sz="1588"/>
          </a:p>
        </p:txBody>
      </p:sp>
      <p:sp>
        <p:nvSpPr>
          <p:cNvPr id="111" name="object 111"/>
          <p:cNvSpPr/>
          <p:nvPr/>
        </p:nvSpPr>
        <p:spPr>
          <a:xfrm>
            <a:off x="3862357" y="2422091"/>
            <a:ext cx="24653" cy="24653"/>
          </a:xfrm>
          <a:custGeom>
            <a:avLst/>
            <a:gdLst/>
            <a:ahLst/>
            <a:cxnLst/>
            <a:rect l="l" t="t" r="r" b="b"/>
            <a:pathLst>
              <a:path w="27939" h="27939">
                <a:moveTo>
                  <a:pt x="12179" y="0"/>
                </a:moveTo>
                <a:lnTo>
                  <a:pt x="0" y="12191"/>
                </a:lnTo>
                <a:lnTo>
                  <a:pt x="0" y="19278"/>
                </a:lnTo>
                <a:lnTo>
                  <a:pt x="8648" y="27927"/>
                </a:lnTo>
                <a:lnTo>
                  <a:pt x="15722" y="27927"/>
                </a:lnTo>
                <a:lnTo>
                  <a:pt x="27927" y="15722"/>
                </a:lnTo>
                <a:lnTo>
                  <a:pt x="12179" y="0"/>
                </a:lnTo>
                <a:close/>
              </a:path>
            </a:pathLst>
          </a:custGeom>
          <a:solidFill>
            <a:srgbClr val="D8586D"/>
          </a:solidFill>
        </p:spPr>
        <p:txBody>
          <a:bodyPr wrap="square" lIns="0" tIns="0" rIns="0" bIns="0" rtlCol="0"/>
          <a:lstStyle/>
          <a:p>
            <a:endParaRPr sz="1588"/>
          </a:p>
        </p:txBody>
      </p:sp>
      <p:sp>
        <p:nvSpPr>
          <p:cNvPr id="112" name="object 112"/>
          <p:cNvSpPr/>
          <p:nvPr/>
        </p:nvSpPr>
        <p:spPr>
          <a:xfrm>
            <a:off x="3873116" y="1954940"/>
            <a:ext cx="337297" cy="481293"/>
          </a:xfrm>
          <a:custGeom>
            <a:avLst/>
            <a:gdLst/>
            <a:ahLst/>
            <a:cxnLst/>
            <a:rect l="l" t="t" r="r" b="b"/>
            <a:pathLst>
              <a:path w="382269" h="545464">
                <a:moveTo>
                  <a:pt x="382219" y="0"/>
                </a:moveTo>
                <a:lnTo>
                  <a:pt x="371094" y="0"/>
                </a:lnTo>
                <a:lnTo>
                  <a:pt x="371094" y="158343"/>
                </a:lnTo>
                <a:lnTo>
                  <a:pt x="0" y="529450"/>
                </a:lnTo>
                <a:lnTo>
                  <a:pt x="15735" y="545185"/>
                </a:lnTo>
                <a:lnTo>
                  <a:pt x="371094" y="189801"/>
                </a:lnTo>
                <a:lnTo>
                  <a:pt x="382219" y="189801"/>
                </a:lnTo>
                <a:lnTo>
                  <a:pt x="382219" y="0"/>
                </a:lnTo>
                <a:close/>
              </a:path>
              <a:path w="382269" h="545464">
                <a:moveTo>
                  <a:pt x="382219" y="189801"/>
                </a:moveTo>
                <a:lnTo>
                  <a:pt x="371094" y="189801"/>
                </a:lnTo>
                <a:lnTo>
                  <a:pt x="371094" y="534035"/>
                </a:lnTo>
                <a:lnTo>
                  <a:pt x="382219" y="534035"/>
                </a:lnTo>
                <a:lnTo>
                  <a:pt x="382219" y="189801"/>
                </a:lnTo>
                <a:close/>
              </a:path>
            </a:pathLst>
          </a:custGeom>
          <a:solidFill>
            <a:srgbClr val="9B6DAD"/>
          </a:solidFill>
        </p:spPr>
        <p:txBody>
          <a:bodyPr wrap="square" lIns="0" tIns="0" rIns="0" bIns="0" rtlCol="0"/>
          <a:lstStyle/>
          <a:p>
            <a:endParaRPr sz="1588"/>
          </a:p>
        </p:txBody>
      </p:sp>
      <p:sp>
        <p:nvSpPr>
          <p:cNvPr id="113" name="object 113"/>
          <p:cNvSpPr/>
          <p:nvPr/>
        </p:nvSpPr>
        <p:spPr>
          <a:xfrm>
            <a:off x="4533743" y="2422091"/>
            <a:ext cx="24653" cy="24653"/>
          </a:xfrm>
          <a:custGeom>
            <a:avLst/>
            <a:gdLst/>
            <a:ahLst/>
            <a:cxnLst/>
            <a:rect l="l" t="t" r="r" b="b"/>
            <a:pathLst>
              <a:path w="27939" h="27939">
                <a:moveTo>
                  <a:pt x="15735" y="0"/>
                </a:moveTo>
                <a:lnTo>
                  <a:pt x="0" y="15735"/>
                </a:lnTo>
                <a:lnTo>
                  <a:pt x="12204" y="27939"/>
                </a:lnTo>
                <a:lnTo>
                  <a:pt x="19265" y="27939"/>
                </a:lnTo>
                <a:lnTo>
                  <a:pt x="27940" y="19278"/>
                </a:lnTo>
                <a:lnTo>
                  <a:pt x="27940" y="12204"/>
                </a:lnTo>
                <a:lnTo>
                  <a:pt x="15735" y="0"/>
                </a:lnTo>
                <a:close/>
              </a:path>
            </a:pathLst>
          </a:custGeom>
          <a:solidFill>
            <a:srgbClr val="C8102E"/>
          </a:solidFill>
        </p:spPr>
        <p:txBody>
          <a:bodyPr wrap="square" lIns="0" tIns="0" rIns="0" bIns="0" rtlCol="0"/>
          <a:lstStyle/>
          <a:p>
            <a:endParaRPr sz="1588"/>
          </a:p>
        </p:txBody>
      </p:sp>
      <p:sp>
        <p:nvSpPr>
          <p:cNvPr id="114" name="object 114"/>
          <p:cNvSpPr/>
          <p:nvPr/>
        </p:nvSpPr>
        <p:spPr>
          <a:xfrm>
            <a:off x="4210368" y="2426138"/>
            <a:ext cx="10085" cy="20171"/>
          </a:xfrm>
          <a:custGeom>
            <a:avLst/>
            <a:gdLst/>
            <a:ahLst/>
            <a:cxnLst/>
            <a:rect l="l" t="t" r="r" b="b"/>
            <a:pathLst>
              <a:path w="11430" h="22860">
                <a:moveTo>
                  <a:pt x="11125" y="0"/>
                </a:moveTo>
                <a:lnTo>
                  <a:pt x="0" y="0"/>
                </a:lnTo>
                <a:lnTo>
                  <a:pt x="0" y="22263"/>
                </a:lnTo>
                <a:lnTo>
                  <a:pt x="6108" y="22263"/>
                </a:lnTo>
                <a:lnTo>
                  <a:pt x="11125" y="17259"/>
                </a:lnTo>
                <a:lnTo>
                  <a:pt x="11125" y="0"/>
                </a:lnTo>
                <a:close/>
              </a:path>
            </a:pathLst>
          </a:custGeom>
          <a:solidFill>
            <a:srgbClr val="C8102E"/>
          </a:solidFill>
        </p:spPr>
        <p:txBody>
          <a:bodyPr wrap="square" lIns="0" tIns="0" rIns="0" bIns="0" rtlCol="0"/>
          <a:lstStyle/>
          <a:p>
            <a:endParaRPr sz="1588"/>
          </a:p>
        </p:txBody>
      </p:sp>
      <p:sp>
        <p:nvSpPr>
          <p:cNvPr id="115" name="object 115"/>
          <p:cNvSpPr/>
          <p:nvPr/>
        </p:nvSpPr>
        <p:spPr>
          <a:xfrm>
            <a:off x="4200552" y="2426147"/>
            <a:ext cx="10085" cy="20171"/>
          </a:xfrm>
          <a:custGeom>
            <a:avLst/>
            <a:gdLst/>
            <a:ahLst/>
            <a:cxnLst/>
            <a:rect l="l" t="t" r="r" b="b"/>
            <a:pathLst>
              <a:path w="11430" h="22860">
                <a:moveTo>
                  <a:pt x="11125" y="0"/>
                </a:moveTo>
                <a:lnTo>
                  <a:pt x="0" y="0"/>
                </a:lnTo>
                <a:lnTo>
                  <a:pt x="0" y="17246"/>
                </a:lnTo>
                <a:lnTo>
                  <a:pt x="5003" y="22263"/>
                </a:lnTo>
                <a:lnTo>
                  <a:pt x="11125" y="22263"/>
                </a:lnTo>
                <a:lnTo>
                  <a:pt x="11125" y="0"/>
                </a:lnTo>
                <a:close/>
              </a:path>
            </a:pathLst>
          </a:custGeom>
          <a:solidFill>
            <a:srgbClr val="D34058"/>
          </a:solidFill>
        </p:spPr>
        <p:txBody>
          <a:bodyPr wrap="square" lIns="0" tIns="0" rIns="0" bIns="0" rtlCol="0"/>
          <a:lstStyle/>
          <a:p>
            <a:endParaRPr sz="1588"/>
          </a:p>
        </p:txBody>
      </p:sp>
      <p:sp>
        <p:nvSpPr>
          <p:cNvPr id="116" name="object 116"/>
          <p:cNvSpPr/>
          <p:nvPr/>
        </p:nvSpPr>
        <p:spPr>
          <a:xfrm>
            <a:off x="4210368" y="1954948"/>
            <a:ext cx="337297" cy="481293"/>
          </a:xfrm>
          <a:custGeom>
            <a:avLst/>
            <a:gdLst/>
            <a:ahLst/>
            <a:cxnLst/>
            <a:rect l="l" t="t" r="r" b="b"/>
            <a:pathLst>
              <a:path w="382270" h="545464">
                <a:moveTo>
                  <a:pt x="42583" y="189801"/>
                </a:moveTo>
                <a:lnTo>
                  <a:pt x="11125" y="189801"/>
                </a:lnTo>
                <a:lnTo>
                  <a:pt x="366483" y="545172"/>
                </a:lnTo>
                <a:lnTo>
                  <a:pt x="382219" y="529437"/>
                </a:lnTo>
                <a:lnTo>
                  <a:pt x="42583" y="189801"/>
                </a:lnTo>
                <a:close/>
              </a:path>
              <a:path w="382270" h="545464">
                <a:moveTo>
                  <a:pt x="11125" y="0"/>
                </a:moveTo>
                <a:lnTo>
                  <a:pt x="0" y="0"/>
                </a:lnTo>
                <a:lnTo>
                  <a:pt x="0" y="534022"/>
                </a:lnTo>
                <a:lnTo>
                  <a:pt x="11125" y="534022"/>
                </a:lnTo>
                <a:lnTo>
                  <a:pt x="11125" y="189801"/>
                </a:lnTo>
                <a:lnTo>
                  <a:pt x="42583" y="189801"/>
                </a:lnTo>
                <a:lnTo>
                  <a:pt x="11125" y="158343"/>
                </a:lnTo>
                <a:lnTo>
                  <a:pt x="11125" y="0"/>
                </a:lnTo>
                <a:close/>
              </a:path>
            </a:pathLst>
          </a:custGeom>
          <a:solidFill>
            <a:srgbClr val="702F8A"/>
          </a:solidFill>
        </p:spPr>
        <p:txBody>
          <a:bodyPr wrap="square" lIns="0" tIns="0" rIns="0" bIns="0" rtlCol="0"/>
          <a:lstStyle/>
          <a:p>
            <a:endParaRPr sz="1588"/>
          </a:p>
        </p:txBody>
      </p:sp>
      <p:sp>
        <p:nvSpPr>
          <p:cNvPr id="117" name="object 117"/>
          <p:cNvSpPr txBox="1"/>
          <p:nvPr/>
        </p:nvSpPr>
        <p:spPr>
          <a:xfrm>
            <a:off x="2300411" y="1209719"/>
            <a:ext cx="2474259" cy="1109840"/>
          </a:xfrm>
          <a:prstGeom prst="rect">
            <a:avLst/>
          </a:prstGeom>
        </p:spPr>
        <p:txBody>
          <a:bodyPr vert="horz" wrap="square" lIns="0" tIns="118222" rIns="0" bIns="0" rtlCol="0">
            <a:spAutoFit/>
          </a:bodyPr>
          <a:lstStyle/>
          <a:p>
            <a:pPr marL="66679">
              <a:spcBef>
                <a:spcPts val="931"/>
              </a:spcBef>
            </a:pPr>
            <a:r>
              <a:rPr sz="1191" b="1" spc="124">
                <a:solidFill>
                  <a:srgbClr val="009CDE"/>
                </a:solidFill>
                <a:latin typeface="Calibri"/>
                <a:cs typeface="Calibri"/>
              </a:rPr>
              <a:t>VISION</a:t>
            </a:r>
            <a:endParaRPr sz="1191">
              <a:latin typeface="Calibri"/>
              <a:cs typeface="Calibri"/>
            </a:endParaRPr>
          </a:p>
          <a:p>
            <a:pPr marL="66679">
              <a:lnSpc>
                <a:spcPts val="1977"/>
              </a:lnSpc>
              <a:spcBef>
                <a:spcPts val="1187"/>
              </a:spcBef>
            </a:pPr>
            <a:r>
              <a:rPr sz="1721" spc="-4">
                <a:solidFill>
                  <a:srgbClr val="009CDE"/>
                </a:solidFill>
                <a:latin typeface="Calibri"/>
                <a:cs typeface="Calibri"/>
              </a:rPr>
              <a:t>17</a:t>
            </a:r>
            <a:r>
              <a:rPr sz="1721" spc="49">
                <a:solidFill>
                  <a:srgbClr val="009CDE"/>
                </a:solidFill>
                <a:latin typeface="Calibri"/>
                <a:cs typeface="Calibri"/>
              </a:rPr>
              <a:t> </a:t>
            </a:r>
            <a:r>
              <a:rPr sz="1721" spc="106">
                <a:solidFill>
                  <a:srgbClr val="009CDE"/>
                </a:solidFill>
                <a:latin typeface="Calibri"/>
                <a:cs typeface="Calibri"/>
              </a:rPr>
              <a:t>states</a:t>
            </a:r>
            <a:endParaRPr sz="1721">
              <a:latin typeface="Calibri"/>
              <a:cs typeface="Calibri"/>
            </a:endParaRPr>
          </a:p>
          <a:p>
            <a:pPr marL="77885" marR="1157069">
              <a:lnSpc>
                <a:spcPts val="1041"/>
              </a:lnSpc>
              <a:spcBef>
                <a:spcPts val="93"/>
              </a:spcBef>
            </a:pPr>
            <a:r>
              <a:rPr sz="662" spc="26">
                <a:latin typeface="Calibri"/>
                <a:cs typeface="Calibri"/>
              </a:rPr>
              <a:t>incorporate</a:t>
            </a:r>
            <a:r>
              <a:rPr sz="662" spc="9">
                <a:latin typeface="Calibri"/>
                <a:cs typeface="Calibri"/>
              </a:rPr>
              <a:t> </a:t>
            </a:r>
            <a:r>
              <a:rPr sz="1015" b="1" spc="53">
                <a:latin typeface="Calibri"/>
                <a:cs typeface="Calibri"/>
              </a:rPr>
              <a:t>personalized  </a:t>
            </a:r>
            <a:r>
              <a:rPr sz="1015" b="1" spc="49">
                <a:latin typeface="Calibri"/>
                <a:cs typeface="Calibri"/>
              </a:rPr>
              <a:t>learning </a:t>
            </a:r>
            <a:r>
              <a:rPr sz="662" spc="13">
                <a:latin typeface="Calibri"/>
                <a:cs typeface="Calibri"/>
              </a:rPr>
              <a:t>into their</a:t>
            </a:r>
            <a:r>
              <a:rPr sz="662" spc="-79">
                <a:latin typeface="Calibri"/>
                <a:cs typeface="Calibri"/>
              </a:rPr>
              <a:t> </a:t>
            </a:r>
            <a:r>
              <a:rPr sz="662" spc="31">
                <a:latin typeface="Calibri"/>
                <a:cs typeface="Calibri"/>
              </a:rPr>
              <a:t>vision</a:t>
            </a:r>
            <a:endParaRPr sz="662">
              <a:latin typeface="Calibri"/>
              <a:cs typeface="Calibri"/>
            </a:endParaRPr>
          </a:p>
          <a:p>
            <a:pPr marL="77885">
              <a:spcBef>
                <a:spcPts val="168"/>
              </a:spcBef>
            </a:pPr>
            <a:r>
              <a:rPr sz="662" spc="9">
                <a:latin typeface="Calibri"/>
                <a:cs typeface="Calibri"/>
              </a:rPr>
              <a:t>for </a:t>
            </a:r>
            <a:r>
              <a:rPr sz="662" spc="84">
                <a:latin typeface="Calibri"/>
                <a:cs typeface="Calibri"/>
              </a:rPr>
              <a:t>ESSA</a:t>
            </a:r>
            <a:r>
              <a:rPr sz="662" spc="40">
                <a:latin typeface="Calibri"/>
                <a:cs typeface="Calibri"/>
              </a:rPr>
              <a:t> </a:t>
            </a:r>
            <a:r>
              <a:rPr sz="662" spc="22">
                <a:latin typeface="Calibri"/>
                <a:cs typeface="Calibri"/>
              </a:rPr>
              <a:t>implementation.</a:t>
            </a:r>
            <a:endParaRPr sz="662">
              <a:latin typeface="Calibri"/>
              <a:cs typeface="Calibri"/>
            </a:endParaRPr>
          </a:p>
        </p:txBody>
      </p:sp>
      <p:sp>
        <p:nvSpPr>
          <p:cNvPr id="118" name="object 118"/>
          <p:cNvSpPr/>
          <p:nvPr/>
        </p:nvSpPr>
        <p:spPr>
          <a:xfrm>
            <a:off x="3781374" y="5975266"/>
            <a:ext cx="868456" cy="191621"/>
          </a:xfrm>
          <a:custGeom>
            <a:avLst/>
            <a:gdLst/>
            <a:ahLst/>
            <a:cxnLst/>
            <a:rect l="l" t="t" r="r" b="b"/>
            <a:pathLst>
              <a:path w="984250" h="217170">
                <a:moveTo>
                  <a:pt x="984084" y="0"/>
                </a:moveTo>
                <a:lnTo>
                  <a:pt x="52527" y="0"/>
                </a:lnTo>
                <a:lnTo>
                  <a:pt x="32136" y="4144"/>
                </a:lnTo>
                <a:lnTo>
                  <a:pt x="15433" y="15428"/>
                </a:lnTo>
                <a:lnTo>
                  <a:pt x="4146" y="32130"/>
                </a:lnTo>
                <a:lnTo>
                  <a:pt x="0" y="52527"/>
                </a:lnTo>
                <a:lnTo>
                  <a:pt x="0" y="164376"/>
                </a:lnTo>
                <a:lnTo>
                  <a:pt x="4146" y="184777"/>
                </a:lnTo>
                <a:lnTo>
                  <a:pt x="15433" y="201479"/>
                </a:lnTo>
                <a:lnTo>
                  <a:pt x="32136" y="212760"/>
                </a:lnTo>
                <a:lnTo>
                  <a:pt x="52527" y="216903"/>
                </a:lnTo>
                <a:lnTo>
                  <a:pt x="984084" y="216903"/>
                </a:lnTo>
                <a:lnTo>
                  <a:pt x="970517" y="192420"/>
                </a:lnTo>
                <a:lnTo>
                  <a:pt x="960445" y="165981"/>
                </a:lnTo>
                <a:lnTo>
                  <a:pt x="954175" y="137891"/>
                </a:lnTo>
                <a:lnTo>
                  <a:pt x="952017" y="108458"/>
                </a:lnTo>
                <a:lnTo>
                  <a:pt x="954175" y="79022"/>
                </a:lnTo>
                <a:lnTo>
                  <a:pt x="960445" y="50928"/>
                </a:lnTo>
                <a:lnTo>
                  <a:pt x="970517" y="24485"/>
                </a:lnTo>
                <a:lnTo>
                  <a:pt x="984084" y="0"/>
                </a:lnTo>
                <a:close/>
              </a:path>
            </a:pathLst>
          </a:custGeom>
          <a:solidFill>
            <a:srgbClr val="FFFFFF"/>
          </a:solidFill>
        </p:spPr>
        <p:txBody>
          <a:bodyPr wrap="square" lIns="0" tIns="0" rIns="0" bIns="0" rtlCol="0"/>
          <a:lstStyle/>
          <a:p>
            <a:endParaRPr sz="1588"/>
          </a:p>
        </p:txBody>
      </p:sp>
      <p:sp>
        <p:nvSpPr>
          <p:cNvPr id="119" name="object 119"/>
          <p:cNvSpPr/>
          <p:nvPr/>
        </p:nvSpPr>
        <p:spPr>
          <a:xfrm>
            <a:off x="3781374" y="5975266"/>
            <a:ext cx="868456" cy="191621"/>
          </a:xfrm>
          <a:custGeom>
            <a:avLst/>
            <a:gdLst/>
            <a:ahLst/>
            <a:cxnLst/>
            <a:rect l="l" t="t" r="r" b="b"/>
            <a:pathLst>
              <a:path w="984250" h="217170">
                <a:moveTo>
                  <a:pt x="952017" y="108458"/>
                </a:moveTo>
                <a:lnTo>
                  <a:pt x="954175" y="79022"/>
                </a:lnTo>
                <a:lnTo>
                  <a:pt x="960445" y="50928"/>
                </a:lnTo>
                <a:lnTo>
                  <a:pt x="970517" y="24485"/>
                </a:lnTo>
                <a:lnTo>
                  <a:pt x="984084" y="0"/>
                </a:lnTo>
                <a:lnTo>
                  <a:pt x="52527" y="0"/>
                </a:lnTo>
                <a:lnTo>
                  <a:pt x="32136" y="4144"/>
                </a:lnTo>
                <a:lnTo>
                  <a:pt x="15433" y="15428"/>
                </a:lnTo>
                <a:lnTo>
                  <a:pt x="4146" y="32130"/>
                </a:lnTo>
                <a:lnTo>
                  <a:pt x="0" y="52527"/>
                </a:lnTo>
                <a:lnTo>
                  <a:pt x="0" y="164376"/>
                </a:lnTo>
                <a:lnTo>
                  <a:pt x="4146" y="184777"/>
                </a:lnTo>
                <a:lnTo>
                  <a:pt x="15433" y="201479"/>
                </a:lnTo>
                <a:lnTo>
                  <a:pt x="32136" y="212760"/>
                </a:lnTo>
                <a:lnTo>
                  <a:pt x="52527" y="216903"/>
                </a:lnTo>
                <a:lnTo>
                  <a:pt x="984084" y="216903"/>
                </a:lnTo>
                <a:lnTo>
                  <a:pt x="970517" y="192420"/>
                </a:lnTo>
                <a:lnTo>
                  <a:pt x="960445" y="165981"/>
                </a:lnTo>
                <a:lnTo>
                  <a:pt x="954175" y="137891"/>
                </a:lnTo>
                <a:lnTo>
                  <a:pt x="952017" y="108458"/>
                </a:lnTo>
              </a:path>
            </a:pathLst>
          </a:custGeom>
          <a:ln w="12446">
            <a:solidFill>
              <a:srgbClr val="DCDDDE"/>
            </a:solidFill>
          </a:ln>
        </p:spPr>
        <p:txBody>
          <a:bodyPr wrap="square" lIns="0" tIns="0" rIns="0" bIns="0" rtlCol="0"/>
          <a:lstStyle/>
          <a:p>
            <a:endParaRPr sz="1588"/>
          </a:p>
        </p:txBody>
      </p:sp>
      <p:sp>
        <p:nvSpPr>
          <p:cNvPr id="120" name="object 120"/>
          <p:cNvSpPr/>
          <p:nvPr/>
        </p:nvSpPr>
        <p:spPr>
          <a:xfrm>
            <a:off x="4633257" y="5975786"/>
            <a:ext cx="16249" cy="31937"/>
          </a:xfrm>
          <a:custGeom>
            <a:avLst/>
            <a:gdLst/>
            <a:ahLst/>
            <a:cxnLst/>
            <a:rect l="l" t="t" r="r" b="b"/>
            <a:pathLst>
              <a:path w="18414" h="36195">
                <a:moveTo>
                  <a:pt x="18262" y="0"/>
                </a:moveTo>
                <a:lnTo>
                  <a:pt x="13016" y="8555"/>
                </a:lnTo>
                <a:lnTo>
                  <a:pt x="8225" y="17389"/>
                </a:lnTo>
                <a:lnTo>
                  <a:pt x="3881" y="26485"/>
                </a:lnTo>
                <a:lnTo>
                  <a:pt x="0" y="35826"/>
                </a:lnTo>
                <a:lnTo>
                  <a:pt x="3891" y="26480"/>
                </a:lnTo>
                <a:lnTo>
                  <a:pt x="8238" y="17384"/>
                </a:lnTo>
                <a:lnTo>
                  <a:pt x="13031" y="8553"/>
                </a:lnTo>
                <a:lnTo>
                  <a:pt x="18262" y="0"/>
                </a:lnTo>
                <a:close/>
              </a:path>
            </a:pathLst>
          </a:custGeom>
          <a:solidFill>
            <a:srgbClr val="DCDDDE"/>
          </a:solidFill>
        </p:spPr>
        <p:txBody>
          <a:bodyPr wrap="square" lIns="0" tIns="0" rIns="0" bIns="0" rtlCol="0"/>
          <a:lstStyle/>
          <a:p>
            <a:endParaRPr sz="1588"/>
          </a:p>
        </p:txBody>
      </p:sp>
      <p:sp>
        <p:nvSpPr>
          <p:cNvPr id="121" name="object 121"/>
          <p:cNvSpPr/>
          <p:nvPr/>
        </p:nvSpPr>
        <p:spPr>
          <a:xfrm>
            <a:off x="3783629" y="5991334"/>
            <a:ext cx="866215" cy="0"/>
          </a:xfrm>
          <a:custGeom>
            <a:avLst/>
            <a:gdLst/>
            <a:ahLst/>
            <a:cxnLst/>
            <a:rect l="l" t="t" r="r" b="b"/>
            <a:pathLst>
              <a:path w="981710">
                <a:moveTo>
                  <a:pt x="0" y="0"/>
                </a:moveTo>
                <a:lnTo>
                  <a:pt x="981151" y="0"/>
                </a:lnTo>
              </a:path>
            </a:pathLst>
          </a:custGeom>
          <a:ln w="36410">
            <a:solidFill>
              <a:srgbClr val="DCDDDE"/>
            </a:solidFill>
          </a:ln>
        </p:spPr>
        <p:txBody>
          <a:bodyPr wrap="square" lIns="0" tIns="0" rIns="0" bIns="0" rtlCol="0"/>
          <a:lstStyle/>
          <a:p>
            <a:endParaRPr sz="1588"/>
          </a:p>
        </p:txBody>
      </p:sp>
      <p:sp>
        <p:nvSpPr>
          <p:cNvPr id="122" name="object 122"/>
          <p:cNvSpPr/>
          <p:nvPr/>
        </p:nvSpPr>
        <p:spPr>
          <a:xfrm>
            <a:off x="3766105" y="5959994"/>
            <a:ext cx="899832" cy="222437"/>
          </a:xfrm>
          <a:custGeom>
            <a:avLst/>
            <a:gdLst/>
            <a:ahLst/>
            <a:cxnLst/>
            <a:rect l="l" t="t" r="r" b="b"/>
            <a:pathLst>
              <a:path w="1019810" h="252095">
                <a:moveTo>
                  <a:pt x="1011758" y="0"/>
                </a:moveTo>
                <a:lnTo>
                  <a:pt x="69837" y="0"/>
                </a:lnTo>
                <a:lnTo>
                  <a:pt x="42680" y="5495"/>
                </a:lnTo>
                <a:lnTo>
                  <a:pt x="20478" y="20473"/>
                </a:lnTo>
                <a:lnTo>
                  <a:pt x="5497" y="42674"/>
                </a:lnTo>
                <a:lnTo>
                  <a:pt x="0" y="69837"/>
                </a:lnTo>
                <a:lnTo>
                  <a:pt x="0" y="181698"/>
                </a:lnTo>
                <a:lnTo>
                  <a:pt x="5497" y="208850"/>
                </a:lnTo>
                <a:lnTo>
                  <a:pt x="20478" y="231052"/>
                </a:lnTo>
                <a:lnTo>
                  <a:pt x="42680" y="246037"/>
                </a:lnTo>
                <a:lnTo>
                  <a:pt x="69837" y="251536"/>
                </a:lnTo>
                <a:lnTo>
                  <a:pt x="1011758" y="251536"/>
                </a:lnTo>
                <a:lnTo>
                  <a:pt x="1019517" y="243776"/>
                </a:lnTo>
                <a:lnTo>
                  <a:pt x="1019517" y="224675"/>
                </a:lnTo>
                <a:lnTo>
                  <a:pt x="1011758" y="216916"/>
                </a:lnTo>
                <a:lnTo>
                  <a:pt x="69837" y="216916"/>
                </a:lnTo>
                <a:lnTo>
                  <a:pt x="56142" y="214144"/>
                </a:lnTo>
                <a:lnTo>
                  <a:pt x="44946" y="206589"/>
                </a:lnTo>
                <a:lnTo>
                  <a:pt x="37392" y="195393"/>
                </a:lnTo>
                <a:lnTo>
                  <a:pt x="34620" y="181698"/>
                </a:lnTo>
                <a:lnTo>
                  <a:pt x="34620" y="69837"/>
                </a:lnTo>
                <a:lnTo>
                  <a:pt x="37392" y="56145"/>
                </a:lnTo>
                <a:lnTo>
                  <a:pt x="44946" y="44945"/>
                </a:lnTo>
                <a:lnTo>
                  <a:pt x="56142" y="37383"/>
                </a:lnTo>
                <a:lnTo>
                  <a:pt x="69837" y="34607"/>
                </a:lnTo>
                <a:lnTo>
                  <a:pt x="1011758" y="34607"/>
                </a:lnTo>
                <a:lnTo>
                  <a:pt x="1019517" y="26860"/>
                </a:lnTo>
                <a:lnTo>
                  <a:pt x="1019517" y="7734"/>
                </a:lnTo>
                <a:lnTo>
                  <a:pt x="1011758" y="0"/>
                </a:lnTo>
                <a:close/>
              </a:path>
            </a:pathLst>
          </a:custGeom>
          <a:solidFill>
            <a:srgbClr val="FFB81C"/>
          </a:solidFill>
        </p:spPr>
        <p:txBody>
          <a:bodyPr wrap="square" lIns="0" tIns="0" rIns="0" bIns="0" rtlCol="0"/>
          <a:lstStyle/>
          <a:p>
            <a:endParaRPr sz="1588"/>
          </a:p>
        </p:txBody>
      </p:sp>
      <p:sp>
        <p:nvSpPr>
          <p:cNvPr id="123" name="object 123"/>
          <p:cNvSpPr/>
          <p:nvPr/>
        </p:nvSpPr>
        <p:spPr>
          <a:xfrm>
            <a:off x="3823070" y="5766327"/>
            <a:ext cx="828675" cy="179854"/>
          </a:xfrm>
          <a:custGeom>
            <a:avLst/>
            <a:gdLst/>
            <a:ahLst/>
            <a:cxnLst/>
            <a:rect l="l" t="t" r="r" b="b"/>
            <a:pathLst>
              <a:path w="939164" h="203834">
                <a:moveTo>
                  <a:pt x="49212" y="0"/>
                </a:moveTo>
                <a:lnTo>
                  <a:pt x="30100" y="3885"/>
                </a:lnTo>
                <a:lnTo>
                  <a:pt x="14452" y="14463"/>
                </a:lnTo>
                <a:lnTo>
                  <a:pt x="3881" y="30116"/>
                </a:lnTo>
                <a:lnTo>
                  <a:pt x="0" y="49225"/>
                </a:lnTo>
                <a:lnTo>
                  <a:pt x="0" y="154038"/>
                </a:lnTo>
                <a:lnTo>
                  <a:pt x="3881" y="173154"/>
                </a:lnTo>
                <a:lnTo>
                  <a:pt x="14452" y="188810"/>
                </a:lnTo>
                <a:lnTo>
                  <a:pt x="30100" y="199390"/>
                </a:lnTo>
                <a:lnTo>
                  <a:pt x="49212" y="203276"/>
                </a:lnTo>
                <a:lnTo>
                  <a:pt x="937247" y="203276"/>
                </a:lnTo>
                <a:lnTo>
                  <a:pt x="924544" y="180317"/>
                </a:lnTo>
                <a:lnTo>
                  <a:pt x="915109" y="155538"/>
                </a:lnTo>
                <a:lnTo>
                  <a:pt x="909234" y="129218"/>
                </a:lnTo>
                <a:lnTo>
                  <a:pt x="907211" y="101638"/>
                </a:lnTo>
                <a:lnTo>
                  <a:pt x="909522" y="74109"/>
                </a:lnTo>
                <a:lnTo>
                  <a:pt x="916031" y="47907"/>
                </a:lnTo>
                <a:lnTo>
                  <a:pt x="926103" y="23253"/>
                </a:lnTo>
                <a:lnTo>
                  <a:pt x="939101" y="368"/>
                </a:lnTo>
                <a:lnTo>
                  <a:pt x="49212" y="0"/>
                </a:lnTo>
                <a:close/>
              </a:path>
            </a:pathLst>
          </a:custGeom>
          <a:solidFill>
            <a:srgbClr val="FFFFFF"/>
          </a:solidFill>
        </p:spPr>
        <p:txBody>
          <a:bodyPr wrap="square" lIns="0" tIns="0" rIns="0" bIns="0" rtlCol="0"/>
          <a:lstStyle/>
          <a:p>
            <a:endParaRPr sz="1588"/>
          </a:p>
        </p:txBody>
      </p:sp>
      <p:sp>
        <p:nvSpPr>
          <p:cNvPr id="124" name="object 124"/>
          <p:cNvSpPr/>
          <p:nvPr/>
        </p:nvSpPr>
        <p:spPr>
          <a:xfrm>
            <a:off x="3823070" y="5766327"/>
            <a:ext cx="828675" cy="179854"/>
          </a:xfrm>
          <a:custGeom>
            <a:avLst/>
            <a:gdLst/>
            <a:ahLst/>
            <a:cxnLst/>
            <a:rect l="l" t="t" r="r" b="b"/>
            <a:pathLst>
              <a:path w="939164" h="203834">
                <a:moveTo>
                  <a:pt x="907211" y="101638"/>
                </a:moveTo>
                <a:lnTo>
                  <a:pt x="909522" y="74109"/>
                </a:lnTo>
                <a:lnTo>
                  <a:pt x="916031" y="47907"/>
                </a:lnTo>
                <a:lnTo>
                  <a:pt x="926103" y="23253"/>
                </a:lnTo>
                <a:lnTo>
                  <a:pt x="939101" y="368"/>
                </a:lnTo>
                <a:lnTo>
                  <a:pt x="49212" y="0"/>
                </a:lnTo>
                <a:lnTo>
                  <a:pt x="30100" y="3885"/>
                </a:lnTo>
                <a:lnTo>
                  <a:pt x="14452" y="14463"/>
                </a:lnTo>
                <a:lnTo>
                  <a:pt x="3881" y="30116"/>
                </a:lnTo>
                <a:lnTo>
                  <a:pt x="0" y="49225"/>
                </a:lnTo>
                <a:lnTo>
                  <a:pt x="0" y="154038"/>
                </a:lnTo>
                <a:lnTo>
                  <a:pt x="3881" y="173154"/>
                </a:lnTo>
                <a:lnTo>
                  <a:pt x="14452" y="188810"/>
                </a:lnTo>
                <a:lnTo>
                  <a:pt x="30100" y="199390"/>
                </a:lnTo>
                <a:lnTo>
                  <a:pt x="49212" y="203276"/>
                </a:lnTo>
                <a:lnTo>
                  <a:pt x="937247" y="203276"/>
                </a:lnTo>
                <a:lnTo>
                  <a:pt x="924544" y="180317"/>
                </a:lnTo>
                <a:lnTo>
                  <a:pt x="915109" y="155538"/>
                </a:lnTo>
                <a:lnTo>
                  <a:pt x="909234" y="129218"/>
                </a:lnTo>
                <a:lnTo>
                  <a:pt x="907211" y="101638"/>
                </a:lnTo>
              </a:path>
            </a:pathLst>
          </a:custGeom>
          <a:ln w="12445">
            <a:solidFill>
              <a:srgbClr val="DCDDDE"/>
            </a:solidFill>
          </a:ln>
        </p:spPr>
        <p:txBody>
          <a:bodyPr wrap="square" lIns="0" tIns="0" rIns="0" bIns="0" rtlCol="0"/>
          <a:lstStyle/>
          <a:p>
            <a:endParaRPr sz="1588"/>
          </a:p>
        </p:txBody>
      </p:sp>
      <p:sp>
        <p:nvSpPr>
          <p:cNvPr id="125" name="object 125"/>
          <p:cNvSpPr/>
          <p:nvPr/>
        </p:nvSpPr>
        <p:spPr>
          <a:xfrm>
            <a:off x="4634651" y="5771697"/>
            <a:ext cx="12326" cy="25213"/>
          </a:xfrm>
          <a:custGeom>
            <a:avLst/>
            <a:gdLst/>
            <a:ahLst/>
            <a:cxnLst/>
            <a:rect l="l" t="t" r="r" b="b"/>
            <a:pathLst>
              <a:path w="13970" h="28575">
                <a:moveTo>
                  <a:pt x="9499" y="7413"/>
                </a:moveTo>
                <a:lnTo>
                  <a:pt x="6267" y="13698"/>
                </a:lnTo>
                <a:lnTo>
                  <a:pt x="2987" y="20797"/>
                </a:lnTo>
                <a:lnTo>
                  <a:pt x="0" y="28054"/>
                </a:lnTo>
                <a:lnTo>
                  <a:pt x="3003" y="20795"/>
                </a:lnTo>
                <a:lnTo>
                  <a:pt x="6275" y="13693"/>
                </a:lnTo>
                <a:lnTo>
                  <a:pt x="9499" y="7413"/>
                </a:lnTo>
                <a:close/>
              </a:path>
              <a:path w="13970" h="28575">
                <a:moveTo>
                  <a:pt x="13677" y="0"/>
                </a:moveTo>
                <a:lnTo>
                  <a:pt x="9832" y="6764"/>
                </a:lnTo>
                <a:lnTo>
                  <a:pt x="9499" y="7413"/>
                </a:lnTo>
                <a:lnTo>
                  <a:pt x="9836" y="6758"/>
                </a:lnTo>
                <a:lnTo>
                  <a:pt x="13677" y="0"/>
                </a:lnTo>
                <a:close/>
              </a:path>
            </a:pathLst>
          </a:custGeom>
          <a:solidFill>
            <a:srgbClr val="DCDDDE"/>
          </a:solidFill>
        </p:spPr>
        <p:txBody>
          <a:bodyPr wrap="square" lIns="0" tIns="0" rIns="0" bIns="0" rtlCol="0"/>
          <a:lstStyle/>
          <a:p>
            <a:endParaRPr sz="1588"/>
          </a:p>
        </p:txBody>
      </p:sp>
      <p:sp>
        <p:nvSpPr>
          <p:cNvPr id="126" name="object 126"/>
          <p:cNvSpPr/>
          <p:nvPr/>
        </p:nvSpPr>
        <p:spPr>
          <a:xfrm>
            <a:off x="3808417" y="5752023"/>
            <a:ext cx="856690" cy="208429"/>
          </a:xfrm>
          <a:custGeom>
            <a:avLst/>
            <a:gdLst/>
            <a:ahLst/>
            <a:cxnLst/>
            <a:rect l="l" t="t" r="r" b="b"/>
            <a:pathLst>
              <a:path w="970914" h="236220">
                <a:moveTo>
                  <a:pt x="963206" y="0"/>
                </a:moveTo>
                <a:lnTo>
                  <a:pt x="65443" y="0"/>
                </a:lnTo>
                <a:lnTo>
                  <a:pt x="39996" y="5149"/>
                </a:lnTo>
                <a:lnTo>
                  <a:pt x="19191" y="19186"/>
                </a:lnTo>
                <a:lnTo>
                  <a:pt x="5151" y="39990"/>
                </a:lnTo>
                <a:lnTo>
                  <a:pt x="0" y="65443"/>
                </a:lnTo>
                <a:lnTo>
                  <a:pt x="0" y="170256"/>
                </a:lnTo>
                <a:lnTo>
                  <a:pt x="5151" y="195708"/>
                </a:lnTo>
                <a:lnTo>
                  <a:pt x="19191" y="216512"/>
                </a:lnTo>
                <a:lnTo>
                  <a:pt x="39996" y="230549"/>
                </a:lnTo>
                <a:lnTo>
                  <a:pt x="65443" y="235699"/>
                </a:lnTo>
                <a:lnTo>
                  <a:pt x="963206" y="235699"/>
                </a:lnTo>
                <a:lnTo>
                  <a:pt x="970445" y="228434"/>
                </a:lnTo>
                <a:lnTo>
                  <a:pt x="970445" y="210515"/>
                </a:lnTo>
                <a:lnTo>
                  <a:pt x="963206" y="203263"/>
                </a:lnTo>
                <a:lnTo>
                  <a:pt x="65443" y="203263"/>
                </a:lnTo>
                <a:lnTo>
                  <a:pt x="52607" y="200665"/>
                </a:lnTo>
                <a:lnTo>
                  <a:pt x="42114" y="193584"/>
                </a:lnTo>
                <a:lnTo>
                  <a:pt x="35033" y="183091"/>
                </a:lnTo>
                <a:lnTo>
                  <a:pt x="32435" y="170256"/>
                </a:lnTo>
                <a:lnTo>
                  <a:pt x="32435" y="65443"/>
                </a:lnTo>
                <a:lnTo>
                  <a:pt x="35033" y="52607"/>
                </a:lnTo>
                <a:lnTo>
                  <a:pt x="42114" y="42114"/>
                </a:lnTo>
                <a:lnTo>
                  <a:pt x="52607" y="35033"/>
                </a:lnTo>
                <a:lnTo>
                  <a:pt x="65443" y="32435"/>
                </a:lnTo>
                <a:lnTo>
                  <a:pt x="963206" y="32435"/>
                </a:lnTo>
                <a:lnTo>
                  <a:pt x="970445" y="25184"/>
                </a:lnTo>
                <a:lnTo>
                  <a:pt x="970445" y="7251"/>
                </a:lnTo>
                <a:lnTo>
                  <a:pt x="963206" y="0"/>
                </a:lnTo>
                <a:close/>
              </a:path>
            </a:pathLst>
          </a:custGeom>
          <a:solidFill>
            <a:srgbClr val="E0004D"/>
          </a:solidFill>
        </p:spPr>
        <p:txBody>
          <a:bodyPr wrap="square" lIns="0" tIns="0" rIns="0" bIns="0" rtlCol="0"/>
          <a:lstStyle/>
          <a:p>
            <a:endParaRPr sz="1588"/>
          </a:p>
        </p:txBody>
      </p:sp>
      <p:sp>
        <p:nvSpPr>
          <p:cNvPr id="127" name="object 127"/>
          <p:cNvSpPr/>
          <p:nvPr/>
        </p:nvSpPr>
        <p:spPr>
          <a:xfrm>
            <a:off x="3884748" y="5453848"/>
            <a:ext cx="638735" cy="145116"/>
          </a:xfrm>
          <a:custGeom>
            <a:avLst/>
            <a:gdLst/>
            <a:ahLst/>
            <a:cxnLst/>
            <a:rect l="l" t="t" r="r" b="b"/>
            <a:pathLst>
              <a:path w="723900" h="164464">
                <a:moveTo>
                  <a:pt x="723544" y="0"/>
                </a:moveTo>
                <a:lnTo>
                  <a:pt x="49225" y="0"/>
                </a:lnTo>
                <a:lnTo>
                  <a:pt x="30116" y="3130"/>
                </a:lnTo>
                <a:lnTo>
                  <a:pt x="14463" y="11653"/>
                </a:lnTo>
                <a:lnTo>
                  <a:pt x="3885" y="24265"/>
                </a:lnTo>
                <a:lnTo>
                  <a:pt x="0" y="39662"/>
                </a:lnTo>
                <a:lnTo>
                  <a:pt x="0" y="124193"/>
                </a:lnTo>
                <a:lnTo>
                  <a:pt x="3885" y="139591"/>
                </a:lnTo>
                <a:lnTo>
                  <a:pt x="14463" y="152207"/>
                </a:lnTo>
                <a:lnTo>
                  <a:pt x="30116" y="160735"/>
                </a:lnTo>
                <a:lnTo>
                  <a:pt x="49225" y="163868"/>
                </a:lnTo>
                <a:lnTo>
                  <a:pt x="723544" y="163868"/>
                </a:lnTo>
                <a:lnTo>
                  <a:pt x="710836" y="145369"/>
                </a:lnTo>
                <a:lnTo>
                  <a:pt x="701401" y="125390"/>
                </a:lnTo>
                <a:lnTo>
                  <a:pt x="695530" y="104167"/>
                </a:lnTo>
                <a:lnTo>
                  <a:pt x="693508" y="81940"/>
                </a:lnTo>
                <a:lnTo>
                  <a:pt x="695530" y="59700"/>
                </a:lnTo>
                <a:lnTo>
                  <a:pt x="701401" y="38474"/>
                </a:lnTo>
                <a:lnTo>
                  <a:pt x="710836" y="18496"/>
                </a:lnTo>
                <a:lnTo>
                  <a:pt x="723544" y="0"/>
                </a:lnTo>
                <a:close/>
              </a:path>
            </a:pathLst>
          </a:custGeom>
          <a:solidFill>
            <a:srgbClr val="FFFFFF"/>
          </a:solidFill>
        </p:spPr>
        <p:txBody>
          <a:bodyPr wrap="square" lIns="0" tIns="0" rIns="0" bIns="0" rtlCol="0"/>
          <a:lstStyle/>
          <a:p>
            <a:endParaRPr sz="1588"/>
          </a:p>
        </p:txBody>
      </p:sp>
      <p:sp>
        <p:nvSpPr>
          <p:cNvPr id="128" name="object 128"/>
          <p:cNvSpPr/>
          <p:nvPr/>
        </p:nvSpPr>
        <p:spPr>
          <a:xfrm>
            <a:off x="3884748" y="5453848"/>
            <a:ext cx="638735" cy="145116"/>
          </a:xfrm>
          <a:custGeom>
            <a:avLst/>
            <a:gdLst/>
            <a:ahLst/>
            <a:cxnLst/>
            <a:rect l="l" t="t" r="r" b="b"/>
            <a:pathLst>
              <a:path w="723900" h="164464">
                <a:moveTo>
                  <a:pt x="693508" y="81940"/>
                </a:moveTo>
                <a:lnTo>
                  <a:pt x="695530" y="59700"/>
                </a:lnTo>
                <a:lnTo>
                  <a:pt x="701401" y="38474"/>
                </a:lnTo>
                <a:lnTo>
                  <a:pt x="710836" y="18496"/>
                </a:lnTo>
                <a:lnTo>
                  <a:pt x="723544" y="0"/>
                </a:lnTo>
                <a:lnTo>
                  <a:pt x="49225" y="0"/>
                </a:lnTo>
                <a:lnTo>
                  <a:pt x="30116" y="3130"/>
                </a:lnTo>
                <a:lnTo>
                  <a:pt x="14463" y="11653"/>
                </a:lnTo>
                <a:lnTo>
                  <a:pt x="3885" y="24265"/>
                </a:lnTo>
                <a:lnTo>
                  <a:pt x="0" y="39662"/>
                </a:lnTo>
                <a:lnTo>
                  <a:pt x="0" y="124193"/>
                </a:lnTo>
                <a:lnTo>
                  <a:pt x="3885" y="139591"/>
                </a:lnTo>
                <a:lnTo>
                  <a:pt x="14463" y="152207"/>
                </a:lnTo>
                <a:lnTo>
                  <a:pt x="30116" y="160735"/>
                </a:lnTo>
                <a:lnTo>
                  <a:pt x="49225" y="163868"/>
                </a:lnTo>
                <a:lnTo>
                  <a:pt x="723544" y="163868"/>
                </a:lnTo>
                <a:lnTo>
                  <a:pt x="710836" y="145369"/>
                </a:lnTo>
                <a:lnTo>
                  <a:pt x="701401" y="125390"/>
                </a:lnTo>
                <a:lnTo>
                  <a:pt x="695530" y="104167"/>
                </a:lnTo>
                <a:lnTo>
                  <a:pt x="693508" y="81940"/>
                </a:lnTo>
              </a:path>
            </a:pathLst>
          </a:custGeom>
          <a:ln w="12446">
            <a:solidFill>
              <a:srgbClr val="DCDDDE"/>
            </a:solidFill>
          </a:ln>
        </p:spPr>
        <p:txBody>
          <a:bodyPr wrap="square" lIns="0" tIns="0" rIns="0" bIns="0" rtlCol="0"/>
          <a:lstStyle/>
          <a:p>
            <a:endParaRPr sz="1588"/>
          </a:p>
        </p:txBody>
      </p:sp>
      <p:sp>
        <p:nvSpPr>
          <p:cNvPr id="129" name="object 129"/>
          <p:cNvSpPr/>
          <p:nvPr/>
        </p:nvSpPr>
        <p:spPr>
          <a:xfrm>
            <a:off x="4505145" y="5455411"/>
            <a:ext cx="16809" cy="28574"/>
          </a:xfrm>
          <a:custGeom>
            <a:avLst/>
            <a:gdLst/>
            <a:ahLst/>
            <a:cxnLst/>
            <a:rect l="l" t="t" r="r" b="b"/>
            <a:pathLst>
              <a:path w="19050" h="32385">
                <a:moveTo>
                  <a:pt x="19024" y="0"/>
                </a:moveTo>
                <a:lnTo>
                  <a:pt x="13410" y="7675"/>
                </a:lnTo>
                <a:lnTo>
                  <a:pt x="8355" y="15640"/>
                </a:lnTo>
                <a:lnTo>
                  <a:pt x="3878" y="23870"/>
                </a:lnTo>
                <a:lnTo>
                  <a:pt x="0" y="32346"/>
                </a:lnTo>
                <a:lnTo>
                  <a:pt x="3894" y="23870"/>
                </a:lnTo>
                <a:lnTo>
                  <a:pt x="8366" y="15640"/>
                </a:lnTo>
                <a:lnTo>
                  <a:pt x="13414" y="7675"/>
                </a:lnTo>
                <a:lnTo>
                  <a:pt x="19024" y="0"/>
                </a:lnTo>
                <a:close/>
              </a:path>
            </a:pathLst>
          </a:custGeom>
          <a:solidFill>
            <a:srgbClr val="DCDDDE"/>
          </a:solidFill>
        </p:spPr>
        <p:txBody>
          <a:bodyPr wrap="square" lIns="0" tIns="0" rIns="0" bIns="0" rtlCol="0"/>
          <a:lstStyle/>
          <a:p>
            <a:endParaRPr sz="1588"/>
          </a:p>
        </p:txBody>
      </p:sp>
      <p:sp>
        <p:nvSpPr>
          <p:cNvPr id="130" name="object 130"/>
          <p:cNvSpPr/>
          <p:nvPr/>
        </p:nvSpPr>
        <p:spPr>
          <a:xfrm>
            <a:off x="3885194" y="5468897"/>
            <a:ext cx="638175" cy="0"/>
          </a:xfrm>
          <a:custGeom>
            <a:avLst/>
            <a:gdLst/>
            <a:ahLst/>
            <a:cxnLst/>
            <a:rect l="l" t="t" r="r" b="b"/>
            <a:pathLst>
              <a:path w="723264">
                <a:moveTo>
                  <a:pt x="0" y="0"/>
                </a:moveTo>
                <a:lnTo>
                  <a:pt x="723049" y="0"/>
                </a:lnTo>
              </a:path>
            </a:pathLst>
          </a:custGeom>
          <a:ln w="34124">
            <a:solidFill>
              <a:srgbClr val="DCDDDE"/>
            </a:solidFill>
          </a:ln>
        </p:spPr>
        <p:txBody>
          <a:bodyPr wrap="square" lIns="0" tIns="0" rIns="0" bIns="0" rtlCol="0"/>
          <a:lstStyle/>
          <a:p>
            <a:endParaRPr sz="1588"/>
          </a:p>
        </p:txBody>
      </p:sp>
      <p:sp>
        <p:nvSpPr>
          <p:cNvPr id="131" name="object 131"/>
          <p:cNvSpPr/>
          <p:nvPr/>
        </p:nvSpPr>
        <p:spPr>
          <a:xfrm>
            <a:off x="3870445" y="5439708"/>
            <a:ext cx="667871" cy="173131"/>
          </a:xfrm>
          <a:custGeom>
            <a:avLst/>
            <a:gdLst/>
            <a:ahLst/>
            <a:cxnLst/>
            <a:rect l="l" t="t" r="r" b="b"/>
            <a:pathLst>
              <a:path w="756920" h="196214">
                <a:moveTo>
                  <a:pt x="749477" y="0"/>
                </a:moveTo>
                <a:lnTo>
                  <a:pt x="65443" y="0"/>
                </a:lnTo>
                <a:lnTo>
                  <a:pt x="39990" y="5149"/>
                </a:lnTo>
                <a:lnTo>
                  <a:pt x="19186" y="19186"/>
                </a:lnTo>
                <a:lnTo>
                  <a:pt x="5149" y="39990"/>
                </a:lnTo>
                <a:lnTo>
                  <a:pt x="0" y="65443"/>
                </a:lnTo>
                <a:lnTo>
                  <a:pt x="0" y="130479"/>
                </a:lnTo>
                <a:lnTo>
                  <a:pt x="5149" y="155930"/>
                </a:lnTo>
                <a:lnTo>
                  <a:pt x="19186" y="176730"/>
                </a:lnTo>
                <a:lnTo>
                  <a:pt x="39990" y="190762"/>
                </a:lnTo>
                <a:lnTo>
                  <a:pt x="65443" y="195910"/>
                </a:lnTo>
                <a:lnTo>
                  <a:pt x="749477" y="195910"/>
                </a:lnTo>
                <a:lnTo>
                  <a:pt x="756729" y="188658"/>
                </a:lnTo>
                <a:lnTo>
                  <a:pt x="756729" y="170738"/>
                </a:lnTo>
                <a:lnTo>
                  <a:pt x="749477" y="163487"/>
                </a:lnTo>
                <a:lnTo>
                  <a:pt x="65443" y="163487"/>
                </a:lnTo>
                <a:lnTo>
                  <a:pt x="52607" y="160890"/>
                </a:lnTo>
                <a:lnTo>
                  <a:pt x="42114" y="153812"/>
                </a:lnTo>
                <a:lnTo>
                  <a:pt x="35033" y="143320"/>
                </a:lnTo>
                <a:lnTo>
                  <a:pt x="32435" y="130479"/>
                </a:lnTo>
                <a:lnTo>
                  <a:pt x="32435" y="65443"/>
                </a:lnTo>
                <a:lnTo>
                  <a:pt x="35033" y="52607"/>
                </a:lnTo>
                <a:lnTo>
                  <a:pt x="42114" y="42114"/>
                </a:lnTo>
                <a:lnTo>
                  <a:pt x="52607" y="35033"/>
                </a:lnTo>
                <a:lnTo>
                  <a:pt x="65443" y="32435"/>
                </a:lnTo>
                <a:lnTo>
                  <a:pt x="749477" y="32435"/>
                </a:lnTo>
                <a:lnTo>
                  <a:pt x="756729" y="25171"/>
                </a:lnTo>
                <a:lnTo>
                  <a:pt x="756729" y="7251"/>
                </a:lnTo>
                <a:lnTo>
                  <a:pt x="749477" y="0"/>
                </a:lnTo>
                <a:close/>
              </a:path>
            </a:pathLst>
          </a:custGeom>
          <a:solidFill>
            <a:srgbClr val="C8102E"/>
          </a:solidFill>
        </p:spPr>
        <p:txBody>
          <a:bodyPr wrap="square" lIns="0" tIns="0" rIns="0" bIns="0" rtlCol="0"/>
          <a:lstStyle/>
          <a:p>
            <a:endParaRPr sz="1588"/>
          </a:p>
        </p:txBody>
      </p:sp>
      <p:sp>
        <p:nvSpPr>
          <p:cNvPr id="132" name="object 132"/>
          <p:cNvSpPr/>
          <p:nvPr/>
        </p:nvSpPr>
        <p:spPr>
          <a:xfrm>
            <a:off x="3863150" y="5625808"/>
            <a:ext cx="791134" cy="117101"/>
          </a:xfrm>
          <a:custGeom>
            <a:avLst/>
            <a:gdLst/>
            <a:ahLst/>
            <a:cxnLst/>
            <a:rect l="l" t="t" r="r" b="b"/>
            <a:pathLst>
              <a:path w="896620" h="132715">
                <a:moveTo>
                  <a:pt x="896594" y="0"/>
                </a:moveTo>
                <a:lnTo>
                  <a:pt x="43713" y="0"/>
                </a:lnTo>
                <a:lnTo>
                  <a:pt x="26740" y="3449"/>
                </a:lnTo>
                <a:lnTo>
                  <a:pt x="12841" y="12842"/>
                </a:lnTo>
                <a:lnTo>
                  <a:pt x="3449" y="26746"/>
                </a:lnTo>
                <a:lnTo>
                  <a:pt x="0" y="43726"/>
                </a:lnTo>
                <a:lnTo>
                  <a:pt x="0" y="88887"/>
                </a:lnTo>
                <a:lnTo>
                  <a:pt x="3449" y="105865"/>
                </a:lnTo>
                <a:lnTo>
                  <a:pt x="12841" y="119764"/>
                </a:lnTo>
                <a:lnTo>
                  <a:pt x="26740" y="129153"/>
                </a:lnTo>
                <a:lnTo>
                  <a:pt x="43713" y="132600"/>
                </a:lnTo>
                <a:lnTo>
                  <a:pt x="896594" y="132600"/>
                </a:lnTo>
                <a:lnTo>
                  <a:pt x="888308" y="117627"/>
                </a:lnTo>
                <a:lnTo>
                  <a:pt x="882153" y="101463"/>
                </a:lnTo>
                <a:lnTo>
                  <a:pt x="878319" y="84294"/>
                </a:lnTo>
                <a:lnTo>
                  <a:pt x="876998" y="66306"/>
                </a:lnTo>
                <a:lnTo>
                  <a:pt x="878319" y="48316"/>
                </a:lnTo>
                <a:lnTo>
                  <a:pt x="882153" y="31143"/>
                </a:lnTo>
                <a:lnTo>
                  <a:pt x="888308" y="14975"/>
                </a:lnTo>
                <a:lnTo>
                  <a:pt x="896594" y="0"/>
                </a:lnTo>
                <a:close/>
              </a:path>
            </a:pathLst>
          </a:custGeom>
          <a:solidFill>
            <a:srgbClr val="FFFFFF"/>
          </a:solidFill>
        </p:spPr>
        <p:txBody>
          <a:bodyPr wrap="square" lIns="0" tIns="0" rIns="0" bIns="0" rtlCol="0"/>
          <a:lstStyle/>
          <a:p>
            <a:endParaRPr sz="1588"/>
          </a:p>
        </p:txBody>
      </p:sp>
      <p:sp>
        <p:nvSpPr>
          <p:cNvPr id="133" name="object 133"/>
          <p:cNvSpPr/>
          <p:nvPr/>
        </p:nvSpPr>
        <p:spPr>
          <a:xfrm>
            <a:off x="3863150" y="5625808"/>
            <a:ext cx="791134" cy="117101"/>
          </a:xfrm>
          <a:custGeom>
            <a:avLst/>
            <a:gdLst/>
            <a:ahLst/>
            <a:cxnLst/>
            <a:rect l="l" t="t" r="r" b="b"/>
            <a:pathLst>
              <a:path w="896620" h="132715">
                <a:moveTo>
                  <a:pt x="876998" y="66306"/>
                </a:moveTo>
                <a:lnTo>
                  <a:pt x="878319" y="48316"/>
                </a:lnTo>
                <a:lnTo>
                  <a:pt x="882153" y="31143"/>
                </a:lnTo>
                <a:lnTo>
                  <a:pt x="888308" y="14975"/>
                </a:lnTo>
                <a:lnTo>
                  <a:pt x="896594" y="0"/>
                </a:lnTo>
                <a:lnTo>
                  <a:pt x="43713" y="0"/>
                </a:lnTo>
                <a:lnTo>
                  <a:pt x="26740" y="3449"/>
                </a:lnTo>
                <a:lnTo>
                  <a:pt x="12841" y="12842"/>
                </a:lnTo>
                <a:lnTo>
                  <a:pt x="3449" y="26746"/>
                </a:lnTo>
                <a:lnTo>
                  <a:pt x="0" y="43726"/>
                </a:lnTo>
                <a:lnTo>
                  <a:pt x="0" y="88887"/>
                </a:lnTo>
                <a:lnTo>
                  <a:pt x="3449" y="105865"/>
                </a:lnTo>
                <a:lnTo>
                  <a:pt x="12841" y="119764"/>
                </a:lnTo>
                <a:lnTo>
                  <a:pt x="26740" y="129153"/>
                </a:lnTo>
                <a:lnTo>
                  <a:pt x="43713" y="132600"/>
                </a:lnTo>
                <a:lnTo>
                  <a:pt x="896594" y="132600"/>
                </a:lnTo>
                <a:lnTo>
                  <a:pt x="888308" y="117627"/>
                </a:lnTo>
                <a:lnTo>
                  <a:pt x="882153" y="101463"/>
                </a:lnTo>
                <a:lnTo>
                  <a:pt x="878319" y="84294"/>
                </a:lnTo>
                <a:lnTo>
                  <a:pt x="876998" y="66306"/>
                </a:lnTo>
              </a:path>
            </a:pathLst>
          </a:custGeom>
          <a:ln w="12445">
            <a:solidFill>
              <a:srgbClr val="DCDDDE"/>
            </a:solidFill>
          </a:ln>
        </p:spPr>
        <p:txBody>
          <a:bodyPr wrap="square" lIns="0" tIns="0" rIns="0" bIns="0" rtlCol="0"/>
          <a:lstStyle/>
          <a:p>
            <a:endParaRPr sz="1588"/>
          </a:p>
        </p:txBody>
      </p:sp>
      <p:sp>
        <p:nvSpPr>
          <p:cNvPr id="134" name="object 134"/>
          <p:cNvSpPr/>
          <p:nvPr/>
        </p:nvSpPr>
        <p:spPr>
          <a:xfrm>
            <a:off x="4640761" y="5626902"/>
            <a:ext cx="12886" cy="29135"/>
          </a:xfrm>
          <a:custGeom>
            <a:avLst/>
            <a:gdLst/>
            <a:ahLst/>
            <a:cxnLst/>
            <a:rect l="l" t="t" r="r" b="b"/>
            <a:pathLst>
              <a:path w="14604" h="33020">
                <a:moveTo>
                  <a:pt x="8042" y="11764"/>
                </a:moveTo>
                <a:lnTo>
                  <a:pt x="6075" y="15801"/>
                </a:lnTo>
                <a:lnTo>
                  <a:pt x="2728" y="24195"/>
                </a:lnTo>
                <a:lnTo>
                  <a:pt x="0" y="32880"/>
                </a:lnTo>
                <a:lnTo>
                  <a:pt x="2743" y="24195"/>
                </a:lnTo>
                <a:lnTo>
                  <a:pt x="6078" y="15801"/>
                </a:lnTo>
                <a:lnTo>
                  <a:pt x="8042" y="11764"/>
                </a:lnTo>
                <a:close/>
              </a:path>
              <a:path w="14604" h="33020">
                <a:moveTo>
                  <a:pt x="14503" y="0"/>
                </a:moveTo>
                <a:lnTo>
                  <a:pt x="10007" y="7727"/>
                </a:lnTo>
                <a:lnTo>
                  <a:pt x="8042" y="11764"/>
                </a:lnTo>
                <a:lnTo>
                  <a:pt x="10010" y="7727"/>
                </a:lnTo>
                <a:lnTo>
                  <a:pt x="14503" y="0"/>
                </a:lnTo>
                <a:close/>
              </a:path>
            </a:pathLst>
          </a:custGeom>
          <a:solidFill>
            <a:srgbClr val="DCDDDE"/>
          </a:solidFill>
        </p:spPr>
        <p:txBody>
          <a:bodyPr wrap="square" lIns="0" tIns="0" rIns="0" bIns="0" rtlCol="0"/>
          <a:lstStyle/>
          <a:p>
            <a:endParaRPr sz="1588"/>
          </a:p>
        </p:txBody>
      </p:sp>
      <p:sp>
        <p:nvSpPr>
          <p:cNvPr id="135" name="object 135"/>
          <p:cNvSpPr/>
          <p:nvPr/>
        </p:nvSpPr>
        <p:spPr>
          <a:xfrm>
            <a:off x="3864086" y="5640865"/>
            <a:ext cx="790575" cy="0"/>
          </a:xfrm>
          <a:custGeom>
            <a:avLst/>
            <a:gdLst/>
            <a:ahLst/>
            <a:cxnLst/>
            <a:rect l="l" t="t" r="r" b="b"/>
            <a:pathLst>
              <a:path w="895985">
                <a:moveTo>
                  <a:pt x="0" y="0"/>
                </a:moveTo>
                <a:lnTo>
                  <a:pt x="895527" y="0"/>
                </a:lnTo>
              </a:path>
            </a:pathLst>
          </a:custGeom>
          <a:ln w="34124">
            <a:solidFill>
              <a:srgbClr val="DCDDDE"/>
            </a:solidFill>
          </a:ln>
        </p:spPr>
        <p:txBody>
          <a:bodyPr wrap="square" lIns="0" tIns="0" rIns="0" bIns="0" rtlCol="0"/>
          <a:lstStyle/>
          <a:p>
            <a:endParaRPr sz="1588"/>
          </a:p>
        </p:txBody>
      </p:sp>
      <p:sp>
        <p:nvSpPr>
          <p:cNvPr id="136" name="object 136"/>
          <p:cNvSpPr/>
          <p:nvPr/>
        </p:nvSpPr>
        <p:spPr>
          <a:xfrm>
            <a:off x="3848850" y="5612568"/>
            <a:ext cx="820831" cy="144556"/>
          </a:xfrm>
          <a:custGeom>
            <a:avLst/>
            <a:gdLst/>
            <a:ahLst/>
            <a:cxnLst/>
            <a:rect l="l" t="t" r="r" b="b"/>
            <a:pathLst>
              <a:path w="930275" h="163829">
                <a:moveTo>
                  <a:pt x="922566" y="0"/>
                </a:moveTo>
                <a:lnTo>
                  <a:pt x="65430" y="0"/>
                </a:lnTo>
                <a:lnTo>
                  <a:pt x="39990" y="5151"/>
                </a:lnTo>
                <a:lnTo>
                  <a:pt x="19189" y="19192"/>
                </a:lnTo>
                <a:lnTo>
                  <a:pt x="5151" y="40001"/>
                </a:lnTo>
                <a:lnTo>
                  <a:pt x="0" y="65455"/>
                </a:lnTo>
                <a:lnTo>
                  <a:pt x="0" y="98386"/>
                </a:lnTo>
                <a:lnTo>
                  <a:pt x="5151" y="123839"/>
                </a:lnTo>
                <a:lnTo>
                  <a:pt x="19189" y="144643"/>
                </a:lnTo>
                <a:lnTo>
                  <a:pt x="39990" y="158680"/>
                </a:lnTo>
                <a:lnTo>
                  <a:pt x="65430" y="163830"/>
                </a:lnTo>
                <a:lnTo>
                  <a:pt x="922566" y="163830"/>
                </a:lnTo>
                <a:lnTo>
                  <a:pt x="929817" y="156565"/>
                </a:lnTo>
                <a:lnTo>
                  <a:pt x="929817" y="138645"/>
                </a:lnTo>
                <a:lnTo>
                  <a:pt x="922566" y="131394"/>
                </a:lnTo>
                <a:lnTo>
                  <a:pt x="65430" y="131394"/>
                </a:lnTo>
                <a:lnTo>
                  <a:pt x="52597" y="128796"/>
                </a:lnTo>
                <a:lnTo>
                  <a:pt x="42108" y="121715"/>
                </a:lnTo>
                <a:lnTo>
                  <a:pt x="35031" y="111222"/>
                </a:lnTo>
                <a:lnTo>
                  <a:pt x="32435" y="98386"/>
                </a:lnTo>
                <a:lnTo>
                  <a:pt x="32435" y="65455"/>
                </a:lnTo>
                <a:lnTo>
                  <a:pt x="35031" y="52613"/>
                </a:lnTo>
                <a:lnTo>
                  <a:pt x="42108" y="42116"/>
                </a:lnTo>
                <a:lnTo>
                  <a:pt x="52597" y="35034"/>
                </a:lnTo>
                <a:lnTo>
                  <a:pt x="65430" y="32435"/>
                </a:lnTo>
                <a:lnTo>
                  <a:pt x="922566" y="32435"/>
                </a:lnTo>
                <a:lnTo>
                  <a:pt x="929817" y="25184"/>
                </a:lnTo>
                <a:lnTo>
                  <a:pt x="929817" y="7251"/>
                </a:lnTo>
                <a:lnTo>
                  <a:pt x="922566" y="0"/>
                </a:lnTo>
                <a:close/>
              </a:path>
            </a:pathLst>
          </a:custGeom>
          <a:solidFill>
            <a:srgbClr val="AC80AB"/>
          </a:solidFill>
        </p:spPr>
        <p:txBody>
          <a:bodyPr wrap="square" lIns="0" tIns="0" rIns="0" bIns="0" rtlCol="0"/>
          <a:lstStyle/>
          <a:p>
            <a:endParaRPr sz="1588"/>
          </a:p>
        </p:txBody>
      </p:sp>
      <p:sp>
        <p:nvSpPr>
          <p:cNvPr id="137" name="object 137"/>
          <p:cNvSpPr/>
          <p:nvPr/>
        </p:nvSpPr>
        <p:spPr>
          <a:xfrm>
            <a:off x="2773219" y="5136669"/>
            <a:ext cx="442729" cy="867185"/>
          </a:xfrm>
          <a:prstGeom prst="rect">
            <a:avLst/>
          </a:prstGeom>
          <a:blipFill>
            <a:blip r:embed="rId13" cstate="print"/>
            <a:stretch>
              <a:fillRect/>
            </a:stretch>
          </a:blipFill>
        </p:spPr>
        <p:txBody>
          <a:bodyPr wrap="square" lIns="0" tIns="0" rIns="0" bIns="0" rtlCol="0"/>
          <a:lstStyle/>
          <a:p>
            <a:endParaRPr sz="1588"/>
          </a:p>
        </p:txBody>
      </p:sp>
      <p:sp>
        <p:nvSpPr>
          <p:cNvPr id="138" name="object 138"/>
          <p:cNvSpPr/>
          <p:nvPr/>
        </p:nvSpPr>
        <p:spPr>
          <a:xfrm>
            <a:off x="3836983" y="5780784"/>
            <a:ext cx="808504" cy="30256"/>
          </a:xfrm>
          <a:custGeom>
            <a:avLst/>
            <a:gdLst/>
            <a:ahLst/>
            <a:cxnLst/>
            <a:rect l="l" t="t" r="r" b="b"/>
            <a:pathLst>
              <a:path w="916304" h="34290">
                <a:moveTo>
                  <a:pt x="910691" y="12"/>
                </a:moveTo>
                <a:lnTo>
                  <a:pt x="40741" y="165"/>
                </a:lnTo>
                <a:lnTo>
                  <a:pt x="2525" y="20269"/>
                </a:lnTo>
                <a:lnTo>
                  <a:pt x="0" y="34163"/>
                </a:lnTo>
                <a:lnTo>
                  <a:pt x="901738" y="34163"/>
                </a:lnTo>
                <a:lnTo>
                  <a:pt x="903497" y="26719"/>
                </a:lnTo>
                <a:lnTo>
                  <a:pt x="904763" y="21150"/>
                </a:lnTo>
                <a:lnTo>
                  <a:pt x="907206" y="15083"/>
                </a:lnTo>
                <a:lnTo>
                  <a:pt x="912494" y="6146"/>
                </a:lnTo>
                <a:lnTo>
                  <a:pt x="915910" y="304"/>
                </a:lnTo>
                <a:lnTo>
                  <a:pt x="915162" y="304"/>
                </a:lnTo>
                <a:lnTo>
                  <a:pt x="910653" y="88"/>
                </a:lnTo>
                <a:close/>
              </a:path>
              <a:path w="916304" h="34290">
                <a:moveTo>
                  <a:pt x="916089" y="0"/>
                </a:moveTo>
                <a:lnTo>
                  <a:pt x="915162" y="304"/>
                </a:lnTo>
                <a:lnTo>
                  <a:pt x="915910" y="304"/>
                </a:lnTo>
                <a:lnTo>
                  <a:pt x="916089" y="0"/>
                </a:lnTo>
                <a:close/>
              </a:path>
            </a:pathLst>
          </a:custGeom>
          <a:solidFill>
            <a:srgbClr val="DCDDDE"/>
          </a:solidFill>
        </p:spPr>
        <p:txBody>
          <a:bodyPr wrap="square" lIns="0" tIns="0" rIns="0" bIns="0" rtlCol="0"/>
          <a:lstStyle/>
          <a:p>
            <a:endParaRPr sz="1588"/>
          </a:p>
        </p:txBody>
      </p:sp>
      <p:sp>
        <p:nvSpPr>
          <p:cNvPr id="139" name="object 139"/>
          <p:cNvSpPr/>
          <p:nvPr/>
        </p:nvSpPr>
        <p:spPr>
          <a:xfrm>
            <a:off x="9006306" y="3796210"/>
            <a:ext cx="111498" cy="89087"/>
          </a:xfrm>
          <a:custGeom>
            <a:avLst/>
            <a:gdLst/>
            <a:ahLst/>
            <a:cxnLst/>
            <a:rect l="l" t="t" r="r" b="b"/>
            <a:pathLst>
              <a:path w="126365" h="100964">
                <a:moveTo>
                  <a:pt x="39547" y="0"/>
                </a:moveTo>
                <a:lnTo>
                  <a:pt x="9626" y="9385"/>
                </a:lnTo>
                <a:lnTo>
                  <a:pt x="0" y="17818"/>
                </a:lnTo>
                <a:lnTo>
                  <a:pt x="4330" y="23863"/>
                </a:lnTo>
                <a:lnTo>
                  <a:pt x="7162" y="29717"/>
                </a:lnTo>
                <a:lnTo>
                  <a:pt x="8343" y="44361"/>
                </a:lnTo>
                <a:lnTo>
                  <a:pt x="7137" y="51511"/>
                </a:lnTo>
                <a:lnTo>
                  <a:pt x="5016" y="58204"/>
                </a:lnTo>
                <a:lnTo>
                  <a:pt x="6358" y="65593"/>
                </a:lnTo>
                <a:lnTo>
                  <a:pt x="11201" y="77403"/>
                </a:lnTo>
                <a:lnTo>
                  <a:pt x="16853" y="90236"/>
                </a:lnTo>
                <a:lnTo>
                  <a:pt x="20624" y="100698"/>
                </a:lnTo>
                <a:lnTo>
                  <a:pt x="45754" y="60909"/>
                </a:lnTo>
                <a:lnTo>
                  <a:pt x="99332" y="35127"/>
                </a:lnTo>
                <a:lnTo>
                  <a:pt x="107721" y="22974"/>
                </a:lnTo>
                <a:lnTo>
                  <a:pt x="124189" y="22974"/>
                </a:lnTo>
                <a:lnTo>
                  <a:pt x="123431" y="18173"/>
                </a:lnTo>
                <a:lnTo>
                  <a:pt x="116154" y="6654"/>
                </a:lnTo>
                <a:lnTo>
                  <a:pt x="102273" y="2489"/>
                </a:lnTo>
                <a:lnTo>
                  <a:pt x="74612" y="76"/>
                </a:lnTo>
                <a:lnTo>
                  <a:pt x="39547" y="0"/>
                </a:lnTo>
                <a:close/>
              </a:path>
              <a:path w="126365" h="100964">
                <a:moveTo>
                  <a:pt x="124189" y="22974"/>
                </a:moveTo>
                <a:lnTo>
                  <a:pt x="107721" y="22974"/>
                </a:lnTo>
                <a:lnTo>
                  <a:pt x="110421" y="26467"/>
                </a:lnTo>
                <a:lnTo>
                  <a:pt x="116041" y="35829"/>
                </a:lnTo>
                <a:lnTo>
                  <a:pt x="120864" y="49388"/>
                </a:lnTo>
                <a:lnTo>
                  <a:pt x="121170" y="65468"/>
                </a:lnTo>
                <a:lnTo>
                  <a:pt x="122518" y="61170"/>
                </a:lnTo>
                <a:lnTo>
                  <a:pt x="124953" y="50064"/>
                </a:lnTo>
                <a:lnTo>
                  <a:pt x="126062" y="34837"/>
                </a:lnTo>
                <a:lnTo>
                  <a:pt x="124189" y="22974"/>
                </a:lnTo>
                <a:close/>
              </a:path>
            </a:pathLst>
          </a:custGeom>
          <a:solidFill>
            <a:srgbClr val="191F1C"/>
          </a:solidFill>
        </p:spPr>
        <p:txBody>
          <a:bodyPr wrap="square" lIns="0" tIns="0" rIns="0" bIns="0" rtlCol="0"/>
          <a:lstStyle/>
          <a:p>
            <a:endParaRPr sz="1588"/>
          </a:p>
        </p:txBody>
      </p:sp>
      <p:sp>
        <p:nvSpPr>
          <p:cNvPr id="140" name="object 140"/>
          <p:cNvSpPr/>
          <p:nvPr/>
        </p:nvSpPr>
        <p:spPr>
          <a:xfrm>
            <a:off x="9028208" y="3860452"/>
            <a:ext cx="6163" cy="7844"/>
          </a:xfrm>
          <a:custGeom>
            <a:avLst/>
            <a:gdLst/>
            <a:ahLst/>
            <a:cxnLst/>
            <a:rect l="l" t="t" r="r" b="b"/>
            <a:pathLst>
              <a:path w="6984" h="8889">
                <a:moveTo>
                  <a:pt x="6375" y="0"/>
                </a:moveTo>
                <a:lnTo>
                  <a:pt x="3898" y="2717"/>
                </a:lnTo>
                <a:lnTo>
                  <a:pt x="1739" y="5651"/>
                </a:lnTo>
                <a:lnTo>
                  <a:pt x="0" y="8813"/>
                </a:lnTo>
                <a:lnTo>
                  <a:pt x="4279" y="3060"/>
                </a:lnTo>
                <a:lnTo>
                  <a:pt x="6375" y="0"/>
                </a:lnTo>
                <a:close/>
              </a:path>
            </a:pathLst>
          </a:custGeom>
          <a:solidFill>
            <a:srgbClr val="E8A35C"/>
          </a:solidFill>
        </p:spPr>
        <p:txBody>
          <a:bodyPr wrap="square" lIns="0" tIns="0" rIns="0" bIns="0" rtlCol="0"/>
          <a:lstStyle/>
          <a:p>
            <a:endParaRPr sz="1588"/>
          </a:p>
        </p:txBody>
      </p:sp>
      <p:sp>
        <p:nvSpPr>
          <p:cNvPr id="141" name="object 141"/>
          <p:cNvSpPr/>
          <p:nvPr/>
        </p:nvSpPr>
        <p:spPr>
          <a:xfrm>
            <a:off x="9009976" y="3835066"/>
            <a:ext cx="25773" cy="49306"/>
          </a:xfrm>
          <a:custGeom>
            <a:avLst/>
            <a:gdLst/>
            <a:ahLst/>
            <a:cxnLst/>
            <a:rect l="l" t="t" r="r" b="b"/>
            <a:pathLst>
              <a:path w="29209" h="55879">
                <a:moveTo>
                  <a:pt x="3784" y="0"/>
                </a:moveTo>
                <a:lnTo>
                  <a:pt x="3479" y="4546"/>
                </a:lnTo>
                <a:lnTo>
                  <a:pt x="2540" y="9309"/>
                </a:lnTo>
                <a:lnTo>
                  <a:pt x="0" y="17259"/>
                </a:lnTo>
                <a:lnTo>
                  <a:pt x="15087" y="51104"/>
                </a:lnTo>
                <a:lnTo>
                  <a:pt x="16370" y="55778"/>
                </a:lnTo>
                <a:lnTo>
                  <a:pt x="16522" y="52717"/>
                </a:lnTo>
                <a:lnTo>
                  <a:pt x="17221" y="42532"/>
                </a:lnTo>
                <a:lnTo>
                  <a:pt x="20662" y="37579"/>
                </a:lnTo>
                <a:lnTo>
                  <a:pt x="22390" y="34417"/>
                </a:lnTo>
                <a:lnTo>
                  <a:pt x="24549" y="31483"/>
                </a:lnTo>
                <a:lnTo>
                  <a:pt x="27038" y="28765"/>
                </a:lnTo>
                <a:lnTo>
                  <a:pt x="28448" y="26695"/>
                </a:lnTo>
                <a:lnTo>
                  <a:pt x="29090" y="25692"/>
                </a:lnTo>
                <a:lnTo>
                  <a:pt x="27305" y="25666"/>
                </a:lnTo>
                <a:lnTo>
                  <a:pt x="25679" y="25526"/>
                </a:lnTo>
                <a:lnTo>
                  <a:pt x="23495" y="24638"/>
                </a:lnTo>
                <a:lnTo>
                  <a:pt x="22479" y="23037"/>
                </a:lnTo>
                <a:lnTo>
                  <a:pt x="18516" y="17171"/>
                </a:lnTo>
                <a:lnTo>
                  <a:pt x="14070" y="11361"/>
                </a:lnTo>
                <a:lnTo>
                  <a:pt x="9154" y="5630"/>
                </a:lnTo>
                <a:lnTo>
                  <a:pt x="3784" y="0"/>
                </a:lnTo>
                <a:close/>
              </a:path>
              <a:path w="29209" h="55879">
                <a:moveTo>
                  <a:pt x="29171" y="25565"/>
                </a:moveTo>
                <a:lnTo>
                  <a:pt x="28740" y="25654"/>
                </a:lnTo>
                <a:lnTo>
                  <a:pt x="28333" y="25692"/>
                </a:lnTo>
                <a:lnTo>
                  <a:pt x="29090" y="25692"/>
                </a:lnTo>
                <a:lnTo>
                  <a:pt x="29171" y="25565"/>
                </a:lnTo>
                <a:close/>
              </a:path>
            </a:pathLst>
          </a:custGeom>
          <a:solidFill>
            <a:srgbClr val="0D120F"/>
          </a:solidFill>
        </p:spPr>
        <p:txBody>
          <a:bodyPr wrap="square" lIns="0" tIns="0" rIns="0" bIns="0" rtlCol="0"/>
          <a:lstStyle/>
          <a:p>
            <a:endParaRPr sz="1588"/>
          </a:p>
        </p:txBody>
      </p:sp>
      <p:sp>
        <p:nvSpPr>
          <p:cNvPr id="142" name="object 142"/>
          <p:cNvSpPr/>
          <p:nvPr/>
        </p:nvSpPr>
        <p:spPr>
          <a:xfrm>
            <a:off x="9019057" y="3871232"/>
            <a:ext cx="6163" cy="14007"/>
          </a:xfrm>
          <a:custGeom>
            <a:avLst/>
            <a:gdLst/>
            <a:ahLst/>
            <a:cxnLst/>
            <a:rect l="l" t="t" r="r" b="b"/>
            <a:pathLst>
              <a:path w="6984" h="15875">
                <a:moveTo>
                  <a:pt x="152" y="0"/>
                </a:moveTo>
                <a:lnTo>
                  <a:pt x="0" y="0"/>
                </a:lnTo>
                <a:lnTo>
                  <a:pt x="2688" y="6083"/>
                </a:lnTo>
                <a:lnTo>
                  <a:pt x="5143" y="11874"/>
                </a:lnTo>
                <a:lnTo>
                  <a:pt x="6032" y="15709"/>
                </a:lnTo>
                <a:lnTo>
                  <a:pt x="6159" y="15811"/>
                </a:lnTo>
                <a:lnTo>
                  <a:pt x="6299" y="15671"/>
                </a:lnTo>
                <a:lnTo>
                  <a:pt x="6172" y="15671"/>
                </a:lnTo>
                <a:lnTo>
                  <a:pt x="5270" y="11836"/>
                </a:lnTo>
                <a:lnTo>
                  <a:pt x="2809" y="6032"/>
                </a:lnTo>
                <a:lnTo>
                  <a:pt x="152" y="0"/>
                </a:lnTo>
                <a:close/>
              </a:path>
              <a:path w="6984" h="15875">
                <a:moveTo>
                  <a:pt x="6464" y="12801"/>
                </a:moveTo>
                <a:lnTo>
                  <a:pt x="6265" y="14503"/>
                </a:lnTo>
                <a:lnTo>
                  <a:pt x="6172" y="15671"/>
                </a:lnTo>
                <a:lnTo>
                  <a:pt x="6299" y="15671"/>
                </a:lnTo>
                <a:lnTo>
                  <a:pt x="6337" y="14503"/>
                </a:lnTo>
                <a:lnTo>
                  <a:pt x="6464" y="12801"/>
                </a:lnTo>
                <a:close/>
              </a:path>
            </a:pathLst>
          </a:custGeom>
          <a:solidFill>
            <a:srgbClr val="E8A35C"/>
          </a:solidFill>
        </p:spPr>
        <p:txBody>
          <a:bodyPr wrap="square" lIns="0" tIns="0" rIns="0" bIns="0" rtlCol="0"/>
          <a:lstStyle/>
          <a:p>
            <a:endParaRPr sz="1588"/>
          </a:p>
        </p:txBody>
      </p:sp>
      <p:sp>
        <p:nvSpPr>
          <p:cNvPr id="143" name="object 143"/>
          <p:cNvSpPr/>
          <p:nvPr/>
        </p:nvSpPr>
        <p:spPr>
          <a:xfrm>
            <a:off x="9009724" y="3834699"/>
            <a:ext cx="9525" cy="36979"/>
          </a:xfrm>
          <a:custGeom>
            <a:avLst/>
            <a:gdLst/>
            <a:ahLst/>
            <a:cxnLst/>
            <a:rect l="l" t="t" r="r" b="b"/>
            <a:pathLst>
              <a:path w="10795" h="41910">
                <a:moveTo>
                  <a:pt x="3911" y="0"/>
                </a:moveTo>
                <a:lnTo>
                  <a:pt x="3555" y="4724"/>
                </a:lnTo>
                <a:lnTo>
                  <a:pt x="2603" y="9563"/>
                </a:lnTo>
                <a:lnTo>
                  <a:pt x="0" y="17691"/>
                </a:lnTo>
                <a:lnTo>
                  <a:pt x="10032" y="40170"/>
                </a:lnTo>
                <a:lnTo>
                  <a:pt x="10566" y="41402"/>
                </a:lnTo>
                <a:lnTo>
                  <a:pt x="10718" y="41402"/>
                </a:lnTo>
                <a:lnTo>
                  <a:pt x="6991" y="33008"/>
                </a:lnTo>
                <a:lnTo>
                  <a:pt x="3667" y="25128"/>
                </a:lnTo>
                <a:lnTo>
                  <a:pt x="1471" y="18679"/>
                </a:lnTo>
                <a:lnTo>
                  <a:pt x="1130" y="14579"/>
                </a:lnTo>
                <a:lnTo>
                  <a:pt x="2641" y="9880"/>
                </a:lnTo>
                <a:lnTo>
                  <a:pt x="3670" y="4965"/>
                </a:lnTo>
                <a:lnTo>
                  <a:pt x="3968" y="114"/>
                </a:lnTo>
                <a:close/>
              </a:path>
            </a:pathLst>
          </a:custGeom>
          <a:solidFill>
            <a:srgbClr val="0D120F"/>
          </a:solidFill>
        </p:spPr>
        <p:txBody>
          <a:bodyPr wrap="square" lIns="0" tIns="0" rIns="0" bIns="0" rtlCol="0"/>
          <a:lstStyle/>
          <a:p>
            <a:endParaRPr sz="1588"/>
          </a:p>
        </p:txBody>
      </p:sp>
      <p:sp>
        <p:nvSpPr>
          <p:cNvPr id="144" name="object 144"/>
          <p:cNvSpPr/>
          <p:nvPr/>
        </p:nvSpPr>
        <p:spPr>
          <a:xfrm>
            <a:off x="9027375" y="3859408"/>
            <a:ext cx="7844" cy="10646"/>
          </a:xfrm>
          <a:custGeom>
            <a:avLst/>
            <a:gdLst/>
            <a:ahLst/>
            <a:cxnLst/>
            <a:rect l="l" t="t" r="r" b="b"/>
            <a:pathLst>
              <a:path w="8890" h="12064">
                <a:moveTo>
                  <a:pt x="8432" y="0"/>
                </a:moveTo>
                <a:lnTo>
                  <a:pt x="7315" y="1181"/>
                </a:lnTo>
                <a:lnTo>
                  <a:pt x="5219" y="4241"/>
                </a:lnTo>
                <a:lnTo>
                  <a:pt x="952" y="10007"/>
                </a:lnTo>
                <a:lnTo>
                  <a:pt x="301" y="11239"/>
                </a:lnTo>
                <a:lnTo>
                  <a:pt x="0" y="11938"/>
                </a:lnTo>
                <a:lnTo>
                  <a:pt x="407" y="11201"/>
                </a:lnTo>
                <a:lnTo>
                  <a:pt x="939" y="10439"/>
                </a:lnTo>
                <a:lnTo>
                  <a:pt x="5981" y="3670"/>
                </a:lnTo>
                <a:lnTo>
                  <a:pt x="8432" y="0"/>
                </a:lnTo>
                <a:close/>
              </a:path>
            </a:pathLst>
          </a:custGeom>
          <a:solidFill>
            <a:srgbClr val="E8A35C"/>
          </a:solidFill>
        </p:spPr>
        <p:txBody>
          <a:bodyPr wrap="square" lIns="0" tIns="0" rIns="0" bIns="0" rtlCol="0"/>
          <a:lstStyle/>
          <a:p>
            <a:endParaRPr sz="1588"/>
          </a:p>
        </p:txBody>
      </p:sp>
      <p:sp>
        <p:nvSpPr>
          <p:cNvPr id="145" name="object 145"/>
          <p:cNvSpPr/>
          <p:nvPr/>
        </p:nvSpPr>
        <p:spPr>
          <a:xfrm>
            <a:off x="9009977" y="3834710"/>
            <a:ext cx="26334" cy="50426"/>
          </a:xfrm>
          <a:custGeom>
            <a:avLst/>
            <a:gdLst/>
            <a:ahLst/>
            <a:cxnLst/>
            <a:rect l="l" t="t" r="r" b="b"/>
            <a:pathLst>
              <a:path w="29845" h="57150">
                <a:moveTo>
                  <a:pt x="20662" y="37998"/>
                </a:moveTo>
                <a:lnTo>
                  <a:pt x="20434" y="38290"/>
                </a:lnTo>
                <a:lnTo>
                  <a:pt x="17221" y="42926"/>
                </a:lnTo>
                <a:lnTo>
                  <a:pt x="16522" y="53124"/>
                </a:lnTo>
                <a:lnTo>
                  <a:pt x="16370" y="56184"/>
                </a:lnTo>
                <a:lnTo>
                  <a:pt x="16459" y="57073"/>
                </a:lnTo>
                <a:lnTo>
                  <a:pt x="16738" y="54178"/>
                </a:lnTo>
                <a:lnTo>
                  <a:pt x="17030" y="50355"/>
                </a:lnTo>
                <a:lnTo>
                  <a:pt x="17792" y="43675"/>
                </a:lnTo>
                <a:lnTo>
                  <a:pt x="19723" y="39928"/>
                </a:lnTo>
                <a:lnTo>
                  <a:pt x="20040" y="39192"/>
                </a:lnTo>
                <a:lnTo>
                  <a:pt x="20662" y="37998"/>
                </a:lnTo>
                <a:close/>
              </a:path>
              <a:path w="29845" h="57150">
                <a:moveTo>
                  <a:pt x="4349" y="27422"/>
                </a:moveTo>
                <a:lnTo>
                  <a:pt x="6699" y="32995"/>
                </a:lnTo>
                <a:lnTo>
                  <a:pt x="13119" y="47472"/>
                </a:lnTo>
                <a:lnTo>
                  <a:pt x="15544" y="53238"/>
                </a:lnTo>
                <a:lnTo>
                  <a:pt x="16247" y="56184"/>
                </a:lnTo>
                <a:lnTo>
                  <a:pt x="15087" y="51511"/>
                </a:lnTo>
                <a:lnTo>
                  <a:pt x="4349" y="27422"/>
                </a:lnTo>
                <a:close/>
              </a:path>
              <a:path w="29845" h="57150">
                <a:moveTo>
                  <a:pt x="29469" y="25984"/>
                </a:moveTo>
                <a:lnTo>
                  <a:pt x="29171" y="25984"/>
                </a:lnTo>
                <a:lnTo>
                  <a:pt x="27038" y="29184"/>
                </a:lnTo>
                <a:lnTo>
                  <a:pt x="27393" y="28765"/>
                </a:lnTo>
                <a:lnTo>
                  <a:pt x="28155" y="27990"/>
                </a:lnTo>
                <a:lnTo>
                  <a:pt x="29469" y="25984"/>
                </a:lnTo>
                <a:close/>
              </a:path>
              <a:path w="29845" h="57150">
                <a:moveTo>
                  <a:pt x="876" y="14885"/>
                </a:moveTo>
                <a:lnTo>
                  <a:pt x="0" y="17665"/>
                </a:lnTo>
                <a:lnTo>
                  <a:pt x="4349" y="27422"/>
                </a:lnTo>
                <a:lnTo>
                  <a:pt x="3376" y="25115"/>
                </a:lnTo>
                <a:lnTo>
                  <a:pt x="1184" y="18666"/>
                </a:lnTo>
                <a:lnTo>
                  <a:pt x="876" y="14885"/>
                </a:lnTo>
                <a:close/>
              </a:path>
              <a:path w="29845" h="57150">
                <a:moveTo>
                  <a:pt x="4135" y="406"/>
                </a:moveTo>
                <a:lnTo>
                  <a:pt x="3784" y="406"/>
                </a:lnTo>
                <a:lnTo>
                  <a:pt x="9154" y="6042"/>
                </a:lnTo>
                <a:lnTo>
                  <a:pt x="14070" y="11774"/>
                </a:lnTo>
                <a:lnTo>
                  <a:pt x="18571" y="17665"/>
                </a:lnTo>
                <a:lnTo>
                  <a:pt x="22478" y="23456"/>
                </a:lnTo>
                <a:lnTo>
                  <a:pt x="23494" y="25044"/>
                </a:lnTo>
                <a:lnTo>
                  <a:pt x="25679" y="25920"/>
                </a:lnTo>
                <a:lnTo>
                  <a:pt x="27495" y="26098"/>
                </a:lnTo>
                <a:lnTo>
                  <a:pt x="28333" y="26098"/>
                </a:lnTo>
                <a:lnTo>
                  <a:pt x="28752" y="26060"/>
                </a:lnTo>
                <a:lnTo>
                  <a:pt x="29171" y="25984"/>
                </a:lnTo>
                <a:lnTo>
                  <a:pt x="29469" y="25984"/>
                </a:lnTo>
                <a:lnTo>
                  <a:pt x="29552" y="25831"/>
                </a:lnTo>
                <a:lnTo>
                  <a:pt x="27508" y="25831"/>
                </a:lnTo>
                <a:lnTo>
                  <a:pt x="25736" y="25654"/>
                </a:lnTo>
                <a:lnTo>
                  <a:pt x="23647" y="24828"/>
                </a:lnTo>
                <a:lnTo>
                  <a:pt x="22707" y="23304"/>
                </a:lnTo>
                <a:lnTo>
                  <a:pt x="18700" y="17373"/>
                </a:lnTo>
                <a:lnTo>
                  <a:pt x="14195" y="11501"/>
                </a:lnTo>
                <a:lnTo>
                  <a:pt x="9209" y="5707"/>
                </a:lnTo>
                <a:lnTo>
                  <a:pt x="4135" y="406"/>
                </a:lnTo>
                <a:close/>
              </a:path>
              <a:path w="29845" h="57150">
                <a:moveTo>
                  <a:pt x="29413" y="25654"/>
                </a:moveTo>
                <a:lnTo>
                  <a:pt x="28905" y="25768"/>
                </a:lnTo>
                <a:lnTo>
                  <a:pt x="28409" y="25831"/>
                </a:lnTo>
                <a:lnTo>
                  <a:pt x="29552" y="25831"/>
                </a:lnTo>
                <a:lnTo>
                  <a:pt x="29448" y="25666"/>
                </a:lnTo>
                <a:close/>
              </a:path>
              <a:path w="29845" h="57150">
                <a:moveTo>
                  <a:pt x="3682" y="0"/>
                </a:moveTo>
                <a:lnTo>
                  <a:pt x="3390" y="4953"/>
                </a:lnTo>
                <a:lnTo>
                  <a:pt x="2349" y="9867"/>
                </a:lnTo>
                <a:lnTo>
                  <a:pt x="850" y="14566"/>
                </a:lnTo>
                <a:lnTo>
                  <a:pt x="876" y="14885"/>
                </a:lnTo>
                <a:lnTo>
                  <a:pt x="2539" y="9728"/>
                </a:lnTo>
                <a:lnTo>
                  <a:pt x="3479" y="4940"/>
                </a:lnTo>
                <a:lnTo>
                  <a:pt x="3784" y="406"/>
                </a:lnTo>
                <a:lnTo>
                  <a:pt x="4135" y="406"/>
                </a:lnTo>
                <a:lnTo>
                  <a:pt x="3759" y="12"/>
                </a:lnTo>
                <a:close/>
              </a:path>
            </a:pathLst>
          </a:custGeom>
          <a:solidFill>
            <a:srgbClr val="0D120F"/>
          </a:solidFill>
        </p:spPr>
        <p:txBody>
          <a:bodyPr wrap="square" lIns="0" tIns="0" rIns="0" bIns="0" rtlCol="0"/>
          <a:lstStyle/>
          <a:p>
            <a:endParaRPr sz="1588"/>
          </a:p>
        </p:txBody>
      </p:sp>
      <p:sp>
        <p:nvSpPr>
          <p:cNvPr id="146" name="object 146"/>
          <p:cNvSpPr/>
          <p:nvPr/>
        </p:nvSpPr>
        <p:spPr>
          <a:xfrm>
            <a:off x="8995524" y="3866068"/>
            <a:ext cx="35299" cy="38100"/>
          </a:xfrm>
          <a:custGeom>
            <a:avLst/>
            <a:gdLst/>
            <a:ahLst/>
            <a:cxnLst/>
            <a:rect l="l" t="t" r="r" b="b"/>
            <a:pathLst>
              <a:path w="40004" h="43179">
                <a:moveTo>
                  <a:pt x="14960" y="0"/>
                </a:moveTo>
                <a:lnTo>
                  <a:pt x="8356" y="2616"/>
                </a:lnTo>
                <a:lnTo>
                  <a:pt x="0" y="11963"/>
                </a:lnTo>
                <a:lnTo>
                  <a:pt x="1028" y="19850"/>
                </a:lnTo>
                <a:lnTo>
                  <a:pt x="3365" y="32372"/>
                </a:lnTo>
                <a:lnTo>
                  <a:pt x="6667" y="37884"/>
                </a:lnTo>
                <a:lnTo>
                  <a:pt x="16675" y="42735"/>
                </a:lnTo>
                <a:lnTo>
                  <a:pt x="22097" y="42989"/>
                </a:lnTo>
                <a:lnTo>
                  <a:pt x="26771" y="42595"/>
                </a:lnTo>
                <a:lnTo>
                  <a:pt x="39750" y="22009"/>
                </a:lnTo>
                <a:lnTo>
                  <a:pt x="38328" y="18161"/>
                </a:lnTo>
                <a:lnTo>
                  <a:pt x="36398" y="14439"/>
                </a:lnTo>
                <a:lnTo>
                  <a:pt x="30645" y="6477"/>
                </a:lnTo>
                <a:lnTo>
                  <a:pt x="26085" y="2057"/>
                </a:lnTo>
                <a:lnTo>
                  <a:pt x="14960" y="0"/>
                </a:lnTo>
                <a:close/>
              </a:path>
            </a:pathLst>
          </a:custGeom>
          <a:solidFill>
            <a:srgbClr val="F0BA7D"/>
          </a:solidFill>
        </p:spPr>
        <p:txBody>
          <a:bodyPr wrap="square" lIns="0" tIns="0" rIns="0" bIns="0" rtlCol="0"/>
          <a:lstStyle/>
          <a:p>
            <a:endParaRPr sz="1588"/>
          </a:p>
        </p:txBody>
      </p:sp>
      <p:sp>
        <p:nvSpPr>
          <p:cNvPr id="147" name="object 147"/>
          <p:cNvSpPr/>
          <p:nvPr/>
        </p:nvSpPr>
        <p:spPr>
          <a:xfrm>
            <a:off x="9084479" y="3933049"/>
            <a:ext cx="19050" cy="7844"/>
          </a:xfrm>
          <a:custGeom>
            <a:avLst/>
            <a:gdLst/>
            <a:ahLst/>
            <a:cxnLst/>
            <a:rect l="l" t="t" r="r" b="b"/>
            <a:pathLst>
              <a:path w="21590" h="8889">
                <a:moveTo>
                  <a:pt x="2425" y="0"/>
                </a:moveTo>
                <a:lnTo>
                  <a:pt x="1460" y="0"/>
                </a:lnTo>
                <a:lnTo>
                  <a:pt x="787" y="393"/>
                </a:lnTo>
                <a:lnTo>
                  <a:pt x="0" y="2044"/>
                </a:lnTo>
                <a:lnTo>
                  <a:pt x="406" y="3200"/>
                </a:lnTo>
                <a:lnTo>
                  <a:pt x="9194" y="7518"/>
                </a:lnTo>
                <a:lnTo>
                  <a:pt x="17043" y="8394"/>
                </a:lnTo>
                <a:lnTo>
                  <a:pt x="18567" y="7251"/>
                </a:lnTo>
                <a:lnTo>
                  <a:pt x="19977" y="6007"/>
                </a:lnTo>
                <a:lnTo>
                  <a:pt x="21234" y="4737"/>
                </a:lnTo>
                <a:lnTo>
                  <a:pt x="12268" y="4737"/>
                </a:lnTo>
                <a:lnTo>
                  <a:pt x="2717" y="63"/>
                </a:lnTo>
                <a:lnTo>
                  <a:pt x="2425" y="0"/>
                </a:lnTo>
                <a:close/>
              </a:path>
              <a:path w="21590" h="8889">
                <a:moveTo>
                  <a:pt x="21259" y="4711"/>
                </a:moveTo>
                <a:lnTo>
                  <a:pt x="20929" y="4737"/>
                </a:lnTo>
                <a:lnTo>
                  <a:pt x="21234" y="4737"/>
                </a:lnTo>
                <a:close/>
              </a:path>
            </a:pathLst>
          </a:custGeom>
          <a:solidFill>
            <a:srgbClr val="E3873D"/>
          </a:solidFill>
        </p:spPr>
        <p:txBody>
          <a:bodyPr wrap="square" lIns="0" tIns="0" rIns="0" bIns="0" rtlCol="0"/>
          <a:lstStyle/>
          <a:p>
            <a:endParaRPr sz="1588"/>
          </a:p>
        </p:txBody>
      </p:sp>
      <p:sp>
        <p:nvSpPr>
          <p:cNvPr id="148" name="object 148"/>
          <p:cNvSpPr/>
          <p:nvPr/>
        </p:nvSpPr>
        <p:spPr>
          <a:xfrm>
            <a:off x="9064880" y="3852176"/>
            <a:ext cx="42022" cy="14007"/>
          </a:xfrm>
          <a:custGeom>
            <a:avLst/>
            <a:gdLst/>
            <a:ahLst/>
            <a:cxnLst/>
            <a:rect l="l" t="t" r="r" b="b"/>
            <a:pathLst>
              <a:path w="47625" h="15875">
                <a:moveTo>
                  <a:pt x="33769" y="0"/>
                </a:moveTo>
                <a:lnTo>
                  <a:pt x="25074" y="161"/>
                </a:lnTo>
                <a:lnTo>
                  <a:pt x="17102" y="2914"/>
                </a:lnTo>
                <a:lnTo>
                  <a:pt x="9618" y="7172"/>
                </a:lnTo>
                <a:lnTo>
                  <a:pt x="2387" y="11849"/>
                </a:lnTo>
                <a:lnTo>
                  <a:pt x="0" y="13347"/>
                </a:lnTo>
                <a:lnTo>
                  <a:pt x="3479" y="15849"/>
                </a:lnTo>
                <a:lnTo>
                  <a:pt x="5854" y="14363"/>
                </a:lnTo>
                <a:lnTo>
                  <a:pt x="12219" y="10115"/>
                </a:lnTo>
                <a:lnTo>
                  <a:pt x="19003" y="6032"/>
                </a:lnTo>
                <a:lnTo>
                  <a:pt x="26205" y="3473"/>
                </a:lnTo>
                <a:lnTo>
                  <a:pt x="42562" y="3473"/>
                </a:lnTo>
                <a:lnTo>
                  <a:pt x="41325" y="2793"/>
                </a:lnTo>
                <a:lnTo>
                  <a:pt x="37757" y="660"/>
                </a:lnTo>
                <a:lnTo>
                  <a:pt x="33769" y="0"/>
                </a:lnTo>
                <a:close/>
              </a:path>
              <a:path w="47625" h="15875">
                <a:moveTo>
                  <a:pt x="42562" y="3473"/>
                </a:moveTo>
                <a:lnTo>
                  <a:pt x="26205" y="3473"/>
                </a:lnTo>
                <a:lnTo>
                  <a:pt x="33820" y="3797"/>
                </a:lnTo>
                <a:lnTo>
                  <a:pt x="36868" y="4660"/>
                </a:lnTo>
                <a:lnTo>
                  <a:pt x="39585" y="6273"/>
                </a:lnTo>
                <a:lnTo>
                  <a:pt x="44869" y="9156"/>
                </a:lnTo>
                <a:lnTo>
                  <a:pt x="47307" y="6070"/>
                </a:lnTo>
                <a:lnTo>
                  <a:pt x="42562" y="3473"/>
                </a:lnTo>
                <a:close/>
              </a:path>
            </a:pathLst>
          </a:custGeom>
          <a:solidFill>
            <a:srgbClr val="241F21"/>
          </a:solidFill>
        </p:spPr>
        <p:txBody>
          <a:bodyPr wrap="square" lIns="0" tIns="0" rIns="0" bIns="0" rtlCol="0"/>
          <a:lstStyle/>
          <a:p>
            <a:endParaRPr sz="1588"/>
          </a:p>
        </p:txBody>
      </p:sp>
      <p:sp>
        <p:nvSpPr>
          <p:cNvPr id="149" name="object 149"/>
          <p:cNvSpPr/>
          <p:nvPr/>
        </p:nvSpPr>
        <p:spPr>
          <a:xfrm>
            <a:off x="9520102" y="3907336"/>
            <a:ext cx="37540" cy="16809"/>
          </a:xfrm>
          <a:custGeom>
            <a:avLst/>
            <a:gdLst/>
            <a:ahLst/>
            <a:cxnLst/>
            <a:rect l="l" t="t" r="r" b="b"/>
            <a:pathLst>
              <a:path w="42545" h="19050">
                <a:moveTo>
                  <a:pt x="1689" y="11810"/>
                </a:moveTo>
                <a:lnTo>
                  <a:pt x="863" y="11950"/>
                </a:lnTo>
                <a:lnTo>
                  <a:pt x="419" y="12534"/>
                </a:lnTo>
                <a:lnTo>
                  <a:pt x="0" y="13131"/>
                </a:lnTo>
                <a:lnTo>
                  <a:pt x="127" y="13957"/>
                </a:lnTo>
                <a:lnTo>
                  <a:pt x="6794" y="18821"/>
                </a:lnTo>
                <a:lnTo>
                  <a:pt x="15189" y="18834"/>
                </a:lnTo>
                <a:lnTo>
                  <a:pt x="17731" y="18821"/>
                </a:lnTo>
                <a:lnTo>
                  <a:pt x="20294" y="18465"/>
                </a:lnTo>
                <a:lnTo>
                  <a:pt x="26643" y="16179"/>
                </a:lnTo>
                <a:lnTo>
                  <a:pt x="11468" y="16179"/>
                </a:lnTo>
                <a:lnTo>
                  <a:pt x="8216" y="15201"/>
                </a:lnTo>
                <a:lnTo>
                  <a:pt x="4749" y="13690"/>
                </a:lnTo>
                <a:lnTo>
                  <a:pt x="3716" y="13131"/>
                </a:lnTo>
                <a:lnTo>
                  <a:pt x="2654" y="12496"/>
                </a:lnTo>
                <a:lnTo>
                  <a:pt x="1689" y="11810"/>
                </a:lnTo>
                <a:close/>
              </a:path>
              <a:path w="42545" h="19050">
                <a:moveTo>
                  <a:pt x="41135" y="0"/>
                </a:moveTo>
                <a:lnTo>
                  <a:pt x="40309" y="177"/>
                </a:lnTo>
                <a:lnTo>
                  <a:pt x="39116" y="1968"/>
                </a:lnTo>
                <a:lnTo>
                  <a:pt x="32372" y="11328"/>
                </a:lnTo>
                <a:lnTo>
                  <a:pt x="19697" y="15849"/>
                </a:lnTo>
                <a:lnTo>
                  <a:pt x="17373" y="16179"/>
                </a:lnTo>
                <a:lnTo>
                  <a:pt x="26643" y="16179"/>
                </a:lnTo>
                <a:lnTo>
                  <a:pt x="29006" y="15328"/>
                </a:lnTo>
                <a:lnTo>
                  <a:pt x="33769" y="11518"/>
                </a:lnTo>
                <a:lnTo>
                  <a:pt x="40297" y="5016"/>
                </a:lnTo>
                <a:lnTo>
                  <a:pt x="42532" y="1625"/>
                </a:lnTo>
                <a:lnTo>
                  <a:pt x="42367" y="812"/>
                </a:lnTo>
                <a:lnTo>
                  <a:pt x="41757" y="393"/>
                </a:lnTo>
                <a:lnTo>
                  <a:pt x="41135" y="0"/>
                </a:lnTo>
                <a:close/>
              </a:path>
            </a:pathLst>
          </a:custGeom>
          <a:solidFill>
            <a:srgbClr val="4A3326"/>
          </a:solidFill>
        </p:spPr>
        <p:txBody>
          <a:bodyPr wrap="square" lIns="0" tIns="0" rIns="0" bIns="0" rtlCol="0"/>
          <a:lstStyle/>
          <a:p>
            <a:endParaRPr sz="1588"/>
          </a:p>
        </p:txBody>
      </p:sp>
      <p:sp>
        <p:nvSpPr>
          <p:cNvPr id="150" name="object 150"/>
          <p:cNvSpPr/>
          <p:nvPr/>
        </p:nvSpPr>
        <p:spPr>
          <a:xfrm>
            <a:off x="9492140" y="3859931"/>
            <a:ext cx="14568" cy="9525"/>
          </a:xfrm>
          <a:custGeom>
            <a:avLst/>
            <a:gdLst/>
            <a:ahLst/>
            <a:cxnLst/>
            <a:rect l="l" t="t" r="r" b="b"/>
            <a:pathLst>
              <a:path w="16509" h="10795">
                <a:moveTo>
                  <a:pt x="12712" y="0"/>
                </a:moveTo>
                <a:lnTo>
                  <a:pt x="3657" y="0"/>
                </a:lnTo>
                <a:lnTo>
                  <a:pt x="0" y="2413"/>
                </a:lnTo>
                <a:lnTo>
                  <a:pt x="0" y="8305"/>
                </a:lnTo>
                <a:lnTo>
                  <a:pt x="3657" y="10718"/>
                </a:lnTo>
                <a:lnTo>
                  <a:pt x="12712" y="10718"/>
                </a:lnTo>
                <a:lnTo>
                  <a:pt x="16382" y="8305"/>
                </a:lnTo>
                <a:lnTo>
                  <a:pt x="16382" y="2413"/>
                </a:lnTo>
                <a:lnTo>
                  <a:pt x="12712" y="0"/>
                </a:lnTo>
                <a:close/>
              </a:path>
            </a:pathLst>
          </a:custGeom>
          <a:solidFill>
            <a:srgbClr val="241F21"/>
          </a:solidFill>
        </p:spPr>
        <p:txBody>
          <a:bodyPr wrap="square" lIns="0" tIns="0" rIns="0" bIns="0" rtlCol="0"/>
          <a:lstStyle/>
          <a:p>
            <a:endParaRPr sz="1588"/>
          </a:p>
        </p:txBody>
      </p:sp>
      <p:sp>
        <p:nvSpPr>
          <p:cNvPr id="151" name="object 151"/>
          <p:cNvSpPr/>
          <p:nvPr/>
        </p:nvSpPr>
        <p:spPr>
          <a:xfrm>
            <a:off x="9556135" y="3859931"/>
            <a:ext cx="14568" cy="9525"/>
          </a:xfrm>
          <a:custGeom>
            <a:avLst/>
            <a:gdLst/>
            <a:ahLst/>
            <a:cxnLst/>
            <a:rect l="l" t="t" r="r" b="b"/>
            <a:pathLst>
              <a:path w="16509" h="10795">
                <a:moveTo>
                  <a:pt x="12712" y="0"/>
                </a:moveTo>
                <a:lnTo>
                  <a:pt x="3657" y="0"/>
                </a:lnTo>
                <a:lnTo>
                  <a:pt x="0" y="2413"/>
                </a:lnTo>
                <a:lnTo>
                  <a:pt x="0" y="8305"/>
                </a:lnTo>
                <a:lnTo>
                  <a:pt x="3657" y="10718"/>
                </a:lnTo>
                <a:lnTo>
                  <a:pt x="12712" y="10718"/>
                </a:lnTo>
                <a:lnTo>
                  <a:pt x="16382" y="8305"/>
                </a:lnTo>
                <a:lnTo>
                  <a:pt x="16382" y="2413"/>
                </a:lnTo>
                <a:lnTo>
                  <a:pt x="12712" y="0"/>
                </a:lnTo>
                <a:close/>
              </a:path>
            </a:pathLst>
          </a:custGeom>
          <a:solidFill>
            <a:srgbClr val="241F21"/>
          </a:solidFill>
        </p:spPr>
        <p:txBody>
          <a:bodyPr wrap="square" lIns="0" tIns="0" rIns="0" bIns="0" rtlCol="0"/>
          <a:lstStyle/>
          <a:p>
            <a:endParaRPr sz="1588"/>
          </a:p>
        </p:txBody>
      </p:sp>
      <p:sp>
        <p:nvSpPr>
          <p:cNvPr id="152" name="object 152"/>
          <p:cNvSpPr/>
          <p:nvPr/>
        </p:nvSpPr>
        <p:spPr>
          <a:xfrm>
            <a:off x="9516193" y="3888496"/>
            <a:ext cx="26894" cy="10646"/>
          </a:xfrm>
          <a:custGeom>
            <a:avLst/>
            <a:gdLst/>
            <a:ahLst/>
            <a:cxnLst/>
            <a:rect l="l" t="t" r="r" b="b"/>
            <a:pathLst>
              <a:path w="30479" h="12064">
                <a:moveTo>
                  <a:pt x="5930" y="0"/>
                </a:moveTo>
                <a:lnTo>
                  <a:pt x="939" y="1115"/>
                </a:lnTo>
                <a:lnTo>
                  <a:pt x="0" y="2490"/>
                </a:lnTo>
                <a:lnTo>
                  <a:pt x="3766" y="5030"/>
                </a:lnTo>
                <a:lnTo>
                  <a:pt x="12890" y="9639"/>
                </a:lnTo>
                <a:lnTo>
                  <a:pt x="22313" y="11768"/>
                </a:lnTo>
                <a:lnTo>
                  <a:pt x="26081" y="9537"/>
                </a:lnTo>
                <a:lnTo>
                  <a:pt x="21158" y="9537"/>
                </a:lnTo>
                <a:lnTo>
                  <a:pt x="12179" y="6934"/>
                </a:lnTo>
                <a:lnTo>
                  <a:pt x="5930" y="0"/>
                </a:lnTo>
                <a:close/>
              </a:path>
              <a:path w="30479" h="12064">
                <a:moveTo>
                  <a:pt x="27520" y="571"/>
                </a:moveTo>
                <a:lnTo>
                  <a:pt x="23863" y="5359"/>
                </a:lnTo>
                <a:lnTo>
                  <a:pt x="21158" y="9537"/>
                </a:lnTo>
                <a:lnTo>
                  <a:pt x="26081" y="9537"/>
                </a:lnTo>
                <a:lnTo>
                  <a:pt x="27430" y="8739"/>
                </a:lnTo>
                <a:lnTo>
                  <a:pt x="29544" y="4226"/>
                </a:lnTo>
                <a:lnTo>
                  <a:pt x="29959" y="1905"/>
                </a:lnTo>
                <a:lnTo>
                  <a:pt x="27520" y="571"/>
                </a:lnTo>
                <a:close/>
              </a:path>
            </a:pathLst>
          </a:custGeom>
          <a:solidFill>
            <a:srgbClr val="8F6B45"/>
          </a:solidFill>
        </p:spPr>
        <p:txBody>
          <a:bodyPr wrap="square" lIns="0" tIns="0" rIns="0" bIns="0" rtlCol="0"/>
          <a:lstStyle/>
          <a:p>
            <a:endParaRPr sz="1588"/>
          </a:p>
        </p:txBody>
      </p:sp>
      <p:sp>
        <p:nvSpPr>
          <p:cNvPr id="153" name="object 153"/>
          <p:cNvSpPr/>
          <p:nvPr/>
        </p:nvSpPr>
        <p:spPr>
          <a:xfrm>
            <a:off x="9558786" y="1487760"/>
            <a:ext cx="259976" cy="252693"/>
          </a:xfrm>
          <a:custGeom>
            <a:avLst/>
            <a:gdLst/>
            <a:ahLst/>
            <a:cxnLst/>
            <a:rect l="l" t="t" r="r" b="b"/>
            <a:pathLst>
              <a:path w="294640" h="286385">
                <a:moveTo>
                  <a:pt x="0" y="285915"/>
                </a:moveTo>
                <a:lnTo>
                  <a:pt x="294462" y="285915"/>
                </a:lnTo>
                <a:lnTo>
                  <a:pt x="294462" y="0"/>
                </a:lnTo>
                <a:lnTo>
                  <a:pt x="0" y="0"/>
                </a:lnTo>
                <a:lnTo>
                  <a:pt x="0" y="285915"/>
                </a:lnTo>
                <a:close/>
              </a:path>
            </a:pathLst>
          </a:custGeom>
          <a:solidFill>
            <a:srgbClr val="FF7E41"/>
          </a:solidFill>
        </p:spPr>
        <p:txBody>
          <a:bodyPr wrap="square" lIns="0" tIns="0" rIns="0" bIns="0" rtlCol="0"/>
          <a:lstStyle/>
          <a:p>
            <a:endParaRPr sz="1588"/>
          </a:p>
        </p:txBody>
      </p:sp>
      <p:sp>
        <p:nvSpPr>
          <p:cNvPr id="154" name="object 154"/>
          <p:cNvSpPr/>
          <p:nvPr/>
        </p:nvSpPr>
        <p:spPr>
          <a:xfrm>
            <a:off x="9558786" y="1487760"/>
            <a:ext cx="259976" cy="252693"/>
          </a:xfrm>
          <a:custGeom>
            <a:avLst/>
            <a:gdLst/>
            <a:ahLst/>
            <a:cxnLst/>
            <a:rect l="l" t="t" r="r" b="b"/>
            <a:pathLst>
              <a:path w="294640" h="286385">
                <a:moveTo>
                  <a:pt x="30276" y="0"/>
                </a:moveTo>
                <a:lnTo>
                  <a:pt x="0" y="0"/>
                </a:lnTo>
                <a:lnTo>
                  <a:pt x="0" y="285915"/>
                </a:lnTo>
                <a:lnTo>
                  <a:pt x="294474" y="285915"/>
                </a:lnTo>
                <a:lnTo>
                  <a:pt x="294474" y="269024"/>
                </a:lnTo>
                <a:lnTo>
                  <a:pt x="30276" y="0"/>
                </a:lnTo>
                <a:close/>
              </a:path>
            </a:pathLst>
          </a:custGeom>
          <a:solidFill>
            <a:srgbClr val="FF671F"/>
          </a:solidFill>
        </p:spPr>
        <p:txBody>
          <a:bodyPr wrap="square" lIns="0" tIns="0" rIns="0" bIns="0" rtlCol="0"/>
          <a:lstStyle/>
          <a:p>
            <a:endParaRPr sz="1588"/>
          </a:p>
        </p:txBody>
      </p:sp>
      <p:sp>
        <p:nvSpPr>
          <p:cNvPr id="155" name="object 155"/>
          <p:cNvSpPr/>
          <p:nvPr/>
        </p:nvSpPr>
        <p:spPr>
          <a:xfrm>
            <a:off x="9592241" y="1521047"/>
            <a:ext cx="87910" cy="85818"/>
          </a:xfrm>
          <a:prstGeom prst="rect">
            <a:avLst/>
          </a:prstGeom>
          <a:blipFill>
            <a:blip r:embed="rId14" cstate="print"/>
            <a:stretch>
              <a:fillRect/>
            </a:stretch>
          </a:blipFill>
        </p:spPr>
        <p:txBody>
          <a:bodyPr wrap="square" lIns="0" tIns="0" rIns="0" bIns="0" rtlCol="0"/>
          <a:lstStyle/>
          <a:p>
            <a:endParaRPr sz="1588"/>
          </a:p>
        </p:txBody>
      </p:sp>
      <p:sp>
        <p:nvSpPr>
          <p:cNvPr id="156" name="object 156"/>
          <p:cNvSpPr/>
          <p:nvPr/>
        </p:nvSpPr>
        <p:spPr>
          <a:xfrm>
            <a:off x="9703109" y="1521064"/>
            <a:ext cx="87910" cy="85801"/>
          </a:xfrm>
          <a:prstGeom prst="rect">
            <a:avLst/>
          </a:prstGeom>
          <a:blipFill>
            <a:blip r:embed="rId15" cstate="print"/>
            <a:stretch>
              <a:fillRect/>
            </a:stretch>
          </a:blipFill>
        </p:spPr>
        <p:txBody>
          <a:bodyPr wrap="square" lIns="0" tIns="0" rIns="0" bIns="0" rtlCol="0"/>
          <a:lstStyle/>
          <a:p>
            <a:endParaRPr sz="1588"/>
          </a:p>
        </p:txBody>
      </p:sp>
      <p:sp>
        <p:nvSpPr>
          <p:cNvPr id="157" name="object 157"/>
          <p:cNvSpPr/>
          <p:nvPr/>
        </p:nvSpPr>
        <p:spPr>
          <a:xfrm>
            <a:off x="9592241" y="1628203"/>
            <a:ext cx="87910" cy="85812"/>
          </a:xfrm>
          <a:prstGeom prst="rect">
            <a:avLst/>
          </a:prstGeom>
          <a:blipFill>
            <a:blip r:embed="rId16" cstate="print"/>
            <a:stretch>
              <a:fillRect/>
            </a:stretch>
          </a:blipFill>
        </p:spPr>
        <p:txBody>
          <a:bodyPr wrap="square" lIns="0" tIns="0" rIns="0" bIns="0" rtlCol="0"/>
          <a:lstStyle/>
          <a:p>
            <a:endParaRPr sz="1588"/>
          </a:p>
        </p:txBody>
      </p:sp>
      <p:sp>
        <p:nvSpPr>
          <p:cNvPr id="158" name="object 158"/>
          <p:cNvSpPr/>
          <p:nvPr/>
        </p:nvSpPr>
        <p:spPr>
          <a:xfrm>
            <a:off x="9703109" y="1628196"/>
            <a:ext cx="87910" cy="85819"/>
          </a:xfrm>
          <a:prstGeom prst="rect">
            <a:avLst/>
          </a:prstGeom>
          <a:blipFill>
            <a:blip r:embed="rId17" cstate="print"/>
            <a:stretch>
              <a:fillRect/>
            </a:stretch>
          </a:blipFill>
        </p:spPr>
        <p:txBody>
          <a:bodyPr wrap="square" lIns="0" tIns="0" rIns="0" bIns="0" rtlCol="0"/>
          <a:lstStyle/>
          <a:p>
            <a:endParaRPr sz="1588"/>
          </a:p>
        </p:txBody>
      </p:sp>
      <p:sp>
        <p:nvSpPr>
          <p:cNvPr id="159" name="object 159"/>
          <p:cNvSpPr/>
          <p:nvPr/>
        </p:nvSpPr>
        <p:spPr>
          <a:xfrm>
            <a:off x="9092497" y="1487760"/>
            <a:ext cx="259976" cy="252693"/>
          </a:xfrm>
          <a:custGeom>
            <a:avLst/>
            <a:gdLst/>
            <a:ahLst/>
            <a:cxnLst/>
            <a:rect l="l" t="t" r="r" b="b"/>
            <a:pathLst>
              <a:path w="294640" h="286385">
                <a:moveTo>
                  <a:pt x="0" y="285915"/>
                </a:moveTo>
                <a:lnTo>
                  <a:pt x="294462" y="285915"/>
                </a:lnTo>
                <a:lnTo>
                  <a:pt x="294462" y="0"/>
                </a:lnTo>
                <a:lnTo>
                  <a:pt x="0" y="0"/>
                </a:lnTo>
                <a:lnTo>
                  <a:pt x="0" y="285915"/>
                </a:lnTo>
                <a:close/>
              </a:path>
            </a:pathLst>
          </a:custGeom>
          <a:solidFill>
            <a:srgbClr val="FF671F"/>
          </a:solidFill>
        </p:spPr>
        <p:txBody>
          <a:bodyPr wrap="square" lIns="0" tIns="0" rIns="0" bIns="0" rtlCol="0"/>
          <a:lstStyle/>
          <a:p>
            <a:endParaRPr sz="1588"/>
          </a:p>
        </p:txBody>
      </p:sp>
      <p:sp>
        <p:nvSpPr>
          <p:cNvPr id="160" name="object 160"/>
          <p:cNvSpPr/>
          <p:nvPr/>
        </p:nvSpPr>
        <p:spPr>
          <a:xfrm>
            <a:off x="9120095" y="1521064"/>
            <a:ext cx="87898" cy="85801"/>
          </a:xfrm>
          <a:prstGeom prst="rect">
            <a:avLst/>
          </a:prstGeom>
          <a:blipFill>
            <a:blip r:embed="rId18" cstate="print"/>
            <a:stretch>
              <a:fillRect/>
            </a:stretch>
          </a:blipFill>
        </p:spPr>
        <p:txBody>
          <a:bodyPr wrap="square" lIns="0" tIns="0" rIns="0" bIns="0" rtlCol="0"/>
          <a:lstStyle/>
          <a:p>
            <a:endParaRPr sz="1588"/>
          </a:p>
        </p:txBody>
      </p:sp>
      <p:sp>
        <p:nvSpPr>
          <p:cNvPr id="161" name="object 161"/>
          <p:cNvSpPr/>
          <p:nvPr/>
        </p:nvSpPr>
        <p:spPr>
          <a:xfrm>
            <a:off x="9230960" y="1521064"/>
            <a:ext cx="87898" cy="85801"/>
          </a:xfrm>
          <a:prstGeom prst="rect">
            <a:avLst/>
          </a:prstGeom>
          <a:blipFill>
            <a:blip r:embed="rId18" cstate="print"/>
            <a:stretch>
              <a:fillRect/>
            </a:stretch>
          </a:blipFill>
        </p:spPr>
        <p:txBody>
          <a:bodyPr wrap="square" lIns="0" tIns="0" rIns="0" bIns="0" rtlCol="0"/>
          <a:lstStyle/>
          <a:p>
            <a:endParaRPr sz="1588"/>
          </a:p>
        </p:txBody>
      </p:sp>
      <p:sp>
        <p:nvSpPr>
          <p:cNvPr id="162" name="object 162"/>
          <p:cNvSpPr/>
          <p:nvPr/>
        </p:nvSpPr>
        <p:spPr>
          <a:xfrm>
            <a:off x="9120095" y="1628203"/>
            <a:ext cx="87898" cy="85812"/>
          </a:xfrm>
          <a:prstGeom prst="rect">
            <a:avLst/>
          </a:prstGeom>
          <a:blipFill>
            <a:blip r:embed="rId19" cstate="print"/>
            <a:stretch>
              <a:fillRect/>
            </a:stretch>
          </a:blipFill>
        </p:spPr>
        <p:txBody>
          <a:bodyPr wrap="square" lIns="0" tIns="0" rIns="0" bIns="0" rtlCol="0"/>
          <a:lstStyle/>
          <a:p>
            <a:endParaRPr sz="1588"/>
          </a:p>
        </p:txBody>
      </p:sp>
      <p:sp>
        <p:nvSpPr>
          <p:cNvPr id="163" name="object 163"/>
          <p:cNvSpPr/>
          <p:nvPr/>
        </p:nvSpPr>
        <p:spPr>
          <a:xfrm>
            <a:off x="9230960" y="1628203"/>
            <a:ext cx="87898" cy="85812"/>
          </a:xfrm>
          <a:prstGeom prst="rect">
            <a:avLst/>
          </a:prstGeom>
          <a:blipFill>
            <a:blip r:embed="rId19" cstate="print"/>
            <a:stretch>
              <a:fillRect/>
            </a:stretch>
          </a:blipFill>
        </p:spPr>
        <p:txBody>
          <a:bodyPr wrap="square" lIns="0" tIns="0" rIns="0" bIns="0" rtlCol="0"/>
          <a:lstStyle/>
          <a:p>
            <a:endParaRPr sz="1588"/>
          </a:p>
        </p:txBody>
      </p:sp>
      <p:sp>
        <p:nvSpPr>
          <p:cNvPr id="164" name="object 164"/>
          <p:cNvSpPr/>
          <p:nvPr/>
        </p:nvSpPr>
        <p:spPr>
          <a:xfrm>
            <a:off x="9527835" y="1414653"/>
            <a:ext cx="316566" cy="73399"/>
          </a:xfrm>
          <a:custGeom>
            <a:avLst/>
            <a:gdLst/>
            <a:ahLst/>
            <a:cxnLst/>
            <a:rect l="l" t="t" r="r" b="b"/>
            <a:pathLst>
              <a:path w="358775" h="83185">
                <a:moveTo>
                  <a:pt x="323481" y="0"/>
                </a:moveTo>
                <a:lnTo>
                  <a:pt x="0" y="0"/>
                </a:lnTo>
                <a:lnTo>
                  <a:pt x="35077" y="35204"/>
                </a:lnTo>
                <a:lnTo>
                  <a:pt x="35077" y="82854"/>
                </a:lnTo>
                <a:lnTo>
                  <a:pt x="358559" y="82854"/>
                </a:lnTo>
                <a:lnTo>
                  <a:pt x="323481" y="0"/>
                </a:lnTo>
                <a:close/>
              </a:path>
            </a:pathLst>
          </a:custGeom>
          <a:solidFill>
            <a:srgbClr val="717275"/>
          </a:solidFill>
        </p:spPr>
        <p:txBody>
          <a:bodyPr wrap="square" lIns="0" tIns="0" rIns="0" bIns="0" rtlCol="0"/>
          <a:lstStyle/>
          <a:p>
            <a:endParaRPr sz="1588"/>
          </a:p>
        </p:txBody>
      </p:sp>
      <p:sp>
        <p:nvSpPr>
          <p:cNvPr id="165" name="object 165"/>
          <p:cNvSpPr/>
          <p:nvPr/>
        </p:nvSpPr>
        <p:spPr>
          <a:xfrm>
            <a:off x="9352316" y="1342175"/>
            <a:ext cx="206749" cy="398368"/>
          </a:xfrm>
          <a:custGeom>
            <a:avLst/>
            <a:gdLst/>
            <a:ahLst/>
            <a:cxnLst/>
            <a:rect l="l" t="t" r="r" b="b"/>
            <a:pathLst>
              <a:path w="234315" h="451485">
                <a:moveTo>
                  <a:pt x="117005" y="0"/>
                </a:moveTo>
                <a:lnTo>
                  <a:pt x="0" y="117348"/>
                </a:lnTo>
                <a:lnTo>
                  <a:pt x="0" y="450900"/>
                </a:lnTo>
                <a:lnTo>
                  <a:pt x="233997" y="450900"/>
                </a:lnTo>
                <a:lnTo>
                  <a:pt x="233997" y="117348"/>
                </a:lnTo>
                <a:lnTo>
                  <a:pt x="117005" y="0"/>
                </a:lnTo>
                <a:close/>
              </a:path>
            </a:pathLst>
          </a:custGeom>
          <a:solidFill>
            <a:srgbClr val="FF854C"/>
          </a:solidFill>
        </p:spPr>
        <p:txBody>
          <a:bodyPr wrap="square" lIns="0" tIns="0" rIns="0" bIns="0" rtlCol="0"/>
          <a:lstStyle/>
          <a:p>
            <a:endParaRPr sz="1588"/>
          </a:p>
        </p:txBody>
      </p:sp>
      <p:sp>
        <p:nvSpPr>
          <p:cNvPr id="166" name="object 166"/>
          <p:cNvSpPr/>
          <p:nvPr/>
        </p:nvSpPr>
        <p:spPr>
          <a:xfrm>
            <a:off x="9402116" y="1581879"/>
            <a:ext cx="107016" cy="158563"/>
          </a:xfrm>
          <a:custGeom>
            <a:avLst/>
            <a:gdLst/>
            <a:ahLst/>
            <a:cxnLst/>
            <a:rect l="l" t="t" r="r" b="b"/>
            <a:pathLst>
              <a:path w="121284" h="179705">
                <a:moveTo>
                  <a:pt x="0" y="179247"/>
                </a:moveTo>
                <a:lnTo>
                  <a:pt x="121132" y="179247"/>
                </a:lnTo>
                <a:lnTo>
                  <a:pt x="121132" y="0"/>
                </a:lnTo>
                <a:lnTo>
                  <a:pt x="0" y="0"/>
                </a:lnTo>
                <a:lnTo>
                  <a:pt x="0" y="179247"/>
                </a:lnTo>
                <a:close/>
              </a:path>
            </a:pathLst>
          </a:custGeom>
          <a:solidFill>
            <a:srgbClr val="A2A4A7"/>
          </a:solidFill>
        </p:spPr>
        <p:txBody>
          <a:bodyPr wrap="square" lIns="0" tIns="0" rIns="0" bIns="0" rtlCol="0"/>
          <a:lstStyle/>
          <a:p>
            <a:endParaRPr sz="1588"/>
          </a:p>
        </p:txBody>
      </p:sp>
      <p:sp>
        <p:nvSpPr>
          <p:cNvPr id="167" name="object 167"/>
          <p:cNvSpPr/>
          <p:nvPr/>
        </p:nvSpPr>
        <p:spPr>
          <a:xfrm>
            <a:off x="9450394" y="1279051"/>
            <a:ext cx="10646" cy="68916"/>
          </a:xfrm>
          <a:custGeom>
            <a:avLst/>
            <a:gdLst/>
            <a:ahLst/>
            <a:cxnLst/>
            <a:rect l="l" t="t" r="r" b="b"/>
            <a:pathLst>
              <a:path w="12065" h="78105">
                <a:moveTo>
                  <a:pt x="9080" y="0"/>
                </a:moveTo>
                <a:lnTo>
                  <a:pt x="2616" y="0"/>
                </a:lnTo>
                <a:lnTo>
                  <a:pt x="0" y="2666"/>
                </a:lnTo>
                <a:lnTo>
                  <a:pt x="0" y="74828"/>
                </a:lnTo>
                <a:lnTo>
                  <a:pt x="2616" y="77495"/>
                </a:lnTo>
                <a:lnTo>
                  <a:pt x="9080" y="77495"/>
                </a:lnTo>
                <a:lnTo>
                  <a:pt x="11696" y="74828"/>
                </a:lnTo>
                <a:lnTo>
                  <a:pt x="11696" y="2666"/>
                </a:lnTo>
                <a:lnTo>
                  <a:pt x="9080" y="0"/>
                </a:lnTo>
                <a:close/>
              </a:path>
            </a:pathLst>
          </a:custGeom>
          <a:solidFill>
            <a:srgbClr val="F6B3CA"/>
          </a:solidFill>
        </p:spPr>
        <p:txBody>
          <a:bodyPr wrap="square" lIns="0" tIns="0" rIns="0" bIns="0" rtlCol="0"/>
          <a:lstStyle/>
          <a:p>
            <a:endParaRPr sz="1588"/>
          </a:p>
        </p:txBody>
      </p:sp>
      <p:sp>
        <p:nvSpPr>
          <p:cNvPr id="168" name="object 168"/>
          <p:cNvSpPr/>
          <p:nvPr/>
        </p:nvSpPr>
        <p:spPr>
          <a:xfrm>
            <a:off x="9416212" y="1407659"/>
            <a:ext cx="78687" cy="80133"/>
          </a:xfrm>
          <a:prstGeom prst="rect">
            <a:avLst/>
          </a:prstGeom>
          <a:blipFill>
            <a:blip r:embed="rId20" cstate="print"/>
            <a:stretch>
              <a:fillRect/>
            </a:stretch>
          </a:blipFill>
        </p:spPr>
        <p:txBody>
          <a:bodyPr wrap="square" lIns="0" tIns="0" rIns="0" bIns="0" rtlCol="0"/>
          <a:lstStyle/>
          <a:p>
            <a:endParaRPr sz="1588"/>
          </a:p>
        </p:txBody>
      </p:sp>
      <p:sp>
        <p:nvSpPr>
          <p:cNvPr id="169" name="object 169"/>
          <p:cNvSpPr/>
          <p:nvPr/>
        </p:nvSpPr>
        <p:spPr>
          <a:xfrm>
            <a:off x="9455556" y="1279062"/>
            <a:ext cx="56029" cy="33057"/>
          </a:xfrm>
          <a:custGeom>
            <a:avLst/>
            <a:gdLst/>
            <a:ahLst/>
            <a:cxnLst/>
            <a:rect l="l" t="t" r="r" b="b"/>
            <a:pathLst>
              <a:path w="63500" h="37465">
                <a:moveTo>
                  <a:pt x="63119" y="0"/>
                </a:moveTo>
                <a:lnTo>
                  <a:pt x="0" y="0"/>
                </a:lnTo>
                <a:lnTo>
                  <a:pt x="0" y="37122"/>
                </a:lnTo>
                <a:lnTo>
                  <a:pt x="63119" y="37122"/>
                </a:lnTo>
                <a:lnTo>
                  <a:pt x="41287" y="18554"/>
                </a:lnTo>
                <a:lnTo>
                  <a:pt x="63119" y="0"/>
                </a:lnTo>
                <a:close/>
              </a:path>
            </a:pathLst>
          </a:custGeom>
          <a:solidFill>
            <a:srgbClr val="F6B3CA"/>
          </a:solidFill>
        </p:spPr>
        <p:txBody>
          <a:bodyPr wrap="square" lIns="0" tIns="0" rIns="0" bIns="0" rtlCol="0"/>
          <a:lstStyle/>
          <a:p>
            <a:endParaRPr sz="1588"/>
          </a:p>
        </p:txBody>
      </p:sp>
      <p:sp>
        <p:nvSpPr>
          <p:cNvPr id="170" name="object 170"/>
          <p:cNvSpPr/>
          <p:nvPr/>
        </p:nvSpPr>
        <p:spPr>
          <a:xfrm>
            <a:off x="9066898" y="1414653"/>
            <a:ext cx="316566" cy="73399"/>
          </a:xfrm>
          <a:custGeom>
            <a:avLst/>
            <a:gdLst/>
            <a:ahLst/>
            <a:cxnLst/>
            <a:rect l="l" t="t" r="r" b="b"/>
            <a:pathLst>
              <a:path w="358775" h="83185">
                <a:moveTo>
                  <a:pt x="358571" y="0"/>
                </a:moveTo>
                <a:lnTo>
                  <a:pt x="35090" y="0"/>
                </a:lnTo>
                <a:lnTo>
                  <a:pt x="0" y="82854"/>
                </a:lnTo>
                <a:lnTo>
                  <a:pt x="323481" y="82854"/>
                </a:lnTo>
                <a:lnTo>
                  <a:pt x="323481" y="35204"/>
                </a:lnTo>
                <a:lnTo>
                  <a:pt x="358571" y="0"/>
                </a:lnTo>
                <a:close/>
              </a:path>
            </a:pathLst>
          </a:custGeom>
          <a:solidFill>
            <a:srgbClr val="717275"/>
          </a:solidFill>
        </p:spPr>
        <p:txBody>
          <a:bodyPr wrap="square" lIns="0" tIns="0" rIns="0" bIns="0" rtlCol="0"/>
          <a:lstStyle/>
          <a:p>
            <a:endParaRPr sz="1588"/>
          </a:p>
        </p:txBody>
      </p:sp>
      <p:sp>
        <p:nvSpPr>
          <p:cNvPr id="171" name="object 171"/>
          <p:cNvSpPr/>
          <p:nvPr/>
        </p:nvSpPr>
        <p:spPr>
          <a:xfrm>
            <a:off x="9092496" y="1487760"/>
            <a:ext cx="259976" cy="21291"/>
          </a:xfrm>
          <a:custGeom>
            <a:avLst/>
            <a:gdLst/>
            <a:ahLst/>
            <a:cxnLst/>
            <a:rect l="l" t="t" r="r" b="b"/>
            <a:pathLst>
              <a:path w="294640" h="24130">
                <a:moveTo>
                  <a:pt x="0" y="23596"/>
                </a:moveTo>
                <a:lnTo>
                  <a:pt x="294462" y="23596"/>
                </a:lnTo>
                <a:lnTo>
                  <a:pt x="294462" y="0"/>
                </a:lnTo>
                <a:lnTo>
                  <a:pt x="0" y="0"/>
                </a:lnTo>
                <a:lnTo>
                  <a:pt x="0" y="23596"/>
                </a:lnTo>
                <a:close/>
              </a:path>
            </a:pathLst>
          </a:custGeom>
          <a:solidFill>
            <a:srgbClr val="FF671F"/>
          </a:solidFill>
        </p:spPr>
        <p:txBody>
          <a:bodyPr wrap="square" lIns="0" tIns="0" rIns="0" bIns="0" rtlCol="0"/>
          <a:lstStyle/>
          <a:p>
            <a:endParaRPr sz="1588"/>
          </a:p>
        </p:txBody>
      </p:sp>
      <p:sp>
        <p:nvSpPr>
          <p:cNvPr id="172" name="object 172"/>
          <p:cNvSpPr/>
          <p:nvPr/>
        </p:nvSpPr>
        <p:spPr>
          <a:xfrm>
            <a:off x="9558785" y="1460564"/>
            <a:ext cx="26894" cy="27454"/>
          </a:xfrm>
          <a:custGeom>
            <a:avLst/>
            <a:gdLst/>
            <a:ahLst/>
            <a:cxnLst/>
            <a:rect l="l" t="t" r="r" b="b"/>
            <a:pathLst>
              <a:path w="30479" h="31114">
                <a:moveTo>
                  <a:pt x="0" y="0"/>
                </a:moveTo>
                <a:lnTo>
                  <a:pt x="0" y="30822"/>
                </a:lnTo>
                <a:lnTo>
                  <a:pt x="30276" y="30822"/>
                </a:lnTo>
                <a:lnTo>
                  <a:pt x="0" y="0"/>
                </a:lnTo>
                <a:close/>
              </a:path>
            </a:pathLst>
          </a:custGeom>
          <a:solidFill>
            <a:srgbClr val="4D4D4F"/>
          </a:solidFill>
        </p:spPr>
        <p:txBody>
          <a:bodyPr wrap="square" lIns="0" tIns="0" rIns="0" bIns="0" rtlCol="0"/>
          <a:lstStyle/>
          <a:p>
            <a:endParaRPr sz="1588"/>
          </a:p>
        </p:txBody>
      </p:sp>
      <p:sp>
        <p:nvSpPr>
          <p:cNvPr id="173" name="object 173"/>
          <p:cNvSpPr/>
          <p:nvPr/>
        </p:nvSpPr>
        <p:spPr>
          <a:xfrm>
            <a:off x="9352315" y="1355449"/>
            <a:ext cx="117662" cy="103654"/>
          </a:xfrm>
          <a:custGeom>
            <a:avLst/>
            <a:gdLst/>
            <a:ahLst/>
            <a:cxnLst/>
            <a:rect l="l" t="t" r="r" b="b"/>
            <a:pathLst>
              <a:path w="133350" h="117475">
                <a:moveTo>
                  <a:pt x="117005" y="0"/>
                </a:moveTo>
                <a:lnTo>
                  <a:pt x="0" y="117348"/>
                </a:lnTo>
                <a:lnTo>
                  <a:pt x="31699" y="117348"/>
                </a:lnTo>
                <a:lnTo>
                  <a:pt x="132854" y="15900"/>
                </a:lnTo>
                <a:lnTo>
                  <a:pt x="117005" y="0"/>
                </a:lnTo>
                <a:close/>
              </a:path>
            </a:pathLst>
          </a:custGeom>
          <a:solidFill>
            <a:srgbClr val="FF671F"/>
          </a:solidFill>
        </p:spPr>
        <p:txBody>
          <a:bodyPr wrap="square" lIns="0" tIns="0" rIns="0" bIns="0" rtlCol="0"/>
          <a:lstStyle/>
          <a:p>
            <a:endParaRPr sz="1588"/>
          </a:p>
        </p:txBody>
      </p:sp>
      <p:sp>
        <p:nvSpPr>
          <p:cNvPr id="174" name="object 174"/>
          <p:cNvSpPr/>
          <p:nvPr/>
        </p:nvSpPr>
        <p:spPr>
          <a:xfrm>
            <a:off x="9322753" y="1329086"/>
            <a:ext cx="266140" cy="146797"/>
          </a:xfrm>
          <a:custGeom>
            <a:avLst/>
            <a:gdLst/>
            <a:ahLst/>
            <a:cxnLst/>
            <a:rect l="l" t="t" r="r" b="b"/>
            <a:pathLst>
              <a:path w="301625" h="166369">
                <a:moveTo>
                  <a:pt x="154203" y="0"/>
                </a:moveTo>
                <a:lnTo>
                  <a:pt x="146811" y="0"/>
                </a:lnTo>
                <a:lnTo>
                  <a:pt x="0" y="149478"/>
                </a:lnTo>
                <a:lnTo>
                  <a:pt x="0" y="157022"/>
                </a:lnTo>
                <a:lnTo>
                  <a:pt x="4571" y="161645"/>
                </a:lnTo>
                <a:lnTo>
                  <a:pt x="9118" y="166306"/>
                </a:lnTo>
                <a:lnTo>
                  <a:pt x="16535" y="166306"/>
                </a:lnTo>
                <a:lnTo>
                  <a:pt x="150507" y="29870"/>
                </a:lnTo>
                <a:lnTo>
                  <a:pt x="183557" y="29870"/>
                </a:lnTo>
                <a:lnTo>
                  <a:pt x="154203" y="0"/>
                </a:lnTo>
                <a:close/>
              </a:path>
              <a:path w="301625" h="166369">
                <a:moveTo>
                  <a:pt x="183557" y="29870"/>
                </a:moveTo>
                <a:lnTo>
                  <a:pt x="150507" y="29870"/>
                </a:lnTo>
                <a:lnTo>
                  <a:pt x="284492" y="166306"/>
                </a:lnTo>
                <a:lnTo>
                  <a:pt x="291896" y="166306"/>
                </a:lnTo>
                <a:lnTo>
                  <a:pt x="296456" y="161645"/>
                </a:lnTo>
                <a:lnTo>
                  <a:pt x="301028" y="157022"/>
                </a:lnTo>
                <a:lnTo>
                  <a:pt x="301028" y="149478"/>
                </a:lnTo>
                <a:lnTo>
                  <a:pt x="183557" y="29870"/>
                </a:lnTo>
                <a:close/>
              </a:path>
            </a:pathLst>
          </a:custGeom>
          <a:solidFill>
            <a:srgbClr val="FFBF33"/>
          </a:solidFill>
        </p:spPr>
        <p:txBody>
          <a:bodyPr wrap="square" lIns="0" tIns="0" rIns="0" bIns="0" rtlCol="0"/>
          <a:lstStyle/>
          <a:p>
            <a:endParaRPr sz="1588"/>
          </a:p>
        </p:txBody>
      </p:sp>
      <p:sp>
        <p:nvSpPr>
          <p:cNvPr id="175" name="object 175"/>
          <p:cNvSpPr/>
          <p:nvPr/>
        </p:nvSpPr>
        <p:spPr>
          <a:xfrm>
            <a:off x="9402119" y="1581879"/>
            <a:ext cx="107016" cy="158563"/>
          </a:xfrm>
          <a:custGeom>
            <a:avLst/>
            <a:gdLst/>
            <a:ahLst/>
            <a:cxnLst/>
            <a:rect l="l" t="t" r="r" b="b"/>
            <a:pathLst>
              <a:path w="121284" h="179705">
                <a:moveTo>
                  <a:pt x="121132" y="0"/>
                </a:moveTo>
                <a:lnTo>
                  <a:pt x="0" y="0"/>
                </a:lnTo>
                <a:lnTo>
                  <a:pt x="121132" y="179247"/>
                </a:lnTo>
                <a:lnTo>
                  <a:pt x="121132" y="0"/>
                </a:lnTo>
                <a:close/>
              </a:path>
            </a:pathLst>
          </a:custGeom>
          <a:solidFill>
            <a:srgbClr val="DCDDDE"/>
          </a:solidFill>
        </p:spPr>
        <p:txBody>
          <a:bodyPr wrap="square" lIns="0" tIns="0" rIns="0" bIns="0" rtlCol="0"/>
          <a:lstStyle/>
          <a:p>
            <a:endParaRPr sz="1588"/>
          </a:p>
        </p:txBody>
      </p:sp>
      <p:sp>
        <p:nvSpPr>
          <p:cNvPr id="176" name="object 176"/>
          <p:cNvSpPr/>
          <p:nvPr/>
        </p:nvSpPr>
        <p:spPr>
          <a:xfrm>
            <a:off x="9405679" y="1536231"/>
            <a:ext cx="100292" cy="0"/>
          </a:xfrm>
          <a:custGeom>
            <a:avLst/>
            <a:gdLst/>
            <a:ahLst/>
            <a:cxnLst/>
            <a:rect l="l" t="t" r="r" b="b"/>
            <a:pathLst>
              <a:path w="113665">
                <a:moveTo>
                  <a:pt x="0" y="0"/>
                </a:moveTo>
                <a:lnTo>
                  <a:pt x="113055" y="0"/>
                </a:lnTo>
              </a:path>
            </a:pathLst>
          </a:custGeom>
          <a:ln w="38366">
            <a:solidFill>
              <a:srgbClr val="FFFFFF"/>
            </a:solidFill>
          </a:ln>
        </p:spPr>
        <p:txBody>
          <a:bodyPr wrap="square" lIns="0" tIns="0" rIns="0" bIns="0" rtlCol="0"/>
          <a:lstStyle/>
          <a:p>
            <a:endParaRPr sz="1588"/>
          </a:p>
        </p:txBody>
      </p:sp>
      <p:sp>
        <p:nvSpPr>
          <p:cNvPr id="177" name="object 177"/>
          <p:cNvSpPr/>
          <p:nvPr/>
        </p:nvSpPr>
        <p:spPr>
          <a:xfrm>
            <a:off x="9023546" y="1507700"/>
            <a:ext cx="260537" cy="472328"/>
          </a:xfrm>
          <a:custGeom>
            <a:avLst/>
            <a:gdLst/>
            <a:ahLst/>
            <a:cxnLst/>
            <a:rect l="l" t="t" r="r" b="b"/>
            <a:pathLst>
              <a:path w="295275" h="535305">
                <a:moveTo>
                  <a:pt x="34582" y="0"/>
                </a:moveTo>
                <a:lnTo>
                  <a:pt x="20979" y="2871"/>
                </a:lnTo>
                <a:lnTo>
                  <a:pt x="9942" y="10360"/>
                </a:lnTo>
                <a:lnTo>
                  <a:pt x="2579" y="21349"/>
                </a:lnTo>
                <a:lnTo>
                  <a:pt x="0" y="34721"/>
                </a:lnTo>
                <a:lnTo>
                  <a:pt x="3060" y="263601"/>
                </a:lnTo>
                <a:lnTo>
                  <a:pt x="137909" y="430110"/>
                </a:lnTo>
                <a:lnTo>
                  <a:pt x="143469" y="447857"/>
                </a:lnTo>
                <a:lnTo>
                  <a:pt x="145426" y="470884"/>
                </a:lnTo>
                <a:lnTo>
                  <a:pt x="142493" y="499758"/>
                </a:lnTo>
                <a:lnTo>
                  <a:pt x="133388" y="535051"/>
                </a:lnTo>
                <a:lnTo>
                  <a:pt x="282892" y="534606"/>
                </a:lnTo>
                <a:lnTo>
                  <a:pt x="293630" y="445675"/>
                </a:lnTo>
                <a:lnTo>
                  <a:pt x="294835" y="396281"/>
                </a:lnTo>
                <a:lnTo>
                  <a:pt x="284369" y="368646"/>
                </a:lnTo>
                <a:lnTo>
                  <a:pt x="277887" y="362331"/>
                </a:lnTo>
                <a:lnTo>
                  <a:pt x="145389" y="362331"/>
                </a:lnTo>
                <a:lnTo>
                  <a:pt x="46520" y="247256"/>
                </a:lnTo>
                <a:lnTo>
                  <a:pt x="39376" y="233443"/>
                </a:lnTo>
                <a:lnTo>
                  <a:pt x="38742" y="217697"/>
                </a:lnTo>
                <a:lnTo>
                  <a:pt x="44321" y="201922"/>
                </a:lnTo>
                <a:lnTo>
                  <a:pt x="55816" y="188023"/>
                </a:lnTo>
                <a:lnTo>
                  <a:pt x="60807" y="183718"/>
                </a:lnTo>
                <a:lnTo>
                  <a:pt x="66332" y="180555"/>
                </a:lnTo>
                <a:lnTo>
                  <a:pt x="72009" y="178485"/>
                </a:lnTo>
                <a:lnTo>
                  <a:pt x="70065" y="33782"/>
                </a:lnTo>
                <a:lnTo>
                  <a:pt x="67141" y="20488"/>
                </a:lnTo>
                <a:lnTo>
                  <a:pt x="59491" y="9699"/>
                </a:lnTo>
                <a:lnTo>
                  <a:pt x="48257" y="2506"/>
                </a:lnTo>
                <a:lnTo>
                  <a:pt x="34582" y="0"/>
                </a:lnTo>
                <a:close/>
              </a:path>
              <a:path w="295275" h="535305">
                <a:moveTo>
                  <a:pt x="90195" y="183111"/>
                </a:moveTo>
                <a:lnTo>
                  <a:pt x="75474" y="185195"/>
                </a:lnTo>
                <a:lnTo>
                  <a:pt x="61925" y="192963"/>
                </a:lnTo>
                <a:lnTo>
                  <a:pt x="52194" y="205193"/>
                </a:lnTo>
                <a:lnTo>
                  <a:pt x="47905" y="219443"/>
                </a:lnTo>
                <a:lnTo>
                  <a:pt x="49239" y="233968"/>
                </a:lnTo>
                <a:lnTo>
                  <a:pt x="56375" y="247027"/>
                </a:lnTo>
                <a:lnTo>
                  <a:pt x="147853" y="353517"/>
                </a:lnTo>
                <a:lnTo>
                  <a:pt x="151447" y="358051"/>
                </a:lnTo>
                <a:lnTo>
                  <a:pt x="145389" y="362331"/>
                </a:lnTo>
                <a:lnTo>
                  <a:pt x="277887" y="362331"/>
                </a:lnTo>
                <a:lnTo>
                  <a:pt x="247586" y="334752"/>
                </a:lnTo>
                <a:lnTo>
                  <a:pt x="230162" y="322300"/>
                </a:lnTo>
                <a:lnTo>
                  <a:pt x="222461" y="316051"/>
                </a:lnTo>
                <a:lnTo>
                  <a:pt x="214498" y="308656"/>
                </a:lnTo>
                <a:lnTo>
                  <a:pt x="208261" y="302482"/>
                </a:lnTo>
                <a:lnTo>
                  <a:pt x="205740" y="299897"/>
                </a:lnTo>
                <a:lnTo>
                  <a:pt x="116179" y="195643"/>
                </a:lnTo>
                <a:lnTo>
                  <a:pt x="104344" y="186623"/>
                </a:lnTo>
                <a:lnTo>
                  <a:pt x="90195" y="183111"/>
                </a:lnTo>
                <a:close/>
              </a:path>
            </a:pathLst>
          </a:custGeom>
          <a:solidFill>
            <a:srgbClr val="FAB333"/>
          </a:solidFill>
        </p:spPr>
        <p:txBody>
          <a:bodyPr wrap="square" lIns="0" tIns="0" rIns="0" bIns="0" rtlCol="0"/>
          <a:lstStyle/>
          <a:p>
            <a:endParaRPr sz="1588"/>
          </a:p>
        </p:txBody>
      </p:sp>
      <p:sp>
        <p:nvSpPr>
          <p:cNvPr id="178" name="object 178"/>
          <p:cNvSpPr/>
          <p:nvPr/>
        </p:nvSpPr>
        <p:spPr>
          <a:xfrm>
            <a:off x="9628441" y="1507700"/>
            <a:ext cx="260537" cy="472328"/>
          </a:xfrm>
          <a:custGeom>
            <a:avLst/>
            <a:gdLst/>
            <a:ahLst/>
            <a:cxnLst/>
            <a:rect l="l" t="t" r="r" b="b"/>
            <a:pathLst>
              <a:path w="295275" h="535305">
                <a:moveTo>
                  <a:pt x="204639" y="183111"/>
                </a:moveTo>
                <a:lnTo>
                  <a:pt x="190490" y="186623"/>
                </a:lnTo>
                <a:lnTo>
                  <a:pt x="178655" y="195643"/>
                </a:lnTo>
                <a:lnTo>
                  <a:pt x="89095" y="299897"/>
                </a:lnTo>
                <a:lnTo>
                  <a:pt x="86574" y="302482"/>
                </a:lnTo>
                <a:lnTo>
                  <a:pt x="80337" y="308656"/>
                </a:lnTo>
                <a:lnTo>
                  <a:pt x="72373" y="316051"/>
                </a:lnTo>
                <a:lnTo>
                  <a:pt x="64673" y="322300"/>
                </a:lnTo>
                <a:lnTo>
                  <a:pt x="55506" y="328772"/>
                </a:lnTo>
                <a:lnTo>
                  <a:pt x="47248" y="334752"/>
                </a:lnTo>
                <a:lnTo>
                  <a:pt x="40220" y="340181"/>
                </a:lnTo>
                <a:lnTo>
                  <a:pt x="34739" y="344995"/>
                </a:lnTo>
                <a:lnTo>
                  <a:pt x="10465" y="368646"/>
                </a:lnTo>
                <a:lnTo>
                  <a:pt x="0" y="396281"/>
                </a:lnTo>
                <a:lnTo>
                  <a:pt x="1204" y="445675"/>
                </a:lnTo>
                <a:lnTo>
                  <a:pt x="11942" y="534606"/>
                </a:lnTo>
                <a:lnTo>
                  <a:pt x="161447" y="535051"/>
                </a:lnTo>
                <a:lnTo>
                  <a:pt x="152341" y="499758"/>
                </a:lnTo>
                <a:lnTo>
                  <a:pt x="149409" y="470884"/>
                </a:lnTo>
                <a:lnTo>
                  <a:pt x="151365" y="447857"/>
                </a:lnTo>
                <a:lnTo>
                  <a:pt x="156925" y="430110"/>
                </a:lnTo>
                <a:lnTo>
                  <a:pt x="219522" y="362331"/>
                </a:lnTo>
                <a:lnTo>
                  <a:pt x="149445" y="362331"/>
                </a:lnTo>
                <a:lnTo>
                  <a:pt x="143387" y="358051"/>
                </a:lnTo>
                <a:lnTo>
                  <a:pt x="146981" y="353517"/>
                </a:lnTo>
                <a:lnTo>
                  <a:pt x="238459" y="247027"/>
                </a:lnTo>
                <a:lnTo>
                  <a:pt x="245595" y="233968"/>
                </a:lnTo>
                <a:lnTo>
                  <a:pt x="246929" y="219443"/>
                </a:lnTo>
                <a:lnTo>
                  <a:pt x="242640" y="205193"/>
                </a:lnTo>
                <a:lnTo>
                  <a:pt x="232910" y="192963"/>
                </a:lnTo>
                <a:lnTo>
                  <a:pt x="219360" y="185195"/>
                </a:lnTo>
                <a:lnTo>
                  <a:pt x="204639" y="183111"/>
                </a:lnTo>
                <a:close/>
              </a:path>
              <a:path w="295275" h="535305">
                <a:moveTo>
                  <a:pt x="260253" y="0"/>
                </a:moveTo>
                <a:lnTo>
                  <a:pt x="227693" y="20488"/>
                </a:lnTo>
                <a:lnTo>
                  <a:pt x="222826" y="178485"/>
                </a:lnTo>
                <a:lnTo>
                  <a:pt x="228503" y="180555"/>
                </a:lnTo>
                <a:lnTo>
                  <a:pt x="234027" y="183718"/>
                </a:lnTo>
                <a:lnTo>
                  <a:pt x="239018" y="188023"/>
                </a:lnTo>
                <a:lnTo>
                  <a:pt x="250513" y="201922"/>
                </a:lnTo>
                <a:lnTo>
                  <a:pt x="256092" y="217697"/>
                </a:lnTo>
                <a:lnTo>
                  <a:pt x="255458" y="233443"/>
                </a:lnTo>
                <a:lnTo>
                  <a:pt x="248315" y="247256"/>
                </a:lnTo>
                <a:lnTo>
                  <a:pt x="149445" y="362331"/>
                </a:lnTo>
                <a:lnTo>
                  <a:pt x="219522" y="362331"/>
                </a:lnTo>
                <a:lnTo>
                  <a:pt x="283468" y="293090"/>
                </a:lnTo>
                <a:lnTo>
                  <a:pt x="294835" y="34721"/>
                </a:lnTo>
                <a:lnTo>
                  <a:pt x="292255" y="21349"/>
                </a:lnTo>
                <a:lnTo>
                  <a:pt x="284892" y="10360"/>
                </a:lnTo>
                <a:lnTo>
                  <a:pt x="273855" y="2871"/>
                </a:lnTo>
                <a:lnTo>
                  <a:pt x="260253" y="0"/>
                </a:lnTo>
                <a:close/>
              </a:path>
            </a:pathLst>
          </a:custGeom>
          <a:solidFill>
            <a:srgbClr val="FAB333"/>
          </a:solidFill>
        </p:spPr>
        <p:txBody>
          <a:bodyPr wrap="square" lIns="0" tIns="0" rIns="0" bIns="0" rtlCol="0"/>
          <a:lstStyle/>
          <a:p>
            <a:endParaRPr sz="1588"/>
          </a:p>
        </p:txBody>
      </p:sp>
      <p:sp>
        <p:nvSpPr>
          <p:cNvPr id="179" name="object 179"/>
          <p:cNvSpPr txBox="1">
            <a:spLocks noGrp="1"/>
          </p:cNvSpPr>
          <p:nvPr>
            <p:ph type="title"/>
          </p:nvPr>
        </p:nvSpPr>
        <p:spPr>
          <a:xfrm>
            <a:off x="2129118" y="331131"/>
            <a:ext cx="7960099" cy="537100"/>
          </a:xfrm>
          <a:prstGeom prst="rect">
            <a:avLst/>
          </a:prstGeom>
        </p:spPr>
        <p:txBody>
          <a:bodyPr vert="horz" wrap="square" lIns="0" tIns="11206" rIns="0" bIns="0" rtlCol="0" anchor="ctr">
            <a:spAutoFit/>
          </a:bodyPr>
          <a:lstStyle/>
          <a:p>
            <a:pPr marL="11206" algn="ctr">
              <a:lnSpc>
                <a:spcPts val="2660"/>
              </a:lnSpc>
              <a:spcBef>
                <a:spcPts val="88"/>
              </a:spcBef>
            </a:pPr>
            <a:r>
              <a:rPr sz="2294" spc="287">
                <a:solidFill>
                  <a:srgbClr val="001E62"/>
                </a:solidFill>
              </a:rPr>
              <a:t>ESSA </a:t>
            </a:r>
            <a:r>
              <a:rPr sz="2294" spc="150">
                <a:solidFill>
                  <a:srgbClr val="001E62"/>
                </a:solidFill>
              </a:rPr>
              <a:t>and </a:t>
            </a:r>
            <a:r>
              <a:rPr sz="2294" spc="159">
                <a:solidFill>
                  <a:srgbClr val="001E62"/>
                </a:solidFill>
              </a:rPr>
              <a:t>Personalized </a:t>
            </a:r>
            <a:r>
              <a:rPr sz="2294" spc="168">
                <a:solidFill>
                  <a:srgbClr val="001E62"/>
                </a:solidFill>
              </a:rPr>
              <a:t>Learning</a:t>
            </a:r>
            <a:r>
              <a:rPr sz="2294" spc="221">
                <a:solidFill>
                  <a:srgbClr val="001E62"/>
                </a:solidFill>
              </a:rPr>
              <a:t> </a:t>
            </a:r>
            <a:r>
              <a:rPr sz="2294" spc="176">
                <a:solidFill>
                  <a:srgbClr val="001E62"/>
                </a:solidFill>
              </a:rPr>
              <a:t>Dashboard</a:t>
            </a:r>
            <a:endParaRPr lang="en-US" sz="2294"/>
          </a:p>
          <a:p>
            <a:pPr marL="24654" algn="ctr">
              <a:lnSpc>
                <a:spcPts val="1390"/>
              </a:lnSpc>
            </a:pPr>
            <a:r>
              <a:rPr sz="1235" spc="128">
                <a:solidFill>
                  <a:srgbClr val="4D4D4F"/>
                </a:solidFill>
              </a:rPr>
              <a:t>39 </a:t>
            </a:r>
            <a:r>
              <a:rPr sz="1235" spc="66">
                <a:solidFill>
                  <a:srgbClr val="4D4D4F"/>
                </a:solidFill>
              </a:rPr>
              <a:t>state </a:t>
            </a:r>
            <a:r>
              <a:rPr sz="1147" b="0" spc="137">
                <a:solidFill>
                  <a:srgbClr val="4D4D4F"/>
                </a:solidFill>
              </a:rPr>
              <a:t>ESSA </a:t>
            </a:r>
            <a:r>
              <a:rPr sz="1147" b="0" spc="66">
                <a:solidFill>
                  <a:srgbClr val="4D4D4F"/>
                </a:solidFill>
              </a:rPr>
              <a:t>plans </a:t>
            </a:r>
            <a:r>
              <a:rPr sz="1147" b="0" spc="62">
                <a:solidFill>
                  <a:srgbClr val="4D4D4F"/>
                </a:solidFill>
              </a:rPr>
              <a:t>reference </a:t>
            </a:r>
            <a:r>
              <a:rPr sz="1147" b="0" spc="71">
                <a:solidFill>
                  <a:srgbClr val="4D4D4F"/>
                </a:solidFill>
              </a:rPr>
              <a:t>personalized </a:t>
            </a:r>
            <a:r>
              <a:rPr sz="1147" b="0" spc="53">
                <a:solidFill>
                  <a:srgbClr val="4D4D4F"/>
                </a:solidFill>
              </a:rPr>
              <a:t>learning.</a:t>
            </a:r>
            <a:endParaRPr lang="en-US" sz="1147"/>
          </a:p>
        </p:txBody>
      </p:sp>
      <p:sp>
        <p:nvSpPr>
          <p:cNvPr id="181" name="object 181"/>
          <p:cNvSpPr txBox="1">
            <a:spLocks noGrp="1"/>
          </p:cNvSpPr>
          <p:nvPr>
            <p:ph type="ftr" sz="quarter" idx="5"/>
          </p:nvPr>
        </p:nvSpPr>
        <p:spPr>
          <a:xfrm>
            <a:off x="7368991" y="6446240"/>
            <a:ext cx="3630706" cy="99051"/>
          </a:xfrm>
          <a:prstGeom prst="rect">
            <a:avLst/>
          </a:prstGeom>
        </p:spPr>
        <p:txBody>
          <a:bodyPr vert="horz" wrap="square" lIns="0" tIns="3922" rIns="0" bIns="0" rtlCol="0" anchor="ctr">
            <a:spAutoFit/>
          </a:bodyPr>
          <a:lstStyle/>
          <a:p>
            <a:pPr marL="11206">
              <a:spcBef>
                <a:spcPts val="31"/>
              </a:spcBef>
            </a:pPr>
            <a:r>
              <a:rPr spc="31"/>
              <a:t>KnowledgeWorks.org</a:t>
            </a:r>
          </a:p>
        </p:txBody>
      </p:sp>
      <p:sp>
        <p:nvSpPr>
          <p:cNvPr id="180" name="Rectangle 179">
            <a:extLst>
              <a:ext uri="{FF2B5EF4-FFF2-40B4-BE49-F238E27FC236}">
                <a16:creationId xmlns:a16="http://schemas.microsoft.com/office/drawing/2014/main" id="{09B1C528-F339-4057-8E5A-CCE046D1A367}"/>
              </a:ext>
            </a:extLst>
          </p:cNvPr>
          <p:cNvSpPr/>
          <p:nvPr/>
        </p:nvSpPr>
        <p:spPr>
          <a:xfrm>
            <a:off x="382831" y="6281208"/>
            <a:ext cx="6096000" cy="200055"/>
          </a:xfrm>
          <a:prstGeom prst="rect">
            <a:avLst/>
          </a:prstGeom>
        </p:spPr>
        <p:txBody>
          <a:bodyPr>
            <a:spAutoFit/>
          </a:bodyPr>
          <a:lstStyle/>
          <a:p>
            <a:r>
              <a:rPr lang="en-US" sz="700" dirty="0"/>
              <a:t>https://knowledgeworks.org/resources/essa-personalized-learning-dashboard/</a:t>
            </a:r>
          </a:p>
        </p:txBody>
      </p:sp>
    </p:spTree>
    <p:extLst>
      <p:ext uri="{BB962C8B-B14F-4D97-AF65-F5344CB8AC3E}">
        <p14:creationId xmlns:p14="http://schemas.microsoft.com/office/powerpoint/2010/main" val="939037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5F9F856B-524E-4214-98F8-FA001D5733FF}"/>
              </a:ext>
            </a:extLst>
          </p:cNvPr>
          <p:cNvSpPr/>
          <p:nvPr/>
        </p:nvSpPr>
        <p:spPr>
          <a:xfrm>
            <a:off x="4824083" y="2864415"/>
            <a:ext cx="2543833" cy="1694041"/>
          </a:xfrm>
          <a:prstGeom prst="rect">
            <a:avLst/>
          </a:prstGeom>
          <a:blipFill>
            <a:blip r:embed="rId3" cstate="print"/>
            <a:stretch>
              <a:fillRect/>
            </a:stretch>
          </a:blipFill>
        </p:spPr>
        <p:txBody>
          <a:bodyPr wrap="square" lIns="0" tIns="0" rIns="0" bIns="0" rtlCol="0"/>
          <a:lstStyle/>
          <a:p>
            <a:endParaRPr sz="1588"/>
          </a:p>
        </p:txBody>
      </p:sp>
      <p:sp>
        <p:nvSpPr>
          <p:cNvPr id="5" name="object 4">
            <a:extLst>
              <a:ext uri="{FF2B5EF4-FFF2-40B4-BE49-F238E27FC236}">
                <a16:creationId xmlns:a16="http://schemas.microsoft.com/office/drawing/2014/main" id="{F2D036E4-F897-4F05-829C-EC80AB08F85D}"/>
              </a:ext>
            </a:extLst>
          </p:cNvPr>
          <p:cNvSpPr/>
          <p:nvPr/>
        </p:nvSpPr>
        <p:spPr>
          <a:xfrm>
            <a:off x="8559568" y="4558456"/>
            <a:ext cx="2543832" cy="1694041"/>
          </a:xfrm>
          <a:prstGeom prst="rect">
            <a:avLst/>
          </a:prstGeom>
          <a:blipFill>
            <a:blip r:embed="rId4" cstate="print"/>
            <a:stretch>
              <a:fillRect/>
            </a:stretch>
          </a:blipFill>
        </p:spPr>
        <p:txBody>
          <a:bodyPr wrap="square" lIns="0" tIns="0" rIns="0" bIns="0" rtlCol="0"/>
          <a:lstStyle/>
          <a:p>
            <a:endParaRPr sz="1588"/>
          </a:p>
        </p:txBody>
      </p:sp>
      <p:sp>
        <p:nvSpPr>
          <p:cNvPr id="6" name="object 32">
            <a:extLst>
              <a:ext uri="{FF2B5EF4-FFF2-40B4-BE49-F238E27FC236}">
                <a16:creationId xmlns:a16="http://schemas.microsoft.com/office/drawing/2014/main" id="{210BA23D-1C78-4316-81FE-CE372B0B76D6}"/>
              </a:ext>
            </a:extLst>
          </p:cNvPr>
          <p:cNvSpPr/>
          <p:nvPr/>
        </p:nvSpPr>
        <p:spPr>
          <a:xfrm>
            <a:off x="1088600" y="4558457"/>
            <a:ext cx="2543833" cy="1694041"/>
          </a:xfrm>
          <a:prstGeom prst="rect">
            <a:avLst/>
          </a:prstGeom>
          <a:blipFill>
            <a:blip r:embed="rId5" cstate="print"/>
            <a:stretch>
              <a:fillRect/>
            </a:stretch>
          </a:blipFill>
        </p:spPr>
        <p:txBody>
          <a:bodyPr wrap="square" lIns="0" tIns="0" rIns="0" bIns="0" rtlCol="0"/>
          <a:lstStyle/>
          <a:p>
            <a:endParaRPr sz="1588" dirty="0"/>
          </a:p>
        </p:txBody>
      </p:sp>
      <p:sp>
        <p:nvSpPr>
          <p:cNvPr id="7" name="object 4">
            <a:extLst>
              <a:ext uri="{FF2B5EF4-FFF2-40B4-BE49-F238E27FC236}">
                <a16:creationId xmlns:a16="http://schemas.microsoft.com/office/drawing/2014/main" id="{99615D2A-C17B-4E79-AB5A-CDE51A34661D}"/>
              </a:ext>
            </a:extLst>
          </p:cNvPr>
          <p:cNvSpPr/>
          <p:nvPr/>
        </p:nvSpPr>
        <p:spPr>
          <a:xfrm>
            <a:off x="8559569" y="1992692"/>
            <a:ext cx="2543833" cy="1694041"/>
          </a:xfrm>
          <a:prstGeom prst="rect">
            <a:avLst/>
          </a:prstGeom>
          <a:blipFill>
            <a:blip r:embed="rId6" cstate="print"/>
            <a:stretch>
              <a:fillRect/>
            </a:stretch>
          </a:blipFill>
        </p:spPr>
        <p:txBody>
          <a:bodyPr wrap="square" lIns="0" tIns="0" rIns="0" bIns="0" rtlCol="0"/>
          <a:lstStyle/>
          <a:p>
            <a:endParaRPr sz="1588"/>
          </a:p>
        </p:txBody>
      </p:sp>
      <p:sp>
        <p:nvSpPr>
          <p:cNvPr id="8" name="object 2">
            <a:extLst>
              <a:ext uri="{FF2B5EF4-FFF2-40B4-BE49-F238E27FC236}">
                <a16:creationId xmlns:a16="http://schemas.microsoft.com/office/drawing/2014/main" id="{500DD85B-B874-40E8-88F9-223A3AEBA877}"/>
              </a:ext>
            </a:extLst>
          </p:cNvPr>
          <p:cNvSpPr/>
          <p:nvPr/>
        </p:nvSpPr>
        <p:spPr>
          <a:xfrm>
            <a:off x="1088600" y="1992693"/>
            <a:ext cx="2543833" cy="1694041"/>
          </a:xfrm>
          <a:prstGeom prst="rect">
            <a:avLst/>
          </a:prstGeom>
          <a:blipFill>
            <a:blip r:embed="rId7" cstate="print"/>
            <a:stretch>
              <a:fillRect/>
            </a:stretch>
          </a:blipFill>
        </p:spPr>
        <p:txBody>
          <a:bodyPr wrap="square" lIns="0" tIns="0" rIns="0" bIns="0" rtlCol="0"/>
          <a:lstStyle/>
          <a:p>
            <a:endParaRPr sz="1588"/>
          </a:p>
        </p:txBody>
      </p:sp>
      <p:sp>
        <p:nvSpPr>
          <p:cNvPr id="9" name="object 73">
            <a:extLst>
              <a:ext uri="{FF2B5EF4-FFF2-40B4-BE49-F238E27FC236}">
                <a16:creationId xmlns:a16="http://schemas.microsoft.com/office/drawing/2014/main" id="{422BB33C-E16E-4152-8A46-693199000A37}"/>
              </a:ext>
            </a:extLst>
          </p:cNvPr>
          <p:cNvSpPr txBox="1"/>
          <p:nvPr/>
        </p:nvSpPr>
        <p:spPr>
          <a:xfrm>
            <a:off x="1006148" y="1596609"/>
            <a:ext cx="3112593" cy="288314"/>
          </a:xfrm>
          <a:prstGeom prst="rect">
            <a:avLst/>
          </a:prstGeom>
          <a:ln>
            <a:noFill/>
          </a:ln>
        </p:spPr>
        <p:txBody>
          <a:bodyPr vert="horz" wrap="square" lIns="0" tIns="11206" rIns="0" bIns="0" rtlCol="0">
            <a:spAutoFit/>
          </a:bodyPr>
          <a:lstStyle/>
          <a:p>
            <a:pPr marL="11206">
              <a:spcBef>
                <a:spcPts val="88"/>
              </a:spcBef>
            </a:pPr>
            <a:r>
              <a:rPr lang="en-US" b="1" spc="132">
                <a:solidFill>
                  <a:srgbClr val="C00000"/>
                </a:solidFill>
                <a:latin typeface="Calibri"/>
                <a:cs typeface="Calibri"/>
              </a:rPr>
              <a:t>SCHOOL </a:t>
            </a:r>
            <a:r>
              <a:rPr b="1" spc="84">
                <a:solidFill>
                  <a:srgbClr val="C00000"/>
                </a:solidFill>
                <a:latin typeface="Calibri"/>
                <a:cs typeface="Calibri"/>
              </a:rPr>
              <a:t>IMPROVEMENT</a:t>
            </a:r>
            <a:endParaRPr>
              <a:solidFill>
                <a:srgbClr val="C00000"/>
              </a:solidFill>
              <a:latin typeface="Calibri"/>
              <a:cs typeface="Calibri"/>
            </a:endParaRPr>
          </a:p>
        </p:txBody>
      </p:sp>
      <p:sp>
        <p:nvSpPr>
          <p:cNvPr id="10" name="object 72">
            <a:extLst>
              <a:ext uri="{FF2B5EF4-FFF2-40B4-BE49-F238E27FC236}">
                <a16:creationId xmlns:a16="http://schemas.microsoft.com/office/drawing/2014/main" id="{D6884FE6-608F-4692-BB03-5320E535C8AF}"/>
              </a:ext>
            </a:extLst>
          </p:cNvPr>
          <p:cNvSpPr txBox="1">
            <a:spLocks noGrp="1"/>
          </p:cNvSpPr>
          <p:nvPr>
            <p:ph type="title"/>
          </p:nvPr>
        </p:nvSpPr>
        <p:spPr>
          <a:xfrm>
            <a:off x="5267869" y="2530531"/>
            <a:ext cx="1656264" cy="260614"/>
          </a:xfrm>
          <a:prstGeom prst="rect">
            <a:avLst/>
          </a:prstGeom>
        </p:spPr>
        <p:txBody>
          <a:bodyPr vert="horz" wrap="square" lIns="0" tIns="11206" rIns="0" bIns="0" rtlCol="0">
            <a:spAutoFit/>
          </a:bodyPr>
          <a:lstStyle/>
          <a:p>
            <a:pPr marL="11206">
              <a:spcBef>
                <a:spcPts val="88"/>
              </a:spcBef>
            </a:pPr>
            <a:r>
              <a:rPr lang="en-US" sz="1800" b="1" spc="88">
                <a:solidFill>
                  <a:srgbClr val="0070C0"/>
                </a:solidFill>
                <a:latin typeface="Calibri"/>
                <a:ea typeface="+mn-ea"/>
                <a:cs typeface="Calibri"/>
              </a:rPr>
              <a:t>  STATE VISION</a:t>
            </a:r>
          </a:p>
        </p:txBody>
      </p:sp>
      <p:sp>
        <p:nvSpPr>
          <p:cNvPr id="11" name="Rectangle 10">
            <a:extLst>
              <a:ext uri="{FF2B5EF4-FFF2-40B4-BE49-F238E27FC236}">
                <a16:creationId xmlns:a16="http://schemas.microsoft.com/office/drawing/2014/main" id="{B648DD7D-635B-4388-B76A-E23043F1FC2A}"/>
              </a:ext>
            </a:extLst>
          </p:cNvPr>
          <p:cNvSpPr/>
          <p:nvPr/>
        </p:nvSpPr>
        <p:spPr>
          <a:xfrm>
            <a:off x="8058557" y="4122073"/>
            <a:ext cx="3545853" cy="369332"/>
          </a:xfrm>
          <a:prstGeom prst="rect">
            <a:avLst/>
          </a:prstGeom>
        </p:spPr>
        <p:txBody>
          <a:bodyPr wrap="square">
            <a:spAutoFit/>
          </a:bodyPr>
          <a:lstStyle/>
          <a:p>
            <a:pPr marL="247650">
              <a:lnSpc>
                <a:spcPct val="100000"/>
              </a:lnSpc>
              <a:spcBef>
                <a:spcPts val="300"/>
              </a:spcBef>
            </a:pPr>
            <a:r>
              <a:rPr lang="en-US" b="1" spc="125">
                <a:solidFill>
                  <a:srgbClr val="9EDA4E"/>
                </a:solidFill>
                <a:cs typeface="Calibri"/>
              </a:rPr>
              <a:t>ACCOUNTABILITY</a:t>
            </a:r>
            <a:r>
              <a:rPr lang="en-US" b="1" spc="45">
                <a:solidFill>
                  <a:srgbClr val="9EDA4E"/>
                </a:solidFill>
                <a:cs typeface="Calibri"/>
              </a:rPr>
              <a:t> </a:t>
            </a:r>
            <a:r>
              <a:rPr lang="en-US" b="1" spc="150">
                <a:solidFill>
                  <a:srgbClr val="9EDA4E"/>
                </a:solidFill>
                <a:cs typeface="Calibri"/>
              </a:rPr>
              <a:t>SYSTEMS</a:t>
            </a:r>
            <a:endParaRPr lang="en-US">
              <a:solidFill>
                <a:srgbClr val="9EDA4E"/>
              </a:solidFill>
              <a:cs typeface="Calibri"/>
            </a:endParaRPr>
          </a:p>
        </p:txBody>
      </p:sp>
      <p:sp>
        <p:nvSpPr>
          <p:cNvPr id="12" name="object 30">
            <a:extLst>
              <a:ext uri="{FF2B5EF4-FFF2-40B4-BE49-F238E27FC236}">
                <a16:creationId xmlns:a16="http://schemas.microsoft.com/office/drawing/2014/main" id="{D11E517A-8D05-4ABB-A165-BC8B568FF624}"/>
              </a:ext>
            </a:extLst>
          </p:cNvPr>
          <p:cNvSpPr txBox="1"/>
          <p:nvPr/>
        </p:nvSpPr>
        <p:spPr>
          <a:xfrm>
            <a:off x="1088599" y="4162582"/>
            <a:ext cx="2543833" cy="288314"/>
          </a:xfrm>
          <a:prstGeom prst="rect">
            <a:avLst/>
          </a:prstGeom>
        </p:spPr>
        <p:txBody>
          <a:bodyPr vert="horz" wrap="square" lIns="0" tIns="11206" rIns="0" bIns="0" rtlCol="0">
            <a:spAutoFit/>
          </a:bodyPr>
          <a:lstStyle/>
          <a:p>
            <a:pPr marL="11206">
              <a:spcBef>
                <a:spcPts val="88"/>
              </a:spcBef>
            </a:pPr>
            <a:r>
              <a:rPr lang="en-US" b="1" spc="141">
                <a:solidFill>
                  <a:srgbClr val="7030A0"/>
                </a:solidFill>
                <a:latin typeface="Calibri"/>
                <a:cs typeface="Calibri"/>
              </a:rPr>
              <a:t>EXCELLENT</a:t>
            </a:r>
            <a:r>
              <a:rPr lang="en-US" b="1" spc="-13">
                <a:solidFill>
                  <a:srgbClr val="7030A0"/>
                </a:solidFill>
                <a:latin typeface="Calibri"/>
                <a:cs typeface="Calibri"/>
              </a:rPr>
              <a:t> </a:t>
            </a:r>
            <a:r>
              <a:rPr lang="en-US" b="1" spc="128">
                <a:solidFill>
                  <a:srgbClr val="7030A0"/>
                </a:solidFill>
                <a:latin typeface="Calibri"/>
                <a:cs typeface="Calibri"/>
              </a:rPr>
              <a:t>EDUCATORS</a:t>
            </a:r>
            <a:endParaRPr lang="en-US">
              <a:solidFill>
                <a:srgbClr val="7030A0"/>
              </a:solidFill>
              <a:latin typeface="Calibri"/>
              <a:cs typeface="Calibri"/>
            </a:endParaRPr>
          </a:p>
        </p:txBody>
      </p:sp>
      <p:sp>
        <p:nvSpPr>
          <p:cNvPr id="13" name="Rectangle 12">
            <a:extLst>
              <a:ext uri="{FF2B5EF4-FFF2-40B4-BE49-F238E27FC236}">
                <a16:creationId xmlns:a16="http://schemas.microsoft.com/office/drawing/2014/main" id="{4AD30CA9-64F9-4C5A-83DF-E3869D7B5DA3}"/>
              </a:ext>
            </a:extLst>
          </p:cNvPr>
          <p:cNvSpPr/>
          <p:nvPr/>
        </p:nvSpPr>
        <p:spPr>
          <a:xfrm>
            <a:off x="8099697" y="1515591"/>
            <a:ext cx="3463575" cy="369332"/>
          </a:xfrm>
          <a:prstGeom prst="rect">
            <a:avLst/>
          </a:prstGeom>
        </p:spPr>
        <p:txBody>
          <a:bodyPr wrap="square">
            <a:spAutoFit/>
          </a:bodyPr>
          <a:lstStyle/>
          <a:p>
            <a:pPr marL="191770">
              <a:lnSpc>
                <a:spcPct val="100000"/>
              </a:lnSpc>
              <a:spcBef>
                <a:spcPts val="300"/>
              </a:spcBef>
            </a:pPr>
            <a:r>
              <a:rPr lang="en-US" b="1" spc="130">
                <a:solidFill>
                  <a:schemeClr val="accent2"/>
                </a:solidFill>
                <a:cs typeface="Calibri"/>
              </a:rPr>
              <a:t>SUPPORTING </a:t>
            </a:r>
            <a:r>
              <a:rPr lang="en-US" b="1" spc="145">
                <a:solidFill>
                  <a:schemeClr val="accent2"/>
                </a:solidFill>
                <a:cs typeface="Calibri"/>
              </a:rPr>
              <a:t>ALL</a:t>
            </a:r>
            <a:r>
              <a:rPr lang="en-US" b="1" spc="-60">
                <a:solidFill>
                  <a:schemeClr val="accent2"/>
                </a:solidFill>
                <a:cs typeface="Calibri"/>
              </a:rPr>
              <a:t> </a:t>
            </a:r>
            <a:r>
              <a:rPr lang="en-US" b="1" spc="155">
                <a:solidFill>
                  <a:schemeClr val="accent2"/>
                </a:solidFill>
                <a:cs typeface="Calibri"/>
              </a:rPr>
              <a:t>STUDENTS</a:t>
            </a:r>
            <a:endParaRPr lang="en-US">
              <a:solidFill>
                <a:schemeClr val="accent2"/>
              </a:solidFill>
              <a:cs typeface="Calibri"/>
            </a:endParaRPr>
          </a:p>
        </p:txBody>
      </p:sp>
      <p:sp>
        <p:nvSpPr>
          <p:cNvPr id="14" name="Rectangle 13">
            <a:extLst>
              <a:ext uri="{FF2B5EF4-FFF2-40B4-BE49-F238E27FC236}">
                <a16:creationId xmlns:a16="http://schemas.microsoft.com/office/drawing/2014/main" id="{71F622F8-022C-42AD-9948-4926D4649BBB}"/>
              </a:ext>
            </a:extLst>
          </p:cNvPr>
          <p:cNvSpPr/>
          <p:nvPr/>
        </p:nvSpPr>
        <p:spPr>
          <a:xfrm>
            <a:off x="1947894" y="383000"/>
            <a:ext cx="8296211" cy="1077218"/>
          </a:xfrm>
          <a:prstGeom prst="rect">
            <a:avLst/>
          </a:prstGeom>
        </p:spPr>
        <p:txBody>
          <a:bodyPr wrap="square">
            <a:spAutoFit/>
          </a:bodyPr>
          <a:lstStyle/>
          <a:p>
            <a:pPr algn="ctr"/>
            <a:r>
              <a:rPr lang="en-US" sz="3200" b="1" spc="66">
                <a:solidFill>
                  <a:srgbClr val="4D4D4F"/>
                </a:solidFill>
              </a:rPr>
              <a:t>Visual snapshot </a:t>
            </a:r>
            <a:r>
              <a:rPr lang="en-US" sz="3200" b="1" spc="26">
                <a:solidFill>
                  <a:srgbClr val="4D4D4F"/>
                </a:solidFill>
              </a:rPr>
              <a:t>of </a:t>
            </a:r>
            <a:r>
              <a:rPr lang="en-US" sz="3200" b="1" spc="53">
                <a:solidFill>
                  <a:srgbClr val="4D4D4F"/>
                </a:solidFill>
              </a:rPr>
              <a:t>how </a:t>
            </a:r>
            <a:r>
              <a:rPr lang="en-US" sz="3200" b="1" spc="57">
                <a:solidFill>
                  <a:srgbClr val="4D4D4F"/>
                </a:solidFill>
              </a:rPr>
              <a:t>states </a:t>
            </a:r>
            <a:r>
              <a:rPr lang="en-US" sz="3200" b="1" spc="53">
                <a:solidFill>
                  <a:srgbClr val="4D4D4F"/>
                </a:solidFill>
              </a:rPr>
              <a:t>are </a:t>
            </a:r>
            <a:r>
              <a:rPr lang="en-US" sz="3200" b="1" spc="75">
                <a:solidFill>
                  <a:srgbClr val="4D4D4F"/>
                </a:solidFill>
              </a:rPr>
              <a:t>advancing</a:t>
            </a:r>
            <a:r>
              <a:rPr lang="en-US" sz="3200" b="1" spc="172">
                <a:solidFill>
                  <a:srgbClr val="4D4D4F"/>
                </a:solidFill>
              </a:rPr>
              <a:t> </a:t>
            </a:r>
            <a:r>
              <a:rPr lang="en-US" sz="3200" b="1" spc="35">
                <a:solidFill>
                  <a:srgbClr val="4D4D4F"/>
                </a:solidFill>
              </a:rPr>
              <a:t>their </a:t>
            </a:r>
            <a:r>
              <a:rPr lang="en-US" sz="3200" b="1" spc="66">
                <a:solidFill>
                  <a:srgbClr val="4D4D4F"/>
                </a:solidFill>
              </a:rPr>
              <a:t>approaches</a:t>
            </a:r>
            <a:endParaRPr lang="en-US" sz="3200" b="1"/>
          </a:p>
        </p:txBody>
      </p:sp>
      <p:pic>
        <p:nvPicPr>
          <p:cNvPr id="16" name="Graphic 15" descr="Handshake">
            <a:extLst>
              <a:ext uri="{FF2B5EF4-FFF2-40B4-BE49-F238E27FC236}">
                <a16:creationId xmlns:a16="http://schemas.microsoft.com/office/drawing/2014/main" id="{66418D84-5D87-4C9D-BDF2-654AE3B5922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17231" y="5037566"/>
            <a:ext cx="1357535" cy="1357535"/>
          </a:xfrm>
          <a:prstGeom prst="rect">
            <a:avLst/>
          </a:prstGeom>
        </p:spPr>
      </p:pic>
    </p:spTree>
    <p:extLst>
      <p:ext uri="{BB962C8B-B14F-4D97-AF65-F5344CB8AC3E}">
        <p14:creationId xmlns:p14="http://schemas.microsoft.com/office/powerpoint/2010/main" val="4068200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241D35-5C46-45B9-9EE7-5AB17926D496}"/>
              </a:ext>
            </a:extLst>
          </p:cNvPr>
          <p:cNvSpPr/>
          <p:nvPr/>
        </p:nvSpPr>
        <p:spPr>
          <a:xfrm>
            <a:off x="3599329" y="2483224"/>
            <a:ext cx="4240306" cy="1200329"/>
          </a:xfrm>
          <a:prstGeom prst="rect">
            <a:avLst/>
          </a:prstGeom>
          <a:noFill/>
        </p:spPr>
        <p:txBody>
          <a:bodyPr wrap="square" lIns="91440" tIns="45720" rIns="91440" bIns="45720">
            <a:spAutoFit/>
          </a:bodyPr>
          <a:lstStyle/>
          <a:p>
            <a:pPr algn="ctr"/>
            <a:r>
              <a:rPr lang="en-US" sz="72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Trend # 2</a:t>
            </a:r>
          </a:p>
        </p:txBody>
      </p:sp>
    </p:spTree>
    <p:extLst>
      <p:ext uri="{BB962C8B-B14F-4D97-AF65-F5344CB8AC3E}">
        <p14:creationId xmlns:p14="http://schemas.microsoft.com/office/powerpoint/2010/main" val="36552281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E159426-E7AA-435C-B7E6-703AE47EA078}"/>
              </a:ext>
            </a:extLst>
          </p:cNvPr>
          <p:cNvSpPr txBox="1">
            <a:spLocks/>
          </p:cNvSpPr>
          <p:nvPr/>
        </p:nvSpPr>
        <p:spPr>
          <a:xfrm>
            <a:off x="1879204" y="426805"/>
            <a:ext cx="7841615" cy="443711"/>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lnSpc>
                <a:spcPct val="100000"/>
              </a:lnSpc>
              <a:spcBef>
                <a:spcPts val="100"/>
              </a:spcBef>
            </a:pPr>
            <a:r>
              <a:rPr lang="en-US" sz="2800" b="1" spc="-80">
                <a:latin typeface="+mn-lt"/>
                <a:cs typeface="Arial"/>
              </a:rPr>
              <a:t>Five </a:t>
            </a:r>
            <a:r>
              <a:rPr lang="en-US" sz="2800" b="1" spc="-95">
                <a:latin typeface="+mn-lt"/>
                <a:cs typeface="Arial"/>
              </a:rPr>
              <a:t>Elements </a:t>
            </a:r>
            <a:r>
              <a:rPr lang="en-US" sz="2800" b="1" spc="-50">
                <a:latin typeface="+mn-lt"/>
                <a:cs typeface="Arial"/>
              </a:rPr>
              <a:t>of </a:t>
            </a:r>
            <a:r>
              <a:rPr lang="en-US" sz="2800" b="1" spc="-100">
                <a:latin typeface="+mn-lt"/>
                <a:cs typeface="Arial"/>
              </a:rPr>
              <a:t>Competency-Based</a:t>
            </a:r>
            <a:r>
              <a:rPr lang="en-US" sz="2800" b="1" spc="-605">
                <a:latin typeface="+mn-lt"/>
                <a:cs typeface="Arial"/>
              </a:rPr>
              <a:t>      </a:t>
            </a:r>
            <a:r>
              <a:rPr lang="en-US" sz="2800" b="1" spc="-90">
                <a:latin typeface="+mn-lt"/>
                <a:cs typeface="Arial"/>
              </a:rPr>
              <a:t>  Education</a:t>
            </a:r>
            <a:endParaRPr lang="en-US" sz="2800">
              <a:latin typeface="+mn-lt"/>
              <a:cs typeface="Arial"/>
            </a:endParaRPr>
          </a:p>
        </p:txBody>
      </p:sp>
      <p:sp>
        <p:nvSpPr>
          <p:cNvPr id="3" name="object 3">
            <a:extLst>
              <a:ext uri="{FF2B5EF4-FFF2-40B4-BE49-F238E27FC236}">
                <a16:creationId xmlns:a16="http://schemas.microsoft.com/office/drawing/2014/main" id="{0C87B9F0-D6ED-4A45-9372-521271FAEEFB}"/>
              </a:ext>
            </a:extLst>
          </p:cNvPr>
          <p:cNvSpPr txBox="1"/>
          <p:nvPr/>
        </p:nvSpPr>
        <p:spPr>
          <a:xfrm>
            <a:off x="7292206" y="1535971"/>
            <a:ext cx="2380699" cy="1545936"/>
          </a:xfrm>
          <a:prstGeom prst="rect">
            <a:avLst/>
          </a:prstGeom>
        </p:spPr>
        <p:txBody>
          <a:bodyPr vert="horz" wrap="square" lIns="0" tIns="67945" rIns="0" bIns="0" rtlCol="0">
            <a:spAutoFit/>
          </a:bodyPr>
          <a:lstStyle/>
          <a:p>
            <a:pPr marL="12700" marR="5080">
              <a:lnSpc>
                <a:spcPct val="79900"/>
              </a:lnSpc>
              <a:spcBef>
                <a:spcPts val="535"/>
              </a:spcBef>
            </a:pPr>
            <a:r>
              <a:rPr sz="2000" b="1" spc="-5">
                <a:cs typeface="Arial"/>
              </a:rPr>
              <a:t>Students</a:t>
            </a:r>
            <a:r>
              <a:rPr sz="2000" b="1" spc="-5">
                <a:latin typeface="Arial"/>
                <a:cs typeface="Arial"/>
              </a:rPr>
              <a:t> receive  </a:t>
            </a:r>
            <a:r>
              <a:rPr sz="2000" b="1" spc="-25">
                <a:latin typeface="Arial"/>
                <a:cs typeface="Arial"/>
              </a:rPr>
              <a:t>timely, </a:t>
            </a:r>
            <a:r>
              <a:rPr sz="2000" b="1" spc="-5">
                <a:latin typeface="Arial"/>
                <a:cs typeface="Arial"/>
              </a:rPr>
              <a:t>differentiated  supports based </a:t>
            </a:r>
            <a:r>
              <a:rPr sz="2000" b="1">
                <a:latin typeface="Arial"/>
                <a:cs typeface="Arial"/>
              </a:rPr>
              <a:t>on  </a:t>
            </a:r>
            <a:r>
              <a:rPr sz="2000" b="1" spc="-5">
                <a:latin typeface="Arial"/>
                <a:cs typeface="Arial"/>
              </a:rPr>
              <a:t>their individual  </a:t>
            </a:r>
            <a:r>
              <a:rPr sz="2000" b="1">
                <a:latin typeface="Arial"/>
                <a:cs typeface="Arial"/>
              </a:rPr>
              <a:t>learning</a:t>
            </a:r>
            <a:r>
              <a:rPr sz="2000" b="1" spc="-15">
                <a:latin typeface="Arial"/>
                <a:cs typeface="Arial"/>
              </a:rPr>
              <a:t> </a:t>
            </a:r>
            <a:r>
              <a:rPr sz="2000" b="1" spc="-5">
                <a:latin typeface="Arial"/>
                <a:cs typeface="Arial"/>
              </a:rPr>
              <a:t>needs.</a:t>
            </a:r>
            <a:endParaRPr sz="2000" b="1">
              <a:latin typeface="Arial"/>
              <a:cs typeface="Arial"/>
            </a:endParaRPr>
          </a:p>
        </p:txBody>
      </p:sp>
      <p:sp>
        <p:nvSpPr>
          <p:cNvPr id="4" name="object 4">
            <a:extLst>
              <a:ext uri="{FF2B5EF4-FFF2-40B4-BE49-F238E27FC236}">
                <a16:creationId xmlns:a16="http://schemas.microsoft.com/office/drawing/2014/main" id="{7EEB5B08-76CE-4F9A-9470-08A36333A21F}"/>
              </a:ext>
            </a:extLst>
          </p:cNvPr>
          <p:cNvSpPr txBox="1">
            <a:spLocks/>
          </p:cNvSpPr>
          <p:nvPr/>
        </p:nvSpPr>
        <p:spPr>
          <a:xfrm>
            <a:off x="3021461" y="1040549"/>
            <a:ext cx="2159000" cy="5206297"/>
          </a:xfrm>
          <a:prstGeom prst="rect">
            <a:avLst/>
          </a:prstGeom>
        </p:spPr>
        <p:txBody>
          <a:bodyPr vert="horz" wrap="square" lIns="0" tIns="1397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080" indent="0">
              <a:lnSpc>
                <a:spcPct val="99500"/>
              </a:lnSpc>
              <a:spcBef>
                <a:spcPts val="110"/>
              </a:spcBef>
              <a:buNone/>
            </a:pPr>
            <a:r>
              <a:rPr lang="en-US" sz="2000" b="1" spc="-5"/>
              <a:t>Students advance  </a:t>
            </a:r>
            <a:r>
              <a:rPr lang="en-US" sz="2000" b="1"/>
              <a:t>upon</a:t>
            </a:r>
            <a:r>
              <a:rPr lang="en-US" sz="2000" b="1" spc="-70"/>
              <a:t> </a:t>
            </a:r>
            <a:r>
              <a:rPr lang="en-US" sz="2000" b="1" spc="-5"/>
              <a:t>demonstrated  </a:t>
            </a:r>
            <a:r>
              <a:rPr lang="en-US" sz="2000" b="1" spc="-25"/>
              <a:t>mastery.</a:t>
            </a:r>
          </a:p>
          <a:p>
            <a:pPr>
              <a:lnSpc>
                <a:spcPct val="100000"/>
              </a:lnSpc>
            </a:pPr>
            <a:endParaRPr lang="en-US" sz="2000" b="1">
              <a:cs typeface="Times New Roman"/>
            </a:endParaRPr>
          </a:p>
          <a:p>
            <a:pPr>
              <a:lnSpc>
                <a:spcPct val="100000"/>
              </a:lnSpc>
              <a:spcBef>
                <a:spcPts val="5"/>
              </a:spcBef>
            </a:pPr>
            <a:endParaRPr lang="en-US" sz="2000" b="1">
              <a:cs typeface="Times New Roman"/>
            </a:endParaRPr>
          </a:p>
          <a:p>
            <a:pPr marL="0" marR="66675" indent="0">
              <a:lnSpc>
                <a:spcPct val="80200"/>
              </a:lnSpc>
              <a:buNone/>
            </a:pPr>
            <a:r>
              <a:rPr lang="en-US" sz="2000" b="1" spc="-5"/>
              <a:t>Competencies  </a:t>
            </a:r>
            <a:r>
              <a:rPr lang="en-US" sz="2000" b="1"/>
              <a:t>include </a:t>
            </a:r>
            <a:r>
              <a:rPr lang="en-US" sz="2000" b="1" spc="-5"/>
              <a:t>explicit,  measurable,  transferable  </a:t>
            </a:r>
            <a:r>
              <a:rPr lang="en-US" sz="2000" b="1"/>
              <a:t>learning</a:t>
            </a:r>
            <a:r>
              <a:rPr lang="en-US" sz="2000" b="1" spc="-70"/>
              <a:t> </a:t>
            </a:r>
            <a:r>
              <a:rPr lang="en-US" sz="2000" b="1" spc="-5"/>
              <a:t>objectives  that empower  students</a:t>
            </a:r>
            <a:r>
              <a:rPr lang="en-US" sz="2000" b="1" spc="-5">
                <a:cs typeface="Arial"/>
              </a:rPr>
              <a:t>.</a:t>
            </a:r>
          </a:p>
          <a:p>
            <a:pPr>
              <a:lnSpc>
                <a:spcPct val="100000"/>
              </a:lnSpc>
              <a:spcBef>
                <a:spcPts val="25"/>
              </a:spcBef>
            </a:pPr>
            <a:endParaRPr lang="en-US" sz="2000" b="1">
              <a:cs typeface="Times New Roman"/>
            </a:endParaRPr>
          </a:p>
          <a:p>
            <a:pPr marL="0" marR="193040" indent="0">
              <a:lnSpc>
                <a:spcPct val="79900"/>
              </a:lnSpc>
              <a:buNone/>
            </a:pPr>
            <a:r>
              <a:rPr lang="en-US" sz="2000" b="1" spc="-5"/>
              <a:t>Assessment </a:t>
            </a:r>
            <a:r>
              <a:rPr lang="en-US" sz="2000" b="1"/>
              <a:t>is  </a:t>
            </a:r>
            <a:r>
              <a:rPr lang="en-US" sz="2000" b="1" spc="-5"/>
              <a:t>meaningful and</a:t>
            </a:r>
            <a:r>
              <a:rPr lang="en-US" sz="2000" b="1" spc="-90"/>
              <a:t> </a:t>
            </a:r>
            <a:r>
              <a:rPr lang="en-US" sz="2000" b="1"/>
              <a:t>a  </a:t>
            </a:r>
            <a:r>
              <a:rPr lang="en-US" sz="2000" b="1" spc="-5"/>
              <a:t>positive learning  experience </a:t>
            </a:r>
            <a:r>
              <a:rPr lang="en-US" sz="2000" b="1"/>
              <a:t>for  </a:t>
            </a:r>
            <a:r>
              <a:rPr lang="en-US" sz="2000" b="1" spc="-5"/>
              <a:t>students.</a:t>
            </a:r>
          </a:p>
        </p:txBody>
      </p:sp>
      <p:sp>
        <p:nvSpPr>
          <p:cNvPr id="5" name="object 5">
            <a:extLst>
              <a:ext uri="{FF2B5EF4-FFF2-40B4-BE49-F238E27FC236}">
                <a16:creationId xmlns:a16="http://schemas.microsoft.com/office/drawing/2014/main" id="{0B70E800-4F1C-4FC2-92EB-A001D47A0A3B}"/>
              </a:ext>
            </a:extLst>
          </p:cNvPr>
          <p:cNvSpPr txBox="1"/>
          <p:nvPr/>
        </p:nvSpPr>
        <p:spPr>
          <a:xfrm>
            <a:off x="7260829" y="3685454"/>
            <a:ext cx="2565400" cy="2284600"/>
          </a:xfrm>
          <a:prstGeom prst="rect">
            <a:avLst/>
          </a:prstGeom>
        </p:spPr>
        <p:txBody>
          <a:bodyPr vert="horz" wrap="square" lIns="0" tIns="67945" rIns="0" bIns="0" rtlCol="0">
            <a:spAutoFit/>
          </a:bodyPr>
          <a:lstStyle/>
          <a:p>
            <a:pPr marL="12700" marR="5080">
              <a:lnSpc>
                <a:spcPct val="79900"/>
              </a:lnSpc>
              <a:spcBef>
                <a:spcPts val="535"/>
              </a:spcBef>
            </a:pPr>
            <a:r>
              <a:rPr sz="2000" b="1" spc="-5">
                <a:cs typeface="Arial"/>
              </a:rPr>
              <a:t>Learning outcomes  emphasize  competencies that  </a:t>
            </a:r>
            <a:r>
              <a:rPr sz="2000" b="1">
                <a:cs typeface="Arial"/>
              </a:rPr>
              <a:t>include </a:t>
            </a:r>
            <a:r>
              <a:rPr sz="2000" b="1" spc="-5">
                <a:cs typeface="Arial"/>
              </a:rPr>
              <a:t>application</a:t>
            </a:r>
            <a:r>
              <a:rPr sz="2000" b="1" spc="-80">
                <a:cs typeface="Arial"/>
              </a:rPr>
              <a:t> </a:t>
            </a:r>
            <a:r>
              <a:rPr sz="2000" b="1" spc="-5">
                <a:cs typeface="Arial"/>
              </a:rPr>
              <a:t>and  creation </a:t>
            </a:r>
            <a:r>
              <a:rPr sz="2000" b="1">
                <a:cs typeface="Arial"/>
              </a:rPr>
              <a:t>of </a:t>
            </a:r>
            <a:r>
              <a:rPr sz="2000" b="1" spc="-5">
                <a:cs typeface="Arial"/>
              </a:rPr>
              <a:t>knowledge,  along with </a:t>
            </a:r>
            <a:r>
              <a:rPr sz="2000" b="1">
                <a:cs typeface="Arial"/>
              </a:rPr>
              <a:t>the  </a:t>
            </a:r>
            <a:r>
              <a:rPr sz="2000" b="1" spc="-5">
                <a:cs typeface="Arial"/>
              </a:rPr>
              <a:t>development </a:t>
            </a:r>
            <a:r>
              <a:rPr sz="2000" b="1">
                <a:cs typeface="Arial"/>
              </a:rPr>
              <a:t>of  </a:t>
            </a:r>
            <a:r>
              <a:rPr sz="2000" b="1" spc="-5">
                <a:cs typeface="Arial"/>
              </a:rPr>
              <a:t>important skills and  dispositions.</a:t>
            </a:r>
            <a:endParaRPr sz="2000" b="1">
              <a:cs typeface="Arial"/>
            </a:endParaRPr>
          </a:p>
        </p:txBody>
      </p:sp>
      <p:sp>
        <p:nvSpPr>
          <p:cNvPr id="6" name="object 7">
            <a:extLst>
              <a:ext uri="{FF2B5EF4-FFF2-40B4-BE49-F238E27FC236}">
                <a16:creationId xmlns:a16="http://schemas.microsoft.com/office/drawing/2014/main" id="{0ECA3F15-29E6-49C6-9826-E2C6A00C41FE}"/>
              </a:ext>
            </a:extLst>
          </p:cNvPr>
          <p:cNvSpPr/>
          <p:nvPr/>
        </p:nvSpPr>
        <p:spPr>
          <a:xfrm>
            <a:off x="1174354" y="4470399"/>
            <a:ext cx="1498600" cy="1498600"/>
          </a:xfrm>
          <a:prstGeom prst="rect">
            <a:avLst/>
          </a:prstGeom>
          <a:blipFill>
            <a:blip r:embed="rId3" cstate="print"/>
            <a:stretch>
              <a:fillRect/>
            </a:stretch>
          </a:blipFill>
        </p:spPr>
        <p:txBody>
          <a:bodyPr wrap="square" lIns="0" tIns="0" rIns="0" bIns="0" rtlCol="0"/>
          <a:lstStyle/>
          <a:p>
            <a:endParaRPr sz="1400"/>
          </a:p>
        </p:txBody>
      </p:sp>
      <p:sp>
        <p:nvSpPr>
          <p:cNvPr id="7" name="object 8">
            <a:extLst>
              <a:ext uri="{FF2B5EF4-FFF2-40B4-BE49-F238E27FC236}">
                <a16:creationId xmlns:a16="http://schemas.microsoft.com/office/drawing/2014/main" id="{375E0FAE-528D-45F9-99ED-D0A1A94C1E72}"/>
              </a:ext>
            </a:extLst>
          </p:cNvPr>
          <p:cNvSpPr/>
          <p:nvPr/>
        </p:nvSpPr>
        <p:spPr>
          <a:xfrm>
            <a:off x="1174354" y="2829111"/>
            <a:ext cx="1409700" cy="1409700"/>
          </a:xfrm>
          <a:prstGeom prst="rect">
            <a:avLst/>
          </a:prstGeom>
          <a:blipFill>
            <a:blip r:embed="rId4" cstate="print"/>
            <a:stretch>
              <a:fillRect/>
            </a:stretch>
          </a:blipFill>
        </p:spPr>
        <p:txBody>
          <a:bodyPr wrap="square" lIns="0" tIns="0" rIns="0" bIns="0" rtlCol="0"/>
          <a:lstStyle/>
          <a:p>
            <a:endParaRPr sz="1400"/>
          </a:p>
        </p:txBody>
      </p:sp>
      <p:sp>
        <p:nvSpPr>
          <p:cNvPr id="8" name="object 9">
            <a:extLst>
              <a:ext uri="{FF2B5EF4-FFF2-40B4-BE49-F238E27FC236}">
                <a16:creationId xmlns:a16="http://schemas.microsoft.com/office/drawing/2014/main" id="{8868B874-E874-4A08-9ADD-E2D04CFA2E0D}"/>
              </a:ext>
            </a:extLst>
          </p:cNvPr>
          <p:cNvSpPr/>
          <p:nvPr/>
        </p:nvSpPr>
        <p:spPr>
          <a:xfrm>
            <a:off x="5706769" y="3721100"/>
            <a:ext cx="1333500" cy="1333500"/>
          </a:xfrm>
          <a:prstGeom prst="rect">
            <a:avLst/>
          </a:prstGeom>
          <a:blipFill>
            <a:blip r:embed="rId5" cstate="print"/>
            <a:stretch>
              <a:fillRect/>
            </a:stretch>
          </a:blipFill>
        </p:spPr>
        <p:txBody>
          <a:bodyPr wrap="square" lIns="0" tIns="0" rIns="0" bIns="0" rtlCol="0"/>
          <a:lstStyle/>
          <a:p>
            <a:endParaRPr sz="1400"/>
          </a:p>
        </p:txBody>
      </p:sp>
      <p:sp>
        <p:nvSpPr>
          <p:cNvPr id="9" name="object 10">
            <a:extLst>
              <a:ext uri="{FF2B5EF4-FFF2-40B4-BE49-F238E27FC236}">
                <a16:creationId xmlns:a16="http://schemas.microsoft.com/office/drawing/2014/main" id="{5A19877B-6A31-4F0E-A2B8-5A2224C3F334}"/>
              </a:ext>
            </a:extLst>
          </p:cNvPr>
          <p:cNvSpPr/>
          <p:nvPr/>
        </p:nvSpPr>
        <p:spPr>
          <a:xfrm>
            <a:off x="5706769" y="1765300"/>
            <a:ext cx="1333500" cy="1333500"/>
          </a:xfrm>
          <a:prstGeom prst="rect">
            <a:avLst/>
          </a:prstGeom>
          <a:blipFill>
            <a:blip r:embed="rId6" cstate="print"/>
            <a:stretch>
              <a:fillRect/>
            </a:stretch>
          </a:blipFill>
        </p:spPr>
        <p:txBody>
          <a:bodyPr wrap="square" lIns="0" tIns="0" rIns="0" bIns="0" rtlCol="0"/>
          <a:lstStyle/>
          <a:p>
            <a:endParaRPr sz="1400"/>
          </a:p>
        </p:txBody>
      </p:sp>
      <p:sp>
        <p:nvSpPr>
          <p:cNvPr id="10" name="object 6">
            <a:extLst>
              <a:ext uri="{FF2B5EF4-FFF2-40B4-BE49-F238E27FC236}">
                <a16:creationId xmlns:a16="http://schemas.microsoft.com/office/drawing/2014/main" id="{68CBEE22-FC24-4987-A104-800E5D804C93}"/>
              </a:ext>
            </a:extLst>
          </p:cNvPr>
          <p:cNvSpPr/>
          <p:nvPr/>
        </p:nvSpPr>
        <p:spPr>
          <a:xfrm>
            <a:off x="1123554" y="1137023"/>
            <a:ext cx="1460500" cy="1460500"/>
          </a:xfrm>
          <a:prstGeom prst="rect">
            <a:avLst/>
          </a:prstGeom>
          <a:blipFill>
            <a:blip r:embed="rId7"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879302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AC72D-C009-4C1A-8382-32D88787F7B5}"/>
              </a:ext>
            </a:extLst>
          </p:cNvPr>
          <p:cNvSpPr>
            <a:spLocks noGrp="1"/>
          </p:cNvSpPr>
          <p:nvPr>
            <p:ph type="title"/>
          </p:nvPr>
        </p:nvSpPr>
        <p:spPr/>
        <p:txBody>
          <a:bodyPr/>
          <a:lstStyle/>
          <a:p>
            <a:r>
              <a:rPr lang="en-US" dirty="0"/>
              <a:t>Carnegie unit ( time in the seat)</a:t>
            </a:r>
          </a:p>
        </p:txBody>
      </p:sp>
      <p:sp>
        <p:nvSpPr>
          <p:cNvPr id="3" name="Content Placeholder 2">
            <a:extLst>
              <a:ext uri="{FF2B5EF4-FFF2-40B4-BE49-F238E27FC236}">
                <a16:creationId xmlns:a16="http://schemas.microsoft.com/office/drawing/2014/main" id="{F353DF55-3F8C-4206-9696-04CA6879B84C}"/>
              </a:ext>
            </a:extLst>
          </p:cNvPr>
          <p:cNvSpPr>
            <a:spLocks noGrp="1"/>
          </p:cNvSpPr>
          <p:nvPr>
            <p:ph idx="1"/>
          </p:nvPr>
        </p:nvSpPr>
        <p:spPr/>
        <p:txBody>
          <a:bodyPr/>
          <a:lstStyle/>
          <a:p>
            <a:r>
              <a:rPr lang="en-US" dirty="0"/>
              <a:t>The Carnegie Unit is 120 hours of class or contact time with an instructor over the course of a year at the secondary (American high school) level.</a:t>
            </a:r>
          </a:p>
          <a:p>
            <a:pPr lvl="1"/>
            <a:r>
              <a:rPr lang="en-US" dirty="0"/>
              <a:t>The </a:t>
            </a:r>
            <a:r>
              <a:rPr lang="en-US" b="1" dirty="0"/>
              <a:t>Carnegie Unit</a:t>
            </a:r>
            <a:r>
              <a:rPr lang="en-US" dirty="0"/>
              <a:t> and the </a:t>
            </a:r>
            <a:r>
              <a:rPr lang="en-US" b="1" dirty="0"/>
              <a:t>Student Hour</a:t>
            </a:r>
            <a:r>
              <a:rPr lang="en-US" dirty="0"/>
              <a:t> are strictly time-based references for measuring educational attainment used by American universities and colleges; the Carnegie Unit assesses secondary school attainment, and the Student Hour, derived from the Carnegie Unit, assesses collegiate attainment.</a:t>
            </a:r>
          </a:p>
          <a:p>
            <a:pPr lvl="2"/>
            <a:r>
              <a:rPr lang="en-US" dirty="0"/>
              <a:t>The Carnegie unit does not require demonstrated mastery of subject; the institution is responsible for ensuring learning. </a:t>
            </a:r>
          </a:p>
        </p:txBody>
      </p:sp>
    </p:spTree>
    <p:extLst>
      <p:ext uri="{BB962C8B-B14F-4D97-AF65-F5344CB8AC3E}">
        <p14:creationId xmlns:p14="http://schemas.microsoft.com/office/powerpoint/2010/main" val="19680456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73F03D-376E-44D7-ADBB-D5622A0C8292}"/>
              </a:ext>
            </a:extLst>
          </p:cNvPr>
          <p:cNvSpPr/>
          <p:nvPr/>
        </p:nvSpPr>
        <p:spPr>
          <a:xfrm>
            <a:off x="1165752" y="718938"/>
            <a:ext cx="8719642" cy="646331"/>
          </a:xfrm>
          <a:prstGeom prst="rect">
            <a:avLst/>
          </a:prstGeom>
        </p:spPr>
        <p:txBody>
          <a:bodyPr wrap="square">
            <a:spAutoFit/>
          </a:bodyPr>
          <a:lstStyle/>
          <a:p>
            <a:pPr marL="1255395">
              <a:lnSpc>
                <a:spcPct val="100000"/>
              </a:lnSpc>
              <a:spcBef>
                <a:spcPts val="100"/>
              </a:spcBef>
            </a:pPr>
            <a:r>
              <a:rPr lang="en-US" sz="3200" b="1" spc="-120">
                <a:cs typeface="Arial"/>
              </a:rPr>
              <a:t>Why </a:t>
            </a:r>
            <a:r>
              <a:rPr lang="en-US" sz="3200" b="1" spc="-45">
                <a:cs typeface="Arial"/>
              </a:rPr>
              <a:t>Competency Bases Education </a:t>
            </a:r>
            <a:r>
              <a:rPr lang="en-US" sz="3200" b="1" spc="-100">
                <a:cs typeface="Arial"/>
              </a:rPr>
              <a:t> </a:t>
            </a:r>
            <a:r>
              <a:rPr lang="en-US" sz="3600" b="1" spc="-125">
                <a:cs typeface="Arial"/>
              </a:rPr>
              <a:t>Matters</a:t>
            </a:r>
          </a:p>
        </p:txBody>
      </p:sp>
      <p:sp>
        <p:nvSpPr>
          <p:cNvPr id="4" name="TextBox 3">
            <a:extLst>
              <a:ext uri="{FF2B5EF4-FFF2-40B4-BE49-F238E27FC236}">
                <a16:creationId xmlns:a16="http://schemas.microsoft.com/office/drawing/2014/main" id="{9B713CE6-1766-404A-A6D4-814B8670DCB3}"/>
              </a:ext>
            </a:extLst>
          </p:cNvPr>
          <p:cNvSpPr txBox="1"/>
          <p:nvPr/>
        </p:nvSpPr>
        <p:spPr>
          <a:xfrm>
            <a:off x="2057400" y="1662953"/>
            <a:ext cx="8628529" cy="4524315"/>
          </a:xfrm>
          <a:prstGeom prst="rect">
            <a:avLst/>
          </a:prstGeom>
          <a:noFill/>
          <a:ln>
            <a:solidFill>
              <a:schemeClr val="accent1">
                <a:lumMod val="60000"/>
                <a:lumOff val="40000"/>
              </a:schemeClr>
            </a:solidFill>
          </a:ln>
        </p:spPr>
        <p:txBody>
          <a:bodyPr wrap="square" rtlCol="0">
            <a:spAutoFit/>
          </a:bodyPr>
          <a:lstStyle/>
          <a:p>
            <a:pPr marL="285750" indent="-285750">
              <a:buFont typeface="Wingdings" panose="05000000000000000000" pitchFamily="2" charset="2"/>
              <a:buChar char="q"/>
            </a:pPr>
            <a:r>
              <a:rPr lang="en-US"/>
              <a:t>About 1 million students a year leave high school without a diploma.</a:t>
            </a:r>
          </a:p>
          <a:p>
            <a:pPr marL="285750" indent="-285750">
              <a:buFont typeface="Wingdings" panose="05000000000000000000" pitchFamily="2" charset="2"/>
              <a:buChar char="q"/>
            </a:pPr>
            <a:endParaRPr lang="en-US"/>
          </a:p>
          <a:p>
            <a:pPr marL="285750" indent="-285750">
              <a:buFont typeface="Wingdings" panose="05000000000000000000" pitchFamily="2" charset="2"/>
              <a:buChar char="q"/>
            </a:pPr>
            <a:r>
              <a:rPr lang="en-US"/>
              <a:t>The current system [Carnegie units] allows students to progress because of age, not demonstrated ability. This is resulting in gaps – some small, some big, all damaging.</a:t>
            </a:r>
          </a:p>
          <a:p>
            <a:pPr marL="285750" indent="-285750">
              <a:buFont typeface="Wingdings" panose="05000000000000000000" pitchFamily="2" charset="2"/>
              <a:buChar char="q"/>
            </a:pPr>
            <a:endParaRPr lang="en-US"/>
          </a:p>
          <a:p>
            <a:pPr marL="285750" indent="-285750">
              <a:buFont typeface="Wingdings" panose="05000000000000000000" pitchFamily="2" charset="2"/>
              <a:buChar char="q"/>
            </a:pPr>
            <a:r>
              <a:rPr lang="en-US"/>
              <a:t>70% of higher education instructors said their students do not comprehend complex reading materials; 66% said students cannot think analytically.</a:t>
            </a:r>
          </a:p>
          <a:p>
            <a:pPr marL="285750" indent="-285750">
              <a:buFont typeface="Wingdings" panose="05000000000000000000" pitchFamily="2" charset="2"/>
              <a:buChar char="q"/>
            </a:pPr>
            <a:endParaRPr lang="en-US"/>
          </a:p>
          <a:p>
            <a:pPr marL="285750" indent="-285750">
              <a:buFont typeface="Wingdings" panose="05000000000000000000" pitchFamily="2" charset="2"/>
              <a:buChar char="q"/>
            </a:pPr>
            <a:r>
              <a:rPr lang="en-US"/>
              <a:t>Our graduates do not achieve the level of academic and career skills as those of other countries. This makes them less competitive in a global economy. </a:t>
            </a:r>
          </a:p>
          <a:p>
            <a:endParaRPr lang="en-US"/>
          </a:p>
          <a:p>
            <a:pPr marL="285750" indent="-285750">
              <a:buFont typeface="Wingdings" panose="05000000000000000000" pitchFamily="2" charset="2"/>
              <a:buChar char="q"/>
            </a:pPr>
            <a:r>
              <a:rPr lang="en-US"/>
              <a:t>Students families and states bear the burden of a time-based education system. Colleges cost $2.3 billion per year.</a:t>
            </a:r>
          </a:p>
          <a:p>
            <a:pPr marL="285750" indent="-285750">
              <a:buFont typeface="Wingdings" panose="05000000000000000000" pitchFamily="2" charset="2"/>
              <a:buChar char="q"/>
            </a:pPr>
            <a:endParaRPr lang="en-US"/>
          </a:p>
          <a:p>
            <a:endParaRPr lang="en-US"/>
          </a:p>
          <a:p>
            <a:r>
              <a:rPr lang="en-US"/>
              <a:t> </a:t>
            </a:r>
          </a:p>
        </p:txBody>
      </p:sp>
    </p:spTree>
    <p:extLst>
      <p:ext uri="{BB962C8B-B14F-4D97-AF65-F5344CB8AC3E}">
        <p14:creationId xmlns:p14="http://schemas.microsoft.com/office/powerpoint/2010/main" val="12258045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B1C21E4-F6F4-4AD8-B888-9F96C7C3A507}"/>
              </a:ext>
            </a:extLst>
          </p:cNvPr>
          <p:cNvSpPr/>
          <p:nvPr/>
        </p:nvSpPr>
        <p:spPr>
          <a:xfrm>
            <a:off x="2165159" y="2126384"/>
            <a:ext cx="7063648" cy="2123658"/>
          </a:xfrm>
          <a:prstGeom prst="rect">
            <a:avLst/>
          </a:prstGeom>
        </p:spPr>
        <p:txBody>
          <a:bodyPr wrap="square">
            <a:spAutoFit/>
          </a:bodyPr>
          <a:lstStyle/>
          <a:p>
            <a:pPr algn="ctr" fontAlgn="base"/>
            <a:r>
              <a:rPr lang="en-US" sz="4400" b="1" u="none" strike="noStrike">
                <a:solidFill>
                  <a:srgbClr val="333333"/>
                </a:solidFill>
                <a:effectLst/>
              </a:rPr>
              <a:t>How Widespread is Competency-based Education?</a:t>
            </a:r>
          </a:p>
        </p:txBody>
      </p:sp>
    </p:spTree>
    <p:extLst>
      <p:ext uri="{BB962C8B-B14F-4D97-AF65-F5344CB8AC3E}">
        <p14:creationId xmlns:p14="http://schemas.microsoft.com/office/powerpoint/2010/main" val="3706728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6F3E4-E669-49D2-A2F0-57876053AADF}"/>
              </a:ext>
            </a:extLst>
          </p:cNvPr>
          <p:cNvSpPr>
            <a:spLocks noGrp="1"/>
          </p:cNvSpPr>
          <p:nvPr>
            <p:ph type="title"/>
          </p:nvPr>
        </p:nvSpPr>
        <p:spPr>
          <a:xfrm>
            <a:off x="804949" y="265373"/>
            <a:ext cx="10515600" cy="1118695"/>
          </a:xfrm>
        </p:spPr>
        <p:txBody>
          <a:bodyPr>
            <a:normAutofit/>
          </a:bodyPr>
          <a:lstStyle/>
          <a:p>
            <a:r>
              <a:rPr lang="en-US" spc="-100">
                <a:cs typeface="Arial"/>
              </a:rPr>
              <a:t>Competency-Based </a:t>
            </a:r>
            <a:r>
              <a:rPr lang="en-US" spc="-95">
                <a:cs typeface="Arial"/>
              </a:rPr>
              <a:t>Education </a:t>
            </a:r>
            <a:r>
              <a:rPr lang="en-US" spc="-85">
                <a:cs typeface="Arial"/>
              </a:rPr>
              <a:t>State Policy</a:t>
            </a:r>
            <a:endParaRPr lang="en-US"/>
          </a:p>
        </p:txBody>
      </p:sp>
      <p:sp>
        <p:nvSpPr>
          <p:cNvPr id="3" name="object 3">
            <a:extLst>
              <a:ext uri="{FF2B5EF4-FFF2-40B4-BE49-F238E27FC236}">
                <a16:creationId xmlns:a16="http://schemas.microsoft.com/office/drawing/2014/main" id="{2709D4A5-1E69-420A-9C41-6ABD54D1F6D0}"/>
              </a:ext>
            </a:extLst>
          </p:cNvPr>
          <p:cNvSpPr/>
          <p:nvPr/>
        </p:nvSpPr>
        <p:spPr>
          <a:xfrm>
            <a:off x="721333" y="1907288"/>
            <a:ext cx="3904699" cy="2844454"/>
          </a:xfrm>
          <a:prstGeom prst="rect">
            <a:avLst/>
          </a:prstGeom>
          <a:blipFill>
            <a:blip r:embed="rId3" cstate="print"/>
            <a:stretch>
              <a:fillRect l="-1" r="-28339"/>
            </a:stretch>
          </a:blipFill>
        </p:spPr>
        <p:txBody>
          <a:bodyPr wrap="square" lIns="0" tIns="0" rIns="0" bIns="0" rtlCol="0"/>
          <a:lstStyle/>
          <a:p>
            <a:endParaRPr/>
          </a:p>
        </p:txBody>
      </p:sp>
      <p:sp>
        <p:nvSpPr>
          <p:cNvPr id="4" name="object 3">
            <a:extLst>
              <a:ext uri="{FF2B5EF4-FFF2-40B4-BE49-F238E27FC236}">
                <a16:creationId xmlns:a16="http://schemas.microsoft.com/office/drawing/2014/main" id="{2A66855B-A36B-41B4-A130-F61027431C20}"/>
              </a:ext>
            </a:extLst>
          </p:cNvPr>
          <p:cNvSpPr/>
          <p:nvPr/>
        </p:nvSpPr>
        <p:spPr>
          <a:xfrm>
            <a:off x="6325985" y="1884029"/>
            <a:ext cx="5058295" cy="2867713"/>
          </a:xfrm>
          <a:prstGeom prst="rect">
            <a:avLst/>
          </a:prstGeom>
          <a:blipFill>
            <a:blip r:embed="rId4" cstate="print"/>
            <a:stretch>
              <a:fillRect/>
            </a:stretch>
          </a:blipFill>
        </p:spPr>
        <p:txBody>
          <a:bodyPr wrap="square" lIns="0" tIns="0" rIns="0" bIns="0" rtlCol="0"/>
          <a:lstStyle/>
          <a:p>
            <a:endParaRPr/>
          </a:p>
        </p:txBody>
      </p:sp>
      <p:sp>
        <p:nvSpPr>
          <p:cNvPr id="5" name="Arrow: Right 4">
            <a:extLst>
              <a:ext uri="{FF2B5EF4-FFF2-40B4-BE49-F238E27FC236}">
                <a16:creationId xmlns:a16="http://schemas.microsoft.com/office/drawing/2014/main" id="{1E7539F1-2808-4BB9-8827-71CF1032C162}"/>
              </a:ext>
            </a:extLst>
          </p:cNvPr>
          <p:cNvSpPr/>
          <p:nvPr/>
        </p:nvSpPr>
        <p:spPr>
          <a:xfrm>
            <a:off x="4975029" y="3011886"/>
            <a:ext cx="1028222" cy="479459"/>
          </a:xfrm>
          <a:prstGeom prst="rightArrow">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 name="TextBox 6">
            <a:extLst>
              <a:ext uri="{FF2B5EF4-FFF2-40B4-BE49-F238E27FC236}">
                <a16:creationId xmlns:a16="http://schemas.microsoft.com/office/drawing/2014/main" id="{FEE9CF6E-1892-4397-B8B9-6FE9AE48460D}"/>
              </a:ext>
            </a:extLst>
          </p:cNvPr>
          <p:cNvSpPr txBox="1"/>
          <p:nvPr/>
        </p:nvSpPr>
        <p:spPr>
          <a:xfrm>
            <a:off x="8138161" y="1481343"/>
            <a:ext cx="1005840" cy="523220"/>
          </a:xfrm>
          <a:prstGeom prst="rect">
            <a:avLst/>
          </a:prstGeom>
          <a:noFill/>
        </p:spPr>
        <p:txBody>
          <a:bodyPr wrap="square" rtlCol="0">
            <a:spAutoFit/>
          </a:bodyPr>
          <a:lstStyle/>
          <a:p>
            <a:r>
              <a:rPr lang="en-US" sz="2800" b="1"/>
              <a:t>2018</a:t>
            </a:r>
          </a:p>
        </p:txBody>
      </p:sp>
      <p:sp>
        <p:nvSpPr>
          <p:cNvPr id="8" name="TextBox 7">
            <a:extLst>
              <a:ext uri="{FF2B5EF4-FFF2-40B4-BE49-F238E27FC236}">
                <a16:creationId xmlns:a16="http://schemas.microsoft.com/office/drawing/2014/main" id="{D320443F-8F28-4FCA-AB0C-8B31D4FAA9C6}"/>
              </a:ext>
            </a:extLst>
          </p:cNvPr>
          <p:cNvSpPr txBox="1"/>
          <p:nvPr/>
        </p:nvSpPr>
        <p:spPr>
          <a:xfrm>
            <a:off x="2014452" y="1384068"/>
            <a:ext cx="1005840" cy="523220"/>
          </a:xfrm>
          <a:prstGeom prst="rect">
            <a:avLst/>
          </a:prstGeom>
          <a:noFill/>
        </p:spPr>
        <p:txBody>
          <a:bodyPr wrap="square" rtlCol="0">
            <a:spAutoFit/>
          </a:bodyPr>
          <a:lstStyle/>
          <a:p>
            <a:r>
              <a:rPr lang="en-US" sz="2800" b="1"/>
              <a:t>2012</a:t>
            </a:r>
          </a:p>
        </p:txBody>
      </p:sp>
    </p:spTree>
    <p:extLst>
      <p:ext uri="{BB962C8B-B14F-4D97-AF65-F5344CB8AC3E}">
        <p14:creationId xmlns:p14="http://schemas.microsoft.com/office/powerpoint/2010/main" val="3030430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9E9AC-2A2B-4ACC-AA0A-398DF5A9051A}"/>
              </a:ext>
            </a:extLst>
          </p:cNvPr>
          <p:cNvSpPr>
            <a:spLocks noGrp="1"/>
          </p:cNvSpPr>
          <p:nvPr>
            <p:ph type="title"/>
          </p:nvPr>
        </p:nvSpPr>
        <p:spPr/>
        <p:txBody>
          <a:bodyPr/>
          <a:lstStyle/>
          <a:p>
            <a:r>
              <a:rPr lang="en-US"/>
              <a:t>Grand Father of Competency Based Education</a:t>
            </a:r>
          </a:p>
        </p:txBody>
      </p:sp>
      <p:grpSp>
        <p:nvGrpSpPr>
          <p:cNvPr id="5" name="Group 4">
            <a:extLst>
              <a:ext uri="{FF2B5EF4-FFF2-40B4-BE49-F238E27FC236}">
                <a16:creationId xmlns:a16="http://schemas.microsoft.com/office/drawing/2014/main" id="{BB0BF882-4389-4E66-B1F9-4097B0E5035A}"/>
              </a:ext>
            </a:extLst>
          </p:cNvPr>
          <p:cNvGrpSpPr/>
          <p:nvPr/>
        </p:nvGrpSpPr>
        <p:grpSpPr>
          <a:xfrm>
            <a:off x="4011670" y="1937809"/>
            <a:ext cx="3415245" cy="4555066"/>
            <a:chOff x="3677403" y="2099734"/>
            <a:chExt cx="3415245" cy="4555066"/>
          </a:xfrm>
        </p:grpSpPr>
        <p:pic>
          <p:nvPicPr>
            <p:cNvPr id="4098" name="Picture 2" descr="Image result for grandfather">
              <a:extLst>
                <a:ext uri="{FF2B5EF4-FFF2-40B4-BE49-F238E27FC236}">
                  <a16:creationId xmlns:a16="http://schemas.microsoft.com/office/drawing/2014/main" id="{26D6FD5A-94F5-44D2-B662-B6E95260CC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7403" y="2099734"/>
              <a:ext cx="3415245" cy="45550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1F9FBAA-7B1B-4DA4-9C91-9B05A74E03DF}"/>
                </a:ext>
              </a:extLst>
            </p:cNvPr>
            <p:cNvSpPr txBox="1"/>
            <p:nvPr/>
          </p:nvSpPr>
          <p:spPr>
            <a:xfrm>
              <a:off x="5089679" y="4925181"/>
              <a:ext cx="870856" cy="584775"/>
            </a:xfrm>
            <a:prstGeom prst="rect">
              <a:avLst/>
            </a:prstGeom>
            <a:noFill/>
          </p:spPr>
          <p:txBody>
            <a:bodyPr wrap="square" rtlCol="0">
              <a:spAutoFit/>
            </a:bodyPr>
            <a:lstStyle/>
            <a:p>
              <a:r>
                <a:rPr lang="en-US" sz="3200" b="1" i="1"/>
                <a:t>NH</a:t>
              </a:r>
            </a:p>
          </p:txBody>
        </p:sp>
      </p:grpSp>
    </p:spTree>
    <p:extLst>
      <p:ext uri="{BB962C8B-B14F-4D97-AF65-F5344CB8AC3E}">
        <p14:creationId xmlns:p14="http://schemas.microsoft.com/office/powerpoint/2010/main" val="244712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4184-0515-4D3B-BE21-B75C775BA0D7}"/>
              </a:ext>
            </a:extLst>
          </p:cNvPr>
          <p:cNvSpPr>
            <a:spLocks noGrp="1"/>
          </p:cNvSpPr>
          <p:nvPr>
            <p:ph type="title"/>
          </p:nvPr>
        </p:nvSpPr>
        <p:spPr>
          <a:xfrm>
            <a:off x="365901" y="1665470"/>
            <a:ext cx="3350741" cy="1566735"/>
          </a:xfrm>
          <a:ln w="12700">
            <a:solidFill>
              <a:srgbClr val="0070C0"/>
            </a:solidFill>
          </a:ln>
          <a:effectLst>
            <a:outerShdw blurRad="76200" dist="12700" dir="8100000" sy="-23000" kx="800400" algn="br" rotWithShape="0">
              <a:prstClr val="black">
                <a:alpha val="20000"/>
              </a:prstClr>
            </a:outerShdw>
          </a:effectLst>
        </p:spPr>
        <p:txBody>
          <a:bodyPr>
            <a:normAutofit fontScale="90000"/>
          </a:bodyPr>
          <a:lstStyle/>
          <a:p>
            <a:pPr algn="ctr">
              <a:defRPr sz="1800" b="1" i="0" u="none" strike="noStrike" kern="1200" baseline="0">
                <a:solidFill>
                  <a:sysClr val="windowText" lastClr="000000">
                    <a:lumMod val="75000"/>
                    <a:lumOff val="25000"/>
                  </a:sysClr>
                </a:solidFill>
                <a:latin typeface="+mn-lt"/>
                <a:ea typeface="+mn-ea"/>
                <a:cs typeface="+mn-cs"/>
              </a:defRPr>
            </a:pPr>
            <a:r>
              <a:rPr lang="en-US" sz="2800" b="1">
                <a:solidFill>
                  <a:schemeClr val="tx1"/>
                </a:solidFill>
              </a:rPr>
              <a:t>New Hampshire</a:t>
            </a:r>
            <a:br>
              <a:rPr lang="en-US" sz="2800" b="1">
                <a:solidFill>
                  <a:schemeClr val="tx1"/>
                </a:solidFill>
              </a:rPr>
            </a:br>
            <a:r>
              <a:rPr lang="en-US" sz="2800" b="1">
                <a:solidFill>
                  <a:schemeClr val="tx1"/>
                </a:solidFill>
              </a:rPr>
              <a:t> Actions Toward Creating Competency Based Education System</a:t>
            </a:r>
            <a:br>
              <a:rPr lang="en-US" sz="2800" b="1">
                <a:solidFill>
                  <a:schemeClr val="tx1"/>
                </a:solidFill>
              </a:rPr>
            </a:br>
            <a:endParaRPr lang="en-US" sz="2800">
              <a:solidFill>
                <a:schemeClr val="tx1"/>
              </a:solidFill>
            </a:endParaRPr>
          </a:p>
        </p:txBody>
      </p:sp>
      <p:graphicFrame>
        <p:nvGraphicFramePr>
          <p:cNvPr id="5" name="Chart 4">
            <a:extLst>
              <a:ext uri="{FF2B5EF4-FFF2-40B4-BE49-F238E27FC236}">
                <a16:creationId xmlns:a16="http://schemas.microsoft.com/office/drawing/2014/main" id="{C70F260E-D15D-47CE-BABE-9088C86AB8EE}"/>
              </a:ext>
            </a:extLst>
          </p:cNvPr>
          <p:cNvGraphicFramePr>
            <a:graphicFrameLocks/>
          </p:cNvGraphicFramePr>
          <p:nvPr>
            <p:extLst>
              <p:ext uri="{D42A27DB-BD31-4B8C-83A1-F6EECF244321}">
                <p14:modId xmlns:p14="http://schemas.microsoft.com/office/powerpoint/2010/main" val="1784398969"/>
              </p:ext>
            </p:extLst>
          </p:nvPr>
        </p:nvGraphicFramePr>
        <p:xfrm>
          <a:off x="4086971" y="640080"/>
          <a:ext cx="7468500" cy="55788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89028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0651-D7A3-4CE0-87A2-DFB415080318}"/>
              </a:ext>
            </a:extLst>
          </p:cNvPr>
          <p:cNvSpPr>
            <a:spLocks noGrp="1"/>
          </p:cNvSpPr>
          <p:nvPr>
            <p:ph type="title"/>
          </p:nvPr>
        </p:nvSpPr>
        <p:spPr>
          <a:xfrm>
            <a:off x="885265" y="215914"/>
            <a:ext cx="10515600" cy="1682224"/>
          </a:xfrm>
        </p:spPr>
        <p:txBody>
          <a:bodyPr/>
          <a:lstStyle/>
          <a:p>
            <a:r>
              <a:rPr lang="en-US" dirty="0"/>
              <a:t>New Hampshire’s CBE Journey Continued</a:t>
            </a:r>
          </a:p>
        </p:txBody>
      </p:sp>
      <p:sp>
        <p:nvSpPr>
          <p:cNvPr id="4" name="Rectangle 3">
            <a:extLst>
              <a:ext uri="{FF2B5EF4-FFF2-40B4-BE49-F238E27FC236}">
                <a16:creationId xmlns:a16="http://schemas.microsoft.com/office/drawing/2014/main" id="{146B56B9-C48C-4F93-A76A-0BE2E0C8D117}"/>
              </a:ext>
            </a:extLst>
          </p:cNvPr>
          <p:cNvSpPr/>
          <p:nvPr/>
        </p:nvSpPr>
        <p:spPr>
          <a:xfrm>
            <a:off x="755276" y="1790758"/>
            <a:ext cx="10515599" cy="923330"/>
          </a:xfrm>
          <a:prstGeom prst="rect">
            <a:avLst/>
          </a:prstGeom>
          <a:effectLst>
            <a:softEdge rad="1117600"/>
          </a:effectLst>
        </p:spPr>
        <p:txBody>
          <a:bodyPr wrap="square">
            <a:spAutoFit/>
          </a:bodyPr>
          <a:lstStyle/>
          <a:p>
            <a:r>
              <a:rPr lang="en-US" dirty="0">
                <a:solidFill>
                  <a:srgbClr val="003366"/>
                </a:solidFill>
                <a:latin typeface="Verdana" panose="020B0604030504040204" pitchFamily="34" charset="0"/>
              </a:rPr>
              <a:t>Performance Assessment of Competency Education (PACE)</a:t>
            </a:r>
          </a:p>
          <a:p>
            <a:r>
              <a:rPr lang="en-US" dirty="0"/>
              <a:t>…is a first-of-its-kind pilot that replaces standardized tests with personalized, authentic assessments developed by New Hampshire teachers.</a:t>
            </a:r>
          </a:p>
        </p:txBody>
      </p:sp>
      <p:sp>
        <p:nvSpPr>
          <p:cNvPr id="5" name="Rectangle 4">
            <a:extLst>
              <a:ext uri="{FF2B5EF4-FFF2-40B4-BE49-F238E27FC236}">
                <a16:creationId xmlns:a16="http://schemas.microsoft.com/office/drawing/2014/main" id="{895F8D38-0C9E-4141-89D1-E0B1EBFDFF1D}"/>
              </a:ext>
            </a:extLst>
          </p:cNvPr>
          <p:cNvSpPr/>
          <p:nvPr/>
        </p:nvSpPr>
        <p:spPr>
          <a:xfrm>
            <a:off x="755277" y="2813010"/>
            <a:ext cx="10690411" cy="2246769"/>
          </a:xfrm>
          <a:prstGeom prst="rect">
            <a:avLst/>
          </a:prstGeom>
        </p:spPr>
        <p:txBody>
          <a:bodyPr wrap="square">
            <a:spAutoFit/>
          </a:bodyPr>
          <a:lstStyle/>
          <a:p>
            <a:r>
              <a:rPr lang="en-US" sz="1400" b="1" dirty="0"/>
              <a:t>KEY ASPECTS OF PACE</a:t>
            </a:r>
          </a:p>
          <a:p>
            <a:endParaRPr lang="en-US" sz="1400" b="1" dirty="0"/>
          </a:p>
          <a:p>
            <a:r>
              <a:rPr lang="en-US" sz="1400" b="1" dirty="0"/>
              <a:t>What.</a:t>
            </a:r>
            <a:r>
              <a:rPr lang="en-US" sz="1400" dirty="0"/>
              <a:t>  NH PACE is a </a:t>
            </a:r>
            <a:r>
              <a:rPr lang="en-US" sz="1400" b="1" dirty="0"/>
              <a:t>learning system </a:t>
            </a:r>
            <a:r>
              <a:rPr lang="en-US" sz="1400" dirty="0"/>
              <a:t>designed to capitalize on the latest advances in understanding of </a:t>
            </a:r>
            <a:r>
              <a:rPr lang="en-US" sz="1400" b="1" dirty="0"/>
              <a:t>how people learn</a:t>
            </a:r>
            <a:r>
              <a:rPr lang="en-US" sz="1400" dirty="0"/>
              <a:t>.</a:t>
            </a:r>
          </a:p>
          <a:p>
            <a:endParaRPr lang="en-US" sz="1400" b="1" dirty="0"/>
          </a:p>
          <a:p>
            <a:r>
              <a:rPr lang="en-US" sz="1400" b="1" dirty="0"/>
              <a:t>When.</a:t>
            </a:r>
            <a:r>
              <a:rPr lang="en-US" sz="1400" dirty="0"/>
              <a:t>  NH PACE began as a </a:t>
            </a:r>
            <a:r>
              <a:rPr lang="en-US" sz="1400" b="1" dirty="0"/>
              <a:t>two-year pilot, after ESSA </a:t>
            </a:r>
            <a:r>
              <a:rPr lang="en-US" sz="1400" dirty="0"/>
              <a:t>– to reduce the level of standardized testing &amp; incorporate locally developed common     performance.</a:t>
            </a:r>
          </a:p>
          <a:p>
            <a:endParaRPr lang="en-US" sz="1400" b="1" dirty="0"/>
          </a:p>
          <a:p>
            <a:r>
              <a:rPr lang="en-US" sz="1400" b="1" dirty="0"/>
              <a:t>Best way to show how it works in NH</a:t>
            </a:r>
          </a:p>
          <a:p>
            <a:r>
              <a:rPr lang="en-US" sz="1400" dirty="0">
                <a:hlinkClick r:id="rId3"/>
              </a:rPr>
              <a:t>https://www.facebook.com/reachinghighernh/videos/503413976800771/</a:t>
            </a:r>
            <a:endParaRPr lang="en-US" sz="1400" dirty="0"/>
          </a:p>
          <a:p>
            <a:endParaRPr lang="en-US" sz="1400" dirty="0"/>
          </a:p>
        </p:txBody>
      </p:sp>
      <p:sp>
        <p:nvSpPr>
          <p:cNvPr id="6" name="Rectangle: Rounded Corners 5">
            <a:extLst>
              <a:ext uri="{FF2B5EF4-FFF2-40B4-BE49-F238E27FC236}">
                <a16:creationId xmlns:a16="http://schemas.microsoft.com/office/drawing/2014/main" id="{E411E125-61AB-4D51-93A9-B2C585CE8C8B}"/>
              </a:ext>
            </a:extLst>
          </p:cNvPr>
          <p:cNvSpPr/>
          <p:nvPr/>
        </p:nvSpPr>
        <p:spPr>
          <a:xfrm>
            <a:off x="755277" y="546395"/>
            <a:ext cx="10589558" cy="995082"/>
          </a:xfrm>
          <a:prstGeom prst="roundRect">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C165A26-0A5C-4BBA-9173-256AA8E064B0}"/>
              </a:ext>
            </a:extLst>
          </p:cNvPr>
          <p:cNvSpPr/>
          <p:nvPr/>
        </p:nvSpPr>
        <p:spPr>
          <a:xfrm>
            <a:off x="746312" y="5706110"/>
            <a:ext cx="7869659" cy="215444"/>
          </a:xfrm>
          <a:prstGeom prst="rect">
            <a:avLst/>
          </a:prstGeom>
        </p:spPr>
        <p:txBody>
          <a:bodyPr wrap="square">
            <a:spAutoFit/>
          </a:bodyPr>
          <a:lstStyle/>
          <a:p>
            <a:r>
              <a:rPr lang="en-US" sz="800" dirty="0">
                <a:hlinkClick r:id="rId4"/>
              </a:rPr>
              <a:t>https://reachinghighernh.org/2018/10/03/usdoe-applaud-innovative-assessment/</a:t>
            </a:r>
            <a:endParaRPr lang="en-US" sz="800" dirty="0"/>
          </a:p>
        </p:txBody>
      </p:sp>
    </p:spTree>
    <p:extLst>
      <p:ext uri="{BB962C8B-B14F-4D97-AF65-F5344CB8AC3E}">
        <p14:creationId xmlns:p14="http://schemas.microsoft.com/office/powerpoint/2010/main" val="4497145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0651-D7A3-4CE0-87A2-DFB415080318}"/>
              </a:ext>
            </a:extLst>
          </p:cNvPr>
          <p:cNvSpPr>
            <a:spLocks noGrp="1"/>
          </p:cNvSpPr>
          <p:nvPr>
            <p:ph type="title"/>
          </p:nvPr>
        </p:nvSpPr>
        <p:spPr>
          <a:xfrm>
            <a:off x="847165" y="415262"/>
            <a:ext cx="10515600" cy="1325563"/>
          </a:xfrm>
        </p:spPr>
        <p:txBody>
          <a:bodyPr/>
          <a:lstStyle/>
          <a:p>
            <a:r>
              <a:rPr lang="en-US" dirty="0"/>
              <a:t>NH’s PACE Language</a:t>
            </a:r>
          </a:p>
        </p:txBody>
      </p:sp>
      <p:sp>
        <p:nvSpPr>
          <p:cNvPr id="6" name="Rectangle: Rounded Corners 5">
            <a:extLst>
              <a:ext uri="{FF2B5EF4-FFF2-40B4-BE49-F238E27FC236}">
                <a16:creationId xmlns:a16="http://schemas.microsoft.com/office/drawing/2014/main" id="{E411E125-61AB-4D51-93A9-B2C585CE8C8B}"/>
              </a:ext>
            </a:extLst>
          </p:cNvPr>
          <p:cNvSpPr/>
          <p:nvPr/>
        </p:nvSpPr>
        <p:spPr>
          <a:xfrm>
            <a:off x="755277" y="546395"/>
            <a:ext cx="10589558" cy="995082"/>
          </a:xfrm>
          <a:prstGeom prst="roundRect">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4AA861B-2318-4ED9-8BFC-6BF495DE02CC}"/>
              </a:ext>
            </a:extLst>
          </p:cNvPr>
          <p:cNvSpPr/>
          <p:nvPr/>
        </p:nvSpPr>
        <p:spPr>
          <a:xfrm>
            <a:off x="1003484" y="1871958"/>
            <a:ext cx="10107165" cy="4524315"/>
          </a:xfrm>
          <a:prstGeom prst="rect">
            <a:avLst/>
          </a:prstGeom>
        </p:spPr>
        <p:txBody>
          <a:bodyPr wrap="square">
            <a:spAutoFit/>
          </a:bodyPr>
          <a:lstStyle/>
          <a:p>
            <a:r>
              <a:rPr lang="en-US" dirty="0">
                <a:solidFill>
                  <a:srgbClr val="666666"/>
                </a:solidFill>
                <a:latin typeface="&amp;quot"/>
              </a:rPr>
              <a:t>Multiple stakeholders, including state leaders, experts in assessment and accountability, and district and school leaders, work together to create a plan for the design, implementation and scaling of a reciprocal accountability system that ensures all students have opportunities to gain critical knowledge and skills. </a:t>
            </a:r>
          </a:p>
          <a:p>
            <a:endParaRPr lang="en-US" dirty="0">
              <a:solidFill>
                <a:srgbClr val="666666"/>
              </a:solidFill>
              <a:latin typeface="&amp;quot"/>
            </a:endParaRPr>
          </a:p>
          <a:p>
            <a:r>
              <a:rPr lang="en-US" dirty="0">
                <a:solidFill>
                  <a:srgbClr val="666666"/>
                </a:solidFill>
                <a:latin typeface="&amp;quot"/>
              </a:rPr>
              <a:t>PACE includes:</a:t>
            </a:r>
          </a:p>
          <a:p>
            <a:r>
              <a:rPr lang="en-US" dirty="0">
                <a:solidFill>
                  <a:srgbClr val="666666"/>
                </a:solidFill>
                <a:latin typeface="&amp;quot"/>
              </a:rPr>
              <a:t>  » High-quality common performance tasks;</a:t>
            </a:r>
          </a:p>
          <a:p>
            <a:r>
              <a:rPr lang="en-US" dirty="0">
                <a:solidFill>
                  <a:srgbClr val="666666"/>
                </a:solidFill>
                <a:latin typeface="&amp;quot"/>
              </a:rPr>
              <a:t>  » Locally designed performance tasks with guidelines for ensuring high technical quality;</a:t>
            </a:r>
          </a:p>
          <a:p>
            <a:r>
              <a:rPr lang="en-US" dirty="0">
                <a:solidFill>
                  <a:srgbClr val="666666"/>
                </a:solidFill>
                <a:latin typeface="&amp;quot"/>
              </a:rPr>
              <a:t>  » Regional scoring sessions and local district peer review audits to ensure sound accountability   systems         and high inter-rater reliability;</a:t>
            </a:r>
          </a:p>
          <a:p>
            <a:r>
              <a:rPr lang="en-US" dirty="0">
                <a:solidFill>
                  <a:srgbClr val="666666"/>
                </a:solidFill>
                <a:latin typeface="&amp;quot"/>
              </a:rPr>
              <a:t>  » A web-based bank of local and common performance tasks; and</a:t>
            </a:r>
          </a:p>
          <a:p>
            <a:r>
              <a:rPr lang="en-US" dirty="0">
                <a:solidFill>
                  <a:srgbClr val="666666"/>
                </a:solidFill>
                <a:latin typeface="&amp;quot"/>
              </a:rPr>
              <a:t>  » A regional support network for districts and schools.</a:t>
            </a:r>
          </a:p>
          <a:p>
            <a:endParaRPr lang="en-US" dirty="0">
              <a:solidFill>
                <a:srgbClr val="666666"/>
              </a:solidFill>
              <a:latin typeface="&amp;quot"/>
            </a:endParaRPr>
          </a:p>
          <a:p>
            <a:r>
              <a:rPr lang="en-US" dirty="0">
                <a:solidFill>
                  <a:srgbClr val="666666"/>
                </a:solidFill>
                <a:latin typeface="&amp;quot"/>
              </a:rPr>
              <a:t>The PACE assessments are designed to support deeper learning through competency education and are closely integrated into students’ day-to-day work, which makes the assessments more meaningful. Students demonstrate their competency through multiple performance assessment measures in a variety of contexts.</a:t>
            </a:r>
            <a:endParaRPr lang="en-US" b="0" i="0" u="none" strike="noStrike" dirty="0">
              <a:solidFill>
                <a:srgbClr val="666666"/>
              </a:solidFill>
              <a:effectLst/>
              <a:latin typeface="&amp;quot"/>
            </a:endParaRPr>
          </a:p>
        </p:txBody>
      </p:sp>
    </p:spTree>
    <p:extLst>
      <p:ext uri="{BB962C8B-B14F-4D97-AF65-F5344CB8AC3E}">
        <p14:creationId xmlns:p14="http://schemas.microsoft.com/office/powerpoint/2010/main" val="31732031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127C7A-6305-42D7-81CA-D8659D299538}"/>
              </a:ext>
            </a:extLst>
          </p:cNvPr>
          <p:cNvSpPr>
            <a:spLocks noGrp="1"/>
          </p:cNvSpPr>
          <p:nvPr>
            <p:ph type="title"/>
          </p:nvPr>
        </p:nvSpPr>
        <p:spPr/>
        <p:txBody>
          <a:bodyPr>
            <a:normAutofit/>
          </a:bodyPr>
          <a:lstStyle/>
          <a:p>
            <a:r>
              <a:rPr lang="en-US" sz="2700" dirty="0"/>
              <a:t>Grade 12 continuously enrolled students will be eligible for counting as postsecondary ready by meeting any two of the following ten requirements: </a:t>
            </a:r>
            <a:endParaRPr lang="en-US" dirty="0"/>
          </a:p>
        </p:txBody>
      </p:sp>
      <p:sp>
        <p:nvSpPr>
          <p:cNvPr id="4" name="Content Placeholder 3">
            <a:extLst>
              <a:ext uri="{FF2B5EF4-FFF2-40B4-BE49-F238E27FC236}">
                <a16:creationId xmlns:a16="http://schemas.microsoft.com/office/drawing/2014/main" id="{CA81FC08-2EDA-40ED-A9AF-4D3CA3DED739}"/>
              </a:ext>
            </a:extLst>
          </p:cNvPr>
          <p:cNvSpPr>
            <a:spLocks noGrp="1"/>
          </p:cNvSpPr>
          <p:nvPr>
            <p:ph idx="1"/>
          </p:nvPr>
        </p:nvSpPr>
        <p:spPr/>
        <p:txBody>
          <a:bodyPr>
            <a:normAutofit fontScale="70000" lnSpcReduction="20000"/>
          </a:bodyPr>
          <a:lstStyle/>
          <a:p>
            <a:r>
              <a:rPr lang="en-US" dirty="0"/>
              <a:t>indicator of student success is a career and college readiness indicator. </a:t>
            </a:r>
          </a:p>
          <a:p>
            <a:r>
              <a:rPr lang="en-US" dirty="0"/>
              <a:t>Completion of a New Hampshire Scholars program of study (Standard, Science, Technology, Engineering and Mathematics [STEM] or Arts) </a:t>
            </a:r>
          </a:p>
          <a:p>
            <a:r>
              <a:rPr lang="en-US" dirty="0"/>
              <a:t>C or better in a dual-enrollment course </a:t>
            </a:r>
          </a:p>
          <a:p>
            <a:r>
              <a:rPr lang="en-US" dirty="0"/>
              <a:t>SAT scores (480 in Evidence-Based Reading and Writing and 530 in Math)</a:t>
            </a:r>
          </a:p>
          <a:p>
            <a:r>
              <a:rPr lang="en-US" dirty="0"/>
              <a:t>American College Testing (ACT) scores (18 in English, 22 in Mathematics, 22 in Reading and 23 in Science) </a:t>
            </a:r>
          </a:p>
          <a:p>
            <a:r>
              <a:rPr lang="en-US" dirty="0"/>
              <a:t>A score of 3, 4 or 5 on an Advanced Placement (AP) exam </a:t>
            </a:r>
          </a:p>
          <a:p>
            <a:r>
              <a:rPr lang="en-US" dirty="0"/>
              <a:t>A score of 5, 6 or 7 on an International Baccalaureate (IB) exam </a:t>
            </a:r>
          </a:p>
          <a:p>
            <a:r>
              <a:rPr lang="en-US" dirty="0"/>
              <a:t>Earning a Career and Technical Education (CTE) industry-recognized credential </a:t>
            </a:r>
          </a:p>
          <a:p>
            <a:r>
              <a:rPr lang="en-US" dirty="0"/>
              <a:t> Completion of a state career pathway program of study • Scoring at least Level III on components of the Armed Services Vocational Aptitude Battery (ASVAB) that comprise the Armed Forces Qualifying Test </a:t>
            </a:r>
          </a:p>
          <a:p>
            <a:r>
              <a:rPr lang="en-US" dirty="0"/>
              <a:t>Completion of the ACT National Career Readiness Certificate </a:t>
            </a:r>
          </a:p>
        </p:txBody>
      </p:sp>
    </p:spTree>
    <p:extLst>
      <p:ext uri="{BB962C8B-B14F-4D97-AF65-F5344CB8AC3E}">
        <p14:creationId xmlns:p14="http://schemas.microsoft.com/office/powerpoint/2010/main" val="7665383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0651-D7A3-4CE0-87A2-DFB415080318}"/>
              </a:ext>
            </a:extLst>
          </p:cNvPr>
          <p:cNvSpPr>
            <a:spLocks noGrp="1"/>
          </p:cNvSpPr>
          <p:nvPr>
            <p:ph type="title"/>
          </p:nvPr>
        </p:nvSpPr>
        <p:spPr>
          <a:xfrm>
            <a:off x="885264" y="285814"/>
            <a:ext cx="10780919" cy="1325563"/>
          </a:xfrm>
        </p:spPr>
        <p:txBody>
          <a:bodyPr/>
          <a:lstStyle/>
          <a:p>
            <a:r>
              <a:rPr lang="en-US" dirty="0"/>
              <a:t>2017 Reporting: PACE Tier 1 and Tier 2 Schools</a:t>
            </a:r>
          </a:p>
        </p:txBody>
      </p:sp>
      <p:sp>
        <p:nvSpPr>
          <p:cNvPr id="6" name="Rectangle: Rounded Corners 5">
            <a:extLst>
              <a:ext uri="{FF2B5EF4-FFF2-40B4-BE49-F238E27FC236}">
                <a16:creationId xmlns:a16="http://schemas.microsoft.com/office/drawing/2014/main" id="{E411E125-61AB-4D51-93A9-B2C585CE8C8B}"/>
              </a:ext>
            </a:extLst>
          </p:cNvPr>
          <p:cNvSpPr/>
          <p:nvPr/>
        </p:nvSpPr>
        <p:spPr>
          <a:xfrm>
            <a:off x="641380" y="451055"/>
            <a:ext cx="10920795" cy="995082"/>
          </a:xfrm>
          <a:prstGeom prst="roundRect">
            <a:avLst/>
          </a:prstGeom>
          <a:no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Description automatically generated">
            <a:extLst>
              <a:ext uri="{FF2B5EF4-FFF2-40B4-BE49-F238E27FC236}">
                <a16:creationId xmlns:a16="http://schemas.microsoft.com/office/drawing/2014/main" id="{1EDEB4FA-4D7A-4E8E-A8AC-DC714BEC9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8724" y="1871958"/>
            <a:ext cx="8359864" cy="3970364"/>
          </a:xfrm>
          <a:prstGeom prst="rect">
            <a:avLst/>
          </a:prstGeom>
        </p:spPr>
      </p:pic>
    </p:spTree>
    <p:extLst>
      <p:ext uri="{BB962C8B-B14F-4D97-AF65-F5344CB8AC3E}">
        <p14:creationId xmlns:p14="http://schemas.microsoft.com/office/powerpoint/2010/main" val="866189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EAC20-886D-4909-9602-C3F0B87389F1}"/>
              </a:ext>
            </a:extLst>
          </p:cNvPr>
          <p:cNvSpPr>
            <a:spLocks noGrp="1"/>
          </p:cNvSpPr>
          <p:nvPr>
            <p:ph type="title"/>
          </p:nvPr>
        </p:nvSpPr>
        <p:spPr>
          <a:xfrm>
            <a:off x="1026459" y="266514"/>
            <a:ext cx="10515600" cy="1325563"/>
          </a:xfrm>
        </p:spPr>
        <p:txBody>
          <a:bodyPr/>
          <a:lstStyle/>
          <a:p>
            <a:pPr marL="12700">
              <a:spcBef>
                <a:spcPts val="100"/>
              </a:spcBef>
            </a:pPr>
            <a:r>
              <a:rPr lang="en-US" b="1" i="1">
                <a:latin typeface="Calibri"/>
                <a:cs typeface="Calibri"/>
              </a:rPr>
              <a:t>2018-2019 </a:t>
            </a:r>
            <a:r>
              <a:rPr lang="en-US" b="1" i="1" spc="-5">
                <a:latin typeface="Calibri"/>
                <a:cs typeface="Calibri"/>
              </a:rPr>
              <a:t>PACE Schools for Accountability</a:t>
            </a:r>
            <a:endParaRPr lang="en-US">
              <a:latin typeface="Calibri"/>
              <a:cs typeface="Calibri"/>
            </a:endParaRPr>
          </a:p>
        </p:txBody>
      </p:sp>
      <p:sp>
        <p:nvSpPr>
          <p:cNvPr id="5" name="object 5">
            <a:extLst>
              <a:ext uri="{FF2B5EF4-FFF2-40B4-BE49-F238E27FC236}">
                <a16:creationId xmlns:a16="http://schemas.microsoft.com/office/drawing/2014/main" id="{F0985646-555F-4874-B27C-C664C84DB4FA}"/>
              </a:ext>
            </a:extLst>
          </p:cNvPr>
          <p:cNvSpPr txBox="1"/>
          <p:nvPr/>
        </p:nvSpPr>
        <p:spPr>
          <a:xfrm>
            <a:off x="1180874" y="1417571"/>
            <a:ext cx="1787459" cy="1319464"/>
          </a:xfrm>
          <a:prstGeom prst="rect">
            <a:avLst/>
          </a:prstGeom>
        </p:spPr>
        <p:txBody>
          <a:bodyPr vert="horz" wrap="square" lIns="0" tIns="12700" rIns="0" bIns="0" rtlCol="0">
            <a:spAutoFit/>
          </a:bodyPr>
          <a:lstStyle/>
          <a:p>
            <a:pPr marL="12700">
              <a:spcBef>
                <a:spcPts val="100"/>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8</a:t>
            </a:r>
            <a:endParaRPr sz="1400">
              <a:latin typeface="Calibri"/>
              <a:cs typeface="Calibri"/>
            </a:endParaRPr>
          </a:p>
          <a:p>
            <a:pPr marL="12700" marR="5080">
              <a:lnSpc>
                <a:spcPct val="101800"/>
              </a:lnSpc>
              <a:spcBef>
                <a:spcPts val="10"/>
              </a:spcBef>
            </a:pPr>
            <a:r>
              <a:rPr sz="1400" spc="-5">
                <a:latin typeface="Calibri"/>
                <a:cs typeface="Calibri"/>
              </a:rPr>
              <a:t>Abbot-Downing School  </a:t>
            </a:r>
            <a:r>
              <a:rPr sz="1400">
                <a:latin typeface="Calibri"/>
                <a:cs typeface="Calibri"/>
              </a:rPr>
              <a:t>Beaver </a:t>
            </a:r>
            <a:r>
              <a:rPr sz="1400" spc="-5">
                <a:latin typeface="Calibri"/>
                <a:cs typeface="Calibri"/>
              </a:rPr>
              <a:t>Meadow School  </a:t>
            </a:r>
            <a:r>
              <a:rPr sz="1400">
                <a:latin typeface="Calibri"/>
                <a:cs typeface="Calibri"/>
              </a:rPr>
              <a:t>Broken </a:t>
            </a:r>
            <a:r>
              <a:rPr sz="1400" spc="-5">
                <a:latin typeface="Calibri"/>
                <a:cs typeface="Calibri"/>
              </a:rPr>
              <a:t>Ground School  Christa McAuliffe School  Rundlett Middle</a:t>
            </a:r>
            <a:r>
              <a:rPr sz="1400" spc="-30">
                <a:latin typeface="Calibri"/>
                <a:cs typeface="Calibri"/>
              </a:rPr>
              <a:t> </a:t>
            </a:r>
            <a:r>
              <a:rPr sz="1400" spc="-5">
                <a:latin typeface="Calibri"/>
                <a:cs typeface="Calibri"/>
              </a:rPr>
              <a:t>School</a:t>
            </a:r>
            <a:endParaRPr sz="1400">
              <a:latin typeface="Calibri"/>
              <a:cs typeface="Calibri"/>
            </a:endParaRPr>
          </a:p>
        </p:txBody>
      </p:sp>
      <p:sp>
        <p:nvSpPr>
          <p:cNvPr id="6" name="object 6">
            <a:extLst>
              <a:ext uri="{FF2B5EF4-FFF2-40B4-BE49-F238E27FC236}">
                <a16:creationId xmlns:a16="http://schemas.microsoft.com/office/drawing/2014/main" id="{75D2907D-7177-4360-B639-37322DE9FA39}"/>
              </a:ext>
            </a:extLst>
          </p:cNvPr>
          <p:cNvSpPr txBox="1"/>
          <p:nvPr/>
        </p:nvSpPr>
        <p:spPr>
          <a:xfrm>
            <a:off x="1167135" y="2997149"/>
            <a:ext cx="2086319" cy="441347"/>
          </a:xfrm>
          <a:prstGeom prst="rect">
            <a:avLst/>
          </a:prstGeom>
        </p:spPr>
        <p:txBody>
          <a:bodyPr vert="horz" wrap="square" lIns="0" tIns="12700" rIns="0" bIns="0" rtlCol="0">
            <a:spAutoFit/>
          </a:bodyPr>
          <a:lstStyle/>
          <a:p>
            <a:pPr marL="12700">
              <a:spcBef>
                <a:spcPts val="100"/>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9</a:t>
            </a:r>
            <a:endParaRPr sz="1400">
              <a:latin typeface="Calibri"/>
              <a:cs typeface="Calibri"/>
            </a:endParaRPr>
          </a:p>
          <a:p>
            <a:pPr marL="12700">
              <a:spcBef>
                <a:spcPts val="40"/>
              </a:spcBef>
            </a:pPr>
            <a:r>
              <a:rPr sz="1400" spc="-5">
                <a:latin typeface="Calibri"/>
                <a:cs typeface="Calibri"/>
              </a:rPr>
              <a:t>Pine Tree Elementary</a:t>
            </a:r>
            <a:r>
              <a:rPr sz="1400" spc="-25">
                <a:latin typeface="Calibri"/>
                <a:cs typeface="Calibri"/>
              </a:rPr>
              <a:t> </a:t>
            </a:r>
            <a:r>
              <a:rPr sz="1400" spc="-5">
                <a:latin typeface="Calibri"/>
                <a:cs typeface="Calibri"/>
              </a:rPr>
              <a:t>School</a:t>
            </a:r>
            <a:endParaRPr sz="1400">
              <a:latin typeface="Calibri"/>
              <a:cs typeface="Calibri"/>
            </a:endParaRPr>
          </a:p>
        </p:txBody>
      </p:sp>
      <p:sp>
        <p:nvSpPr>
          <p:cNvPr id="7" name="object 7">
            <a:extLst>
              <a:ext uri="{FF2B5EF4-FFF2-40B4-BE49-F238E27FC236}">
                <a16:creationId xmlns:a16="http://schemas.microsoft.com/office/drawing/2014/main" id="{D8896346-7533-4656-828E-4D12A5F86F32}"/>
              </a:ext>
            </a:extLst>
          </p:cNvPr>
          <p:cNvSpPr txBox="1"/>
          <p:nvPr/>
        </p:nvSpPr>
        <p:spPr>
          <a:xfrm>
            <a:off x="1180874" y="3843668"/>
            <a:ext cx="1898898" cy="657168"/>
          </a:xfrm>
          <a:prstGeom prst="rect">
            <a:avLst/>
          </a:prstGeom>
        </p:spPr>
        <p:txBody>
          <a:bodyPr vert="horz" wrap="square" lIns="0" tIns="13335" rIns="0" bIns="0" rtlCol="0">
            <a:spAutoFit/>
          </a:bodyPr>
          <a:lstStyle/>
          <a:p>
            <a:pPr marL="12700">
              <a:spcBef>
                <a:spcPts val="105"/>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14</a:t>
            </a:r>
            <a:endParaRPr sz="1400">
              <a:latin typeface="Calibri"/>
              <a:cs typeface="Calibri"/>
            </a:endParaRPr>
          </a:p>
          <a:p>
            <a:pPr marL="12700" marR="5080">
              <a:lnSpc>
                <a:spcPct val="101400"/>
              </a:lnSpc>
            </a:pPr>
            <a:r>
              <a:rPr sz="1400" spc="-5">
                <a:latin typeface="Calibri"/>
                <a:cs typeface="Calibri"/>
              </a:rPr>
              <a:t>Epping Elementary</a:t>
            </a:r>
            <a:r>
              <a:rPr sz="1400" spc="-55">
                <a:latin typeface="Calibri"/>
                <a:cs typeface="Calibri"/>
              </a:rPr>
              <a:t> </a:t>
            </a:r>
            <a:r>
              <a:rPr sz="1400">
                <a:latin typeface="Calibri"/>
                <a:cs typeface="Calibri"/>
              </a:rPr>
              <a:t>School  </a:t>
            </a:r>
            <a:r>
              <a:rPr sz="1400" spc="-5">
                <a:latin typeface="Calibri"/>
                <a:cs typeface="Calibri"/>
              </a:rPr>
              <a:t>Epping Middle</a:t>
            </a:r>
            <a:r>
              <a:rPr sz="1400" spc="-25">
                <a:latin typeface="Calibri"/>
                <a:cs typeface="Calibri"/>
              </a:rPr>
              <a:t> </a:t>
            </a:r>
            <a:r>
              <a:rPr sz="1400">
                <a:latin typeface="Calibri"/>
                <a:cs typeface="Calibri"/>
              </a:rPr>
              <a:t>School</a:t>
            </a:r>
          </a:p>
        </p:txBody>
      </p:sp>
      <p:sp>
        <p:nvSpPr>
          <p:cNvPr id="8" name="object 8">
            <a:extLst>
              <a:ext uri="{FF2B5EF4-FFF2-40B4-BE49-F238E27FC236}">
                <a16:creationId xmlns:a16="http://schemas.microsoft.com/office/drawing/2014/main" id="{5D71EFDA-351A-423F-B337-C846858C2B83}"/>
              </a:ext>
            </a:extLst>
          </p:cNvPr>
          <p:cNvSpPr txBox="1"/>
          <p:nvPr/>
        </p:nvSpPr>
        <p:spPr>
          <a:xfrm>
            <a:off x="1167135" y="4873713"/>
            <a:ext cx="2350987" cy="873252"/>
          </a:xfrm>
          <a:prstGeom prst="rect">
            <a:avLst/>
          </a:prstGeom>
        </p:spPr>
        <p:txBody>
          <a:bodyPr vert="horz" wrap="square" lIns="0" tIns="13335" rIns="0" bIns="0" rtlCol="0">
            <a:spAutoFit/>
          </a:bodyPr>
          <a:lstStyle/>
          <a:p>
            <a:pPr marL="12700">
              <a:spcBef>
                <a:spcPts val="105"/>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17</a:t>
            </a:r>
            <a:endParaRPr sz="1400">
              <a:latin typeface="Calibri"/>
              <a:cs typeface="Calibri"/>
            </a:endParaRPr>
          </a:p>
          <a:p>
            <a:pPr marL="12700">
              <a:spcBef>
                <a:spcPts val="35"/>
              </a:spcBef>
            </a:pPr>
            <a:r>
              <a:rPr sz="1400" spc="-5">
                <a:latin typeface="Calibri"/>
                <a:cs typeface="Calibri"/>
              </a:rPr>
              <a:t>Daniel </a:t>
            </a:r>
            <a:r>
              <a:rPr sz="1400">
                <a:latin typeface="Calibri"/>
                <a:cs typeface="Calibri"/>
              </a:rPr>
              <a:t>J. Bakie</a:t>
            </a:r>
            <a:r>
              <a:rPr sz="1400" spc="-20">
                <a:latin typeface="Calibri"/>
                <a:cs typeface="Calibri"/>
              </a:rPr>
              <a:t> </a:t>
            </a:r>
            <a:r>
              <a:rPr sz="1400" spc="-5">
                <a:latin typeface="Calibri"/>
                <a:cs typeface="Calibri"/>
              </a:rPr>
              <a:t>School</a:t>
            </a:r>
            <a:endParaRPr sz="1400">
              <a:latin typeface="Calibri"/>
              <a:cs typeface="Calibri"/>
            </a:endParaRPr>
          </a:p>
          <a:p>
            <a:pPr marL="12700" marR="5080">
              <a:lnSpc>
                <a:spcPts val="1720"/>
              </a:lnSpc>
              <a:spcBef>
                <a:spcPts val="45"/>
              </a:spcBef>
            </a:pPr>
            <a:r>
              <a:rPr sz="1400" spc="-5">
                <a:latin typeface="Calibri"/>
                <a:cs typeface="Calibri"/>
              </a:rPr>
              <a:t>Sanborn Regional </a:t>
            </a:r>
            <a:r>
              <a:rPr sz="1400" spc="-10">
                <a:latin typeface="Calibri"/>
                <a:cs typeface="Calibri"/>
              </a:rPr>
              <a:t>Middle </a:t>
            </a:r>
            <a:r>
              <a:rPr sz="1400" spc="-5">
                <a:latin typeface="Calibri"/>
                <a:cs typeface="Calibri"/>
              </a:rPr>
              <a:t>School  </a:t>
            </a:r>
            <a:r>
              <a:rPr sz="1400">
                <a:latin typeface="Calibri"/>
                <a:cs typeface="Calibri"/>
              </a:rPr>
              <a:t>Memorial</a:t>
            </a:r>
            <a:r>
              <a:rPr sz="1400" spc="-5">
                <a:latin typeface="Calibri"/>
                <a:cs typeface="Calibri"/>
              </a:rPr>
              <a:t> </a:t>
            </a:r>
            <a:r>
              <a:rPr sz="1400" spc="-10">
                <a:latin typeface="Calibri"/>
                <a:cs typeface="Calibri"/>
              </a:rPr>
              <a:t>School</a:t>
            </a:r>
            <a:endParaRPr sz="1400">
              <a:latin typeface="Calibri"/>
              <a:cs typeface="Calibri"/>
            </a:endParaRPr>
          </a:p>
        </p:txBody>
      </p:sp>
      <p:sp>
        <p:nvSpPr>
          <p:cNvPr id="9" name="object 9">
            <a:extLst>
              <a:ext uri="{FF2B5EF4-FFF2-40B4-BE49-F238E27FC236}">
                <a16:creationId xmlns:a16="http://schemas.microsoft.com/office/drawing/2014/main" id="{F46C6EFA-8749-49A1-A226-3027483EC3A0}"/>
              </a:ext>
            </a:extLst>
          </p:cNvPr>
          <p:cNvSpPr txBox="1"/>
          <p:nvPr/>
        </p:nvSpPr>
        <p:spPr>
          <a:xfrm>
            <a:off x="3800304" y="1490215"/>
            <a:ext cx="2377581" cy="1316386"/>
          </a:xfrm>
          <a:prstGeom prst="rect">
            <a:avLst/>
          </a:prstGeom>
        </p:spPr>
        <p:txBody>
          <a:bodyPr vert="horz" wrap="square" lIns="0" tIns="13335" rIns="0" bIns="0" rtlCol="0">
            <a:spAutoFit/>
          </a:bodyPr>
          <a:lstStyle/>
          <a:p>
            <a:pPr marL="12700">
              <a:spcBef>
                <a:spcPts val="105"/>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23</a:t>
            </a:r>
            <a:endParaRPr sz="1400">
              <a:latin typeface="Calibri"/>
              <a:cs typeface="Calibri"/>
            </a:endParaRPr>
          </a:p>
          <a:p>
            <a:pPr marL="12700" marR="652145">
              <a:lnSpc>
                <a:spcPct val="101800"/>
              </a:lnSpc>
              <a:spcBef>
                <a:spcPts val="5"/>
              </a:spcBef>
            </a:pPr>
            <a:r>
              <a:rPr sz="1400">
                <a:latin typeface="Calibri"/>
                <a:cs typeface="Calibri"/>
              </a:rPr>
              <a:t>Warren </a:t>
            </a:r>
            <a:r>
              <a:rPr sz="1400" spc="-5">
                <a:latin typeface="Calibri"/>
                <a:cs typeface="Calibri"/>
              </a:rPr>
              <a:t>Village School  </a:t>
            </a:r>
            <a:r>
              <a:rPr sz="1400">
                <a:latin typeface="Calibri"/>
                <a:cs typeface="Calibri"/>
              </a:rPr>
              <a:t>Bath </a:t>
            </a:r>
            <a:r>
              <a:rPr sz="1400" spc="-5">
                <a:latin typeface="Calibri"/>
                <a:cs typeface="Calibri"/>
              </a:rPr>
              <a:t>Village School  Piermont Village</a:t>
            </a:r>
            <a:r>
              <a:rPr sz="1400" spc="-55">
                <a:latin typeface="Calibri"/>
                <a:cs typeface="Calibri"/>
              </a:rPr>
              <a:t> </a:t>
            </a:r>
            <a:r>
              <a:rPr sz="1400" spc="-5">
                <a:latin typeface="Calibri"/>
                <a:cs typeface="Calibri"/>
              </a:rPr>
              <a:t>School</a:t>
            </a:r>
            <a:endParaRPr sz="1400">
              <a:latin typeface="Calibri"/>
              <a:cs typeface="Calibri"/>
            </a:endParaRPr>
          </a:p>
          <a:p>
            <a:pPr marL="12700" marR="5080">
              <a:lnSpc>
                <a:spcPct val="101400"/>
              </a:lnSpc>
            </a:pPr>
            <a:r>
              <a:rPr sz="1400">
                <a:latin typeface="Calibri"/>
                <a:cs typeface="Calibri"/>
              </a:rPr>
              <a:t>Woodsville </a:t>
            </a:r>
            <a:r>
              <a:rPr sz="1400" spc="-5">
                <a:latin typeface="Calibri"/>
                <a:cs typeface="Calibri"/>
              </a:rPr>
              <a:t>Elementary (grade</a:t>
            </a:r>
            <a:r>
              <a:rPr sz="1400" spc="-55">
                <a:latin typeface="Calibri"/>
                <a:cs typeface="Calibri"/>
              </a:rPr>
              <a:t> </a:t>
            </a:r>
            <a:r>
              <a:rPr sz="1400">
                <a:latin typeface="Calibri"/>
                <a:cs typeface="Calibri"/>
              </a:rPr>
              <a:t>3)  </a:t>
            </a:r>
            <a:r>
              <a:rPr sz="1400" spc="-5">
                <a:latin typeface="Calibri"/>
                <a:cs typeface="Calibri"/>
              </a:rPr>
              <a:t>Haverhill Middle</a:t>
            </a:r>
            <a:r>
              <a:rPr sz="1400" spc="-10">
                <a:latin typeface="Calibri"/>
                <a:cs typeface="Calibri"/>
              </a:rPr>
              <a:t> </a:t>
            </a:r>
            <a:r>
              <a:rPr sz="1400" spc="-5">
                <a:latin typeface="Calibri"/>
                <a:cs typeface="Calibri"/>
              </a:rPr>
              <a:t>School</a:t>
            </a:r>
            <a:endParaRPr sz="1400">
              <a:latin typeface="Calibri"/>
              <a:cs typeface="Calibri"/>
            </a:endParaRPr>
          </a:p>
        </p:txBody>
      </p:sp>
      <p:sp>
        <p:nvSpPr>
          <p:cNvPr id="10" name="object 11">
            <a:extLst>
              <a:ext uri="{FF2B5EF4-FFF2-40B4-BE49-F238E27FC236}">
                <a16:creationId xmlns:a16="http://schemas.microsoft.com/office/drawing/2014/main" id="{EF21C1B3-ACED-4A1D-BF1C-9E7B9FA6F323}"/>
              </a:ext>
            </a:extLst>
          </p:cNvPr>
          <p:cNvSpPr txBox="1"/>
          <p:nvPr/>
        </p:nvSpPr>
        <p:spPr>
          <a:xfrm>
            <a:off x="3800304" y="3068514"/>
            <a:ext cx="2198391" cy="441347"/>
          </a:xfrm>
          <a:prstGeom prst="rect">
            <a:avLst/>
          </a:prstGeom>
        </p:spPr>
        <p:txBody>
          <a:bodyPr vert="horz" wrap="square" lIns="0" tIns="12700" rIns="0" bIns="0" rtlCol="0">
            <a:spAutoFit/>
          </a:bodyPr>
          <a:lstStyle/>
          <a:p>
            <a:pPr marL="12700">
              <a:spcBef>
                <a:spcPts val="100"/>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35</a:t>
            </a:r>
            <a:endParaRPr sz="1400">
              <a:latin typeface="Calibri"/>
              <a:cs typeface="Calibri"/>
            </a:endParaRPr>
          </a:p>
          <a:p>
            <a:pPr marL="12700">
              <a:spcBef>
                <a:spcPts val="40"/>
              </a:spcBef>
            </a:pPr>
            <a:r>
              <a:rPr sz="1400" spc="-5">
                <a:latin typeface="Calibri"/>
                <a:cs typeface="Calibri"/>
              </a:rPr>
              <a:t>Bethlehem Elementary</a:t>
            </a:r>
            <a:r>
              <a:rPr sz="1400" spc="-20">
                <a:latin typeface="Calibri"/>
                <a:cs typeface="Calibri"/>
              </a:rPr>
              <a:t> </a:t>
            </a:r>
            <a:r>
              <a:rPr sz="1400" spc="-5">
                <a:latin typeface="Calibri"/>
                <a:cs typeface="Calibri"/>
              </a:rPr>
              <a:t>School</a:t>
            </a:r>
            <a:endParaRPr sz="1400">
              <a:latin typeface="Calibri"/>
              <a:cs typeface="Calibri"/>
            </a:endParaRPr>
          </a:p>
        </p:txBody>
      </p:sp>
      <p:sp>
        <p:nvSpPr>
          <p:cNvPr id="11" name="object 12">
            <a:extLst>
              <a:ext uri="{FF2B5EF4-FFF2-40B4-BE49-F238E27FC236}">
                <a16:creationId xmlns:a16="http://schemas.microsoft.com/office/drawing/2014/main" id="{E65BE992-539E-4C8C-A6FF-BE728F894B8F}"/>
              </a:ext>
            </a:extLst>
          </p:cNvPr>
          <p:cNvSpPr txBox="1"/>
          <p:nvPr/>
        </p:nvSpPr>
        <p:spPr>
          <a:xfrm>
            <a:off x="3800304" y="3916892"/>
            <a:ext cx="1707679" cy="439512"/>
          </a:xfrm>
          <a:prstGeom prst="rect">
            <a:avLst/>
          </a:prstGeom>
        </p:spPr>
        <p:txBody>
          <a:bodyPr vert="horz" wrap="square" lIns="0" tIns="12700" rIns="0" bIns="0" rtlCol="0">
            <a:spAutoFit/>
          </a:bodyPr>
          <a:lstStyle/>
          <a:p>
            <a:pPr marL="12700">
              <a:spcBef>
                <a:spcPts val="100"/>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39</a:t>
            </a:r>
            <a:endParaRPr sz="1400">
              <a:latin typeface="Calibri"/>
              <a:cs typeface="Calibri"/>
            </a:endParaRPr>
          </a:p>
          <a:p>
            <a:pPr marL="12700">
              <a:spcBef>
                <a:spcPts val="25"/>
              </a:spcBef>
            </a:pPr>
            <a:r>
              <a:rPr sz="1400">
                <a:latin typeface="Calibri"/>
                <a:cs typeface="Calibri"/>
              </a:rPr>
              <a:t>Amherst </a:t>
            </a:r>
            <a:r>
              <a:rPr sz="1400" spc="-5">
                <a:latin typeface="Calibri"/>
                <a:cs typeface="Calibri"/>
              </a:rPr>
              <a:t>Middle</a:t>
            </a:r>
            <a:r>
              <a:rPr sz="1400" spc="-60">
                <a:latin typeface="Calibri"/>
                <a:cs typeface="Calibri"/>
              </a:rPr>
              <a:t> </a:t>
            </a:r>
            <a:r>
              <a:rPr sz="1400" spc="-5">
                <a:latin typeface="Calibri"/>
                <a:cs typeface="Calibri"/>
              </a:rPr>
              <a:t>School</a:t>
            </a:r>
            <a:endParaRPr sz="1400">
              <a:latin typeface="Calibri"/>
              <a:cs typeface="Calibri"/>
            </a:endParaRPr>
          </a:p>
        </p:txBody>
      </p:sp>
      <p:sp>
        <p:nvSpPr>
          <p:cNvPr id="12" name="object 13">
            <a:extLst>
              <a:ext uri="{FF2B5EF4-FFF2-40B4-BE49-F238E27FC236}">
                <a16:creationId xmlns:a16="http://schemas.microsoft.com/office/drawing/2014/main" id="{1D533254-21F6-49DA-8055-4A70BD6A4057}"/>
              </a:ext>
            </a:extLst>
          </p:cNvPr>
          <p:cNvSpPr txBox="1"/>
          <p:nvPr/>
        </p:nvSpPr>
        <p:spPr>
          <a:xfrm>
            <a:off x="3800304" y="4940571"/>
            <a:ext cx="2023001" cy="669992"/>
          </a:xfrm>
          <a:prstGeom prst="rect">
            <a:avLst/>
          </a:prstGeom>
        </p:spPr>
        <p:txBody>
          <a:bodyPr vert="horz" wrap="square" lIns="0" tIns="12700" rIns="0" bIns="0" rtlCol="0">
            <a:spAutoFit/>
          </a:bodyPr>
          <a:lstStyle/>
          <a:p>
            <a:pPr marL="12700">
              <a:spcBef>
                <a:spcPts val="100"/>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43</a:t>
            </a:r>
            <a:endParaRPr sz="1400">
              <a:latin typeface="Calibri"/>
              <a:cs typeface="Calibri"/>
            </a:endParaRPr>
          </a:p>
          <a:p>
            <a:pPr marL="12700" marR="5080">
              <a:lnSpc>
                <a:spcPts val="1720"/>
              </a:lnSpc>
              <a:spcBef>
                <a:spcPts val="55"/>
              </a:spcBef>
            </a:pPr>
            <a:r>
              <a:rPr sz="1400" spc="-5">
                <a:latin typeface="Calibri"/>
                <a:cs typeface="Calibri"/>
              </a:rPr>
              <a:t>Richards Elementary School  Newport Middle</a:t>
            </a:r>
            <a:r>
              <a:rPr sz="1400" spc="-10">
                <a:latin typeface="Calibri"/>
                <a:cs typeface="Calibri"/>
              </a:rPr>
              <a:t> </a:t>
            </a:r>
            <a:r>
              <a:rPr sz="1400" spc="-5">
                <a:latin typeface="Calibri"/>
                <a:cs typeface="Calibri"/>
              </a:rPr>
              <a:t>School</a:t>
            </a:r>
            <a:endParaRPr sz="1400">
              <a:latin typeface="Calibri"/>
              <a:cs typeface="Calibri"/>
            </a:endParaRPr>
          </a:p>
        </p:txBody>
      </p:sp>
      <p:sp>
        <p:nvSpPr>
          <p:cNvPr id="13" name="object 14">
            <a:extLst>
              <a:ext uri="{FF2B5EF4-FFF2-40B4-BE49-F238E27FC236}">
                <a16:creationId xmlns:a16="http://schemas.microsoft.com/office/drawing/2014/main" id="{C0EF75C7-68B2-46AC-9675-64568C6BA6A7}"/>
              </a:ext>
            </a:extLst>
          </p:cNvPr>
          <p:cNvSpPr txBox="1"/>
          <p:nvPr/>
        </p:nvSpPr>
        <p:spPr>
          <a:xfrm>
            <a:off x="7054977" y="1490215"/>
            <a:ext cx="2081254" cy="2193806"/>
          </a:xfrm>
          <a:prstGeom prst="rect">
            <a:avLst/>
          </a:prstGeom>
        </p:spPr>
        <p:txBody>
          <a:bodyPr vert="horz" wrap="square" lIns="0" tIns="13335" rIns="0" bIns="0" rtlCol="0">
            <a:spAutoFit/>
          </a:bodyPr>
          <a:lstStyle/>
          <a:p>
            <a:pPr marL="12700">
              <a:spcBef>
                <a:spcPts val="105"/>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54</a:t>
            </a:r>
            <a:endParaRPr sz="1400">
              <a:latin typeface="Calibri"/>
              <a:cs typeface="Calibri"/>
            </a:endParaRPr>
          </a:p>
          <a:p>
            <a:pPr marL="12700" marR="479425">
              <a:lnSpc>
                <a:spcPct val="101400"/>
              </a:lnSpc>
            </a:pPr>
            <a:r>
              <a:rPr sz="1400" spc="-5">
                <a:latin typeface="Calibri"/>
                <a:cs typeface="Calibri"/>
              </a:rPr>
              <a:t>East Rochester School  Nancy Loud</a:t>
            </a:r>
            <a:r>
              <a:rPr sz="1400" spc="-30">
                <a:latin typeface="Calibri"/>
                <a:cs typeface="Calibri"/>
              </a:rPr>
              <a:t> </a:t>
            </a:r>
            <a:r>
              <a:rPr sz="1400" spc="-5">
                <a:latin typeface="Calibri"/>
                <a:cs typeface="Calibri"/>
              </a:rPr>
              <a:t>School</a:t>
            </a:r>
            <a:endParaRPr sz="1400">
              <a:latin typeface="Calibri"/>
              <a:cs typeface="Calibri"/>
            </a:endParaRPr>
          </a:p>
          <a:p>
            <a:pPr marL="12700" marR="590550">
              <a:lnSpc>
                <a:spcPct val="101400"/>
              </a:lnSpc>
              <a:spcBef>
                <a:spcPts val="10"/>
              </a:spcBef>
            </a:pPr>
            <a:r>
              <a:rPr sz="1400" spc="-5">
                <a:latin typeface="Calibri"/>
                <a:cs typeface="Calibri"/>
              </a:rPr>
              <a:t>McClelland School  </a:t>
            </a:r>
            <a:r>
              <a:rPr sz="1400">
                <a:latin typeface="Calibri"/>
                <a:cs typeface="Calibri"/>
              </a:rPr>
              <a:t>William </a:t>
            </a:r>
            <a:r>
              <a:rPr sz="1400" spc="-5">
                <a:latin typeface="Calibri"/>
                <a:cs typeface="Calibri"/>
              </a:rPr>
              <a:t>Allen</a:t>
            </a:r>
            <a:r>
              <a:rPr sz="1400" spc="-70">
                <a:latin typeface="Calibri"/>
                <a:cs typeface="Calibri"/>
              </a:rPr>
              <a:t> </a:t>
            </a:r>
            <a:r>
              <a:rPr sz="1400" spc="-5">
                <a:latin typeface="Calibri"/>
                <a:cs typeface="Calibri"/>
              </a:rPr>
              <a:t>School</a:t>
            </a:r>
            <a:endParaRPr sz="1400">
              <a:latin typeface="Calibri"/>
              <a:cs typeface="Calibri"/>
            </a:endParaRPr>
          </a:p>
          <a:p>
            <a:pPr marL="12700" marR="148590">
              <a:lnSpc>
                <a:spcPct val="101699"/>
              </a:lnSpc>
              <a:spcBef>
                <a:spcPts val="10"/>
              </a:spcBef>
            </a:pPr>
            <a:r>
              <a:rPr sz="1400" spc="-5">
                <a:latin typeface="Calibri"/>
                <a:cs typeface="Calibri"/>
              </a:rPr>
              <a:t>Chamberlain Street School  Rochester Middle School  School Street School  Gonic</a:t>
            </a:r>
            <a:r>
              <a:rPr sz="1400" spc="-15">
                <a:latin typeface="Calibri"/>
                <a:cs typeface="Calibri"/>
              </a:rPr>
              <a:t> </a:t>
            </a:r>
            <a:r>
              <a:rPr sz="1400" spc="-5">
                <a:latin typeface="Calibri"/>
                <a:cs typeface="Calibri"/>
              </a:rPr>
              <a:t>School</a:t>
            </a:r>
            <a:endParaRPr sz="1400">
              <a:latin typeface="Calibri"/>
              <a:cs typeface="Calibri"/>
            </a:endParaRPr>
          </a:p>
          <a:p>
            <a:pPr marL="12700">
              <a:spcBef>
                <a:spcPts val="20"/>
              </a:spcBef>
            </a:pPr>
            <a:r>
              <a:rPr sz="1400">
                <a:latin typeface="Calibri"/>
                <a:cs typeface="Calibri"/>
              </a:rPr>
              <a:t>Maple </a:t>
            </a:r>
            <a:r>
              <a:rPr sz="1400" spc="-5">
                <a:latin typeface="Calibri"/>
                <a:cs typeface="Calibri"/>
              </a:rPr>
              <a:t>Street </a:t>
            </a:r>
            <a:r>
              <a:rPr sz="1400">
                <a:latin typeface="Calibri"/>
                <a:cs typeface="Calibri"/>
              </a:rPr>
              <a:t>Magnet</a:t>
            </a:r>
            <a:r>
              <a:rPr sz="1400" spc="-80">
                <a:latin typeface="Calibri"/>
                <a:cs typeface="Calibri"/>
              </a:rPr>
              <a:t> </a:t>
            </a:r>
            <a:r>
              <a:rPr sz="1400" spc="-5">
                <a:latin typeface="Calibri"/>
                <a:cs typeface="Calibri"/>
              </a:rPr>
              <a:t>School</a:t>
            </a:r>
            <a:endParaRPr sz="1400">
              <a:latin typeface="Calibri"/>
              <a:cs typeface="Calibri"/>
            </a:endParaRPr>
          </a:p>
        </p:txBody>
      </p:sp>
      <p:sp>
        <p:nvSpPr>
          <p:cNvPr id="14" name="object 15">
            <a:extLst>
              <a:ext uri="{FF2B5EF4-FFF2-40B4-BE49-F238E27FC236}">
                <a16:creationId xmlns:a16="http://schemas.microsoft.com/office/drawing/2014/main" id="{A579FCC6-5E62-4E48-A184-3AEAE3DA23CA}"/>
              </a:ext>
            </a:extLst>
          </p:cNvPr>
          <p:cNvSpPr txBox="1"/>
          <p:nvPr/>
        </p:nvSpPr>
        <p:spPr>
          <a:xfrm>
            <a:off x="7113229" y="3909446"/>
            <a:ext cx="2108480" cy="441347"/>
          </a:xfrm>
          <a:prstGeom prst="rect">
            <a:avLst/>
          </a:prstGeom>
        </p:spPr>
        <p:txBody>
          <a:bodyPr vert="horz" wrap="square" lIns="0" tIns="13335" rIns="0" bIns="0" rtlCol="0">
            <a:spAutoFit/>
          </a:bodyPr>
          <a:lstStyle/>
          <a:p>
            <a:pPr marL="12700">
              <a:spcBef>
                <a:spcPts val="105"/>
              </a:spcBef>
            </a:pPr>
            <a:r>
              <a:rPr sz="1400" b="1">
                <a:solidFill>
                  <a:srgbClr val="1F487C"/>
                </a:solidFill>
                <a:latin typeface="Calibri"/>
                <a:cs typeface="Calibri"/>
              </a:rPr>
              <a:t>SAU</a:t>
            </a:r>
            <a:r>
              <a:rPr sz="1400" b="1" spc="-20">
                <a:solidFill>
                  <a:srgbClr val="1F487C"/>
                </a:solidFill>
                <a:latin typeface="Calibri"/>
                <a:cs typeface="Calibri"/>
              </a:rPr>
              <a:t> </a:t>
            </a:r>
            <a:r>
              <a:rPr sz="1400" b="1">
                <a:solidFill>
                  <a:srgbClr val="1F487C"/>
                </a:solidFill>
                <a:latin typeface="Calibri"/>
                <a:cs typeface="Calibri"/>
              </a:rPr>
              <a:t>77</a:t>
            </a:r>
            <a:endParaRPr sz="1400">
              <a:latin typeface="Calibri"/>
              <a:cs typeface="Calibri"/>
            </a:endParaRPr>
          </a:p>
          <a:p>
            <a:pPr marL="12700">
              <a:spcBef>
                <a:spcPts val="35"/>
              </a:spcBef>
            </a:pPr>
            <a:r>
              <a:rPr sz="1400">
                <a:latin typeface="Calibri"/>
                <a:cs typeface="Calibri"/>
              </a:rPr>
              <a:t>Monroe </a:t>
            </a:r>
            <a:r>
              <a:rPr sz="1400" spc="-5">
                <a:latin typeface="Calibri"/>
                <a:cs typeface="Calibri"/>
              </a:rPr>
              <a:t>Consolidated</a:t>
            </a:r>
            <a:r>
              <a:rPr sz="1400" spc="-65">
                <a:latin typeface="Calibri"/>
                <a:cs typeface="Calibri"/>
              </a:rPr>
              <a:t> </a:t>
            </a:r>
            <a:r>
              <a:rPr sz="1400" spc="-5">
                <a:latin typeface="Calibri"/>
                <a:cs typeface="Calibri"/>
              </a:rPr>
              <a:t>School</a:t>
            </a:r>
            <a:endParaRPr sz="1400">
              <a:latin typeface="Calibri"/>
              <a:cs typeface="Calibri"/>
            </a:endParaRPr>
          </a:p>
        </p:txBody>
      </p:sp>
      <p:sp>
        <p:nvSpPr>
          <p:cNvPr id="15" name="object 16">
            <a:extLst>
              <a:ext uri="{FF2B5EF4-FFF2-40B4-BE49-F238E27FC236}">
                <a16:creationId xmlns:a16="http://schemas.microsoft.com/office/drawing/2014/main" id="{4F8A3627-4093-4CB4-A05D-79C52FC44A75}"/>
              </a:ext>
            </a:extLst>
          </p:cNvPr>
          <p:cNvSpPr txBox="1"/>
          <p:nvPr/>
        </p:nvSpPr>
        <p:spPr>
          <a:xfrm>
            <a:off x="7113229" y="4940571"/>
            <a:ext cx="1764665" cy="520655"/>
          </a:xfrm>
          <a:prstGeom prst="rect">
            <a:avLst/>
          </a:prstGeom>
        </p:spPr>
        <p:txBody>
          <a:bodyPr vert="horz" wrap="square" lIns="0" tIns="50800" rIns="0" bIns="0" rtlCol="0">
            <a:spAutoFit/>
          </a:bodyPr>
          <a:lstStyle/>
          <a:p>
            <a:pPr marL="12700">
              <a:spcBef>
                <a:spcPts val="400"/>
              </a:spcBef>
            </a:pPr>
            <a:r>
              <a:rPr sz="1400" b="1" spc="-5">
                <a:solidFill>
                  <a:srgbClr val="1F487C"/>
                </a:solidFill>
                <a:latin typeface="Calibri"/>
                <a:cs typeface="Calibri"/>
              </a:rPr>
              <a:t>Public Charter</a:t>
            </a:r>
            <a:r>
              <a:rPr sz="1400" b="1" spc="-20">
                <a:solidFill>
                  <a:srgbClr val="1F487C"/>
                </a:solidFill>
                <a:latin typeface="Calibri"/>
                <a:cs typeface="Calibri"/>
              </a:rPr>
              <a:t> </a:t>
            </a:r>
            <a:r>
              <a:rPr sz="1400" b="1" spc="-5">
                <a:solidFill>
                  <a:srgbClr val="1F487C"/>
                </a:solidFill>
                <a:latin typeface="Calibri"/>
                <a:cs typeface="Calibri"/>
              </a:rPr>
              <a:t>Schools</a:t>
            </a:r>
            <a:endParaRPr sz="1400">
              <a:latin typeface="Calibri"/>
              <a:cs typeface="Calibri"/>
            </a:endParaRPr>
          </a:p>
          <a:p>
            <a:pPr marL="12700">
              <a:spcBef>
                <a:spcPts val="300"/>
              </a:spcBef>
            </a:pPr>
            <a:r>
              <a:rPr sz="1400" spc="-5">
                <a:latin typeface="Calibri"/>
                <a:cs typeface="Calibri"/>
              </a:rPr>
              <a:t>Seacoast Charter</a:t>
            </a:r>
            <a:r>
              <a:rPr sz="1400" spc="-35">
                <a:latin typeface="Calibri"/>
                <a:cs typeface="Calibri"/>
              </a:rPr>
              <a:t> </a:t>
            </a:r>
            <a:r>
              <a:rPr sz="1400" spc="-5">
                <a:latin typeface="Calibri"/>
                <a:cs typeface="Calibri"/>
              </a:rPr>
              <a:t>School</a:t>
            </a:r>
            <a:endParaRPr sz="1400">
              <a:latin typeface="Calibri"/>
              <a:cs typeface="Calibri"/>
            </a:endParaRPr>
          </a:p>
        </p:txBody>
      </p:sp>
    </p:spTree>
    <p:extLst>
      <p:ext uri="{BB962C8B-B14F-4D97-AF65-F5344CB8AC3E}">
        <p14:creationId xmlns:p14="http://schemas.microsoft.com/office/powerpoint/2010/main" val="224132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9FCAB9-93C3-4BDA-9E2F-9DD50CC363DA}"/>
              </a:ext>
            </a:extLst>
          </p:cNvPr>
          <p:cNvSpPr>
            <a:spLocks noGrp="1"/>
          </p:cNvSpPr>
          <p:nvPr>
            <p:ph type="title"/>
          </p:nvPr>
        </p:nvSpPr>
        <p:spPr>
          <a:xfrm>
            <a:off x="838200" y="387537"/>
            <a:ext cx="10515600" cy="1325563"/>
          </a:xfrm>
        </p:spPr>
        <p:txBody>
          <a:bodyPr>
            <a:normAutofit/>
          </a:bodyPr>
          <a:lstStyle/>
          <a:p>
            <a:pPr algn="ctr"/>
            <a:r>
              <a:rPr lang="en-US" sz="3200" b="1" dirty="0">
                <a:latin typeface="+mn-lt"/>
              </a:rPr>
              <a:t>Our Story Board for K-12 Public Education</a:t>
            </a:r>
          </a:p>
        </p:txBody>
      </p:sp>
      <p:graphicFrame>
        <p:nvGraphicFramePr>
          <p:cNvPr id="8" name="Diagram 7">
            <a:extLst>
              <a:ext uri="{FF2B5EF4-FFF2-40B4-BE49-F238E27FC236}">
                <a16:creationId xmlns:a16="http://schemas.microsoft.com/office/drawing/2014/main" id="{24A9ECB2-3EDE-412F-B04F-B00D37DFEC19}"/>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75578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73F03D-376E-44D7-ADBB-D5622A0C8292}"/>
              </a:ext>
            </a:extLst>
          </p:cNvPr>
          <p:cNvSpPr/>
          <p:nvPr/>
        </p:nvSpPr>
        <p:spPr>
          <a:xfrm>
            <a:off x="2156012" y="627932"/>
            <a:ext cx="7879976" cy="584775"/>
          </a:xfrm>
          <a:prstGeom prst="rect">
            <a:avLst/>
          </a:prstGeom>
        </p:spPr>
        <p:txBody>
          <a:bodyPr wrap="square">
            <a:spAutoFit/>
          </a:bodyPr>
          <a:lstStyle/>
          <a:p>
            <a:pPr marL="1255395">
              <a:lnSpc>
                <a:spcPct val="100000"/>
              </a:lnSpc>
              <a:spcBef>
                <a:spcPts val="100"/>
              </a:spcBef>
            </a:pPr>
            <a:r>
              <a:rPr lang="en-US" sz="3200" b="1" spc="-120">
                <a:cs typeface="Arial"/>
              </a:rPr>
              <a:t>Important Observations</a:t>
            </a:r>
            <a:endParaRPr lang="en-US" sz="3600" b="1" spc="-125">
              <a:cs typeface="Arial"/>
            </a:endParaRPr>
          </a:p>
        </p:txBody>
      </p:sp>
      <p:sp>
        <p:nvSpPr>
          <p:cNvPr id="4" name="TextBox 3">
            <a:extLst>
              <a:ext uri="{FF2B5EF4-FFF2-40B4-BE49-F238E27FC236}">
                <a16:creationId xmlns:a16="http://schemas.microsoft.com/office/drawing/2014/main" id="{9B713CE6-1766-404A-A6D4-814B8670DCB3}"/>
              </a:ext>
            </a:extLst>
          </p:cNvPr>
          <p:cNvSpPr txBox="1"/>
          <p:nvPr/>
        </p:nvSpPr>
        <p:spPr>
          <a:xfrm>
            <a:off x="1781735" y="1703233"/>
            <a:ext cx="8628529" cy="6370975"/>
          </a:xfrm>
          <a:prstGeom prst="rect">
            <a:avLst/>
          </a:prstGeom>
          <a:noFill/>
          <a:ln>
            <a:noFill/>
          </a:ln>
        </p:spPr>
        <p:txBody>
          <a:bodyPr wrap="square" rtlCol="0">
            <a:spAutoFit/>
          </a:bodyPr>
          <a:lstStyle/>
          <a:p>
            <a:pPr marL="285750" indent="-285750">
              <a:buFont typeface="Wingdings" panose="05000000000000000000" pitchFamily="2" charset="2"/>
              <a:buChar char="q"/>
            </a:pPr>
            <a:r>
              <a:rPr lang="en-US" sz="2400" dirty="0"/>
              <a:t>International Assessment(s) mirrors USA high School decline in math and science.</a:t>
            </a:r>
          </a:p>
          <a:p>
            <a:endParaRPr lang="en-US" sz="2400" dirty="0"/>
          </a:p>
          <a:p>
            <a:pPr marL="285750" indent="-285750">
              <a:buFont typeface="Wingdings" panose="05000000000000000000" pitchFamily="2" charset="2"/>
              <a:buChar char="q"/>
            </a:pPr>
            <a:r>
              <a:rPr lang="en-US" sz="2400" dirty="0"/>
              <a:t>AP enrollment in general is higher for better ranked states.</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ESSA is reshaping assessment and accountability requirements.</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Competency state-based education initiatives are increasing in high percentage across the country.</a:t>
            </a:r>
          </a:p>
          <a:p>
            <a:endParaRPr lang="en-US" sz="2400" dirty="0"/>
          </a:p>
          <a:p>
            <a:endParaRPr lang="en-US" sz="2400" dirty="0"/>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en-US" sz="2400" dirty="0"/>
          </a:p>
          <a:p>
            <a:endParaRPr lang="en-US" sz="2400" dirty="0"/>
          </a:p>
          <a:p>
            <a:r>
              <a:rPr lang="en-US" sz="2400" dirty="0"/>
              <a:t> </a:t>
            </a:r>
          </a:p>
        </p:txBody>
      </p:sp>
    </p:spTree>
    <p:extLst>
      <p:ext uri="{BB962C8B-B14F-4D97-AF65-F5344CB8AC3E}">
        <p14:creationId xmlns:p14="http://schemas.microsoft.com/office/powerpoint/2010/main" val="7404435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73F03D-376E-44D7-ADBB-D5622A0C8292}"/>
              </a:ext>
            </a:extLst>
          </p:cNvPr>
          <p:cNvSpPr/>
          <p:nvPr/>
        </p:nvSpPr>
        <p:spPr>
          <a:xfrm>
            <a:off x="2156012" y="627932"/>
            <a:ext cx="7879976" cy="584775"/>
          </a:xfrm>
          <a:prstGeom prst="rect">
            <a:avLst/>
          </a:prstGeom>
        </p:spPr>
        <p:txBody>
          <a:bodyPr wrap="square">
            <a:spAutoFit/>
          </a:bodyPr>
          <a:lstStyle/>
          <a:p>
            <a:pPr marL="1255395">
              <a:lnSpc>
                <a:spcPct val="100000"/>
              </a:lnSpc>
              <a:spcBef>
                <a:spcPts val="100"/>
              </a:spcBef>
            </a:pPr>
            <a:r>
              <a:rPr lang="en-US" sz="3200" b="1" spc="-120">
                <a:cs typeface="Arial"/>
              </a:rPr>
              <a:t>Important Observations</a:t>
            </a:r>
            <a:endParaRPr lang="en-US" sz="3600" b="1" spc="-125">
              <a:cs typeface="Arial"/>
            </a:endParaRPr>
          </a:p>
        </p:txBody>
      </p:sp>
      <p:sp>
        <p:nvSpPr>
          <p:cNvPr id="4" name="TextBox 3">
            <a:extLst>
              <a:ext uri="{FF2B5EF4-FFF2-40B4-BE49-F238E27FC236}">
                <a16:creationId xmlns:a16="http://schemas.microsoft.com/office/drawing/2014/main" id="{9B713CE6-1766-404A-A6D4-814B8670DCB3}"/>
              </a:ext>
            </a:extLst>
          </p:cNvPr>
          <p:cNvSpPr txBox="1"/>
          <p:nvPr/>
        </p:nvSpPr>
        <p:spPr>
          <a:xfrm>
            <a:off x="1781735" y="1703233"/>
            <a:ext cx="8628529" cy="6370975"/>
          </a:xfrm>
          <a:prstGeom prst="rect">
            <a:avLst/>
          </a:prstGeom>
          <a:noFill/>
          <a:ln>
            <a:noFill/>
          </a:ln>
        </p:spPr>
        <p:txBody>
          <a:bodyPr wrap="square" rtlCol="0">
            <a:spAutoFit/>
          </a:bodyPr>
          <a:lstStyle/>
          <a:p>
            <a:pPr marL="285750" indent="-285750">
              <a:buFont typeface="Wingdings" panose="05000000000000000000" pitchFamily="2" charset="2"/>
              <a:buChar char="q"/>
            </a:pPr>
            <a:r>
              <a:rPr lang="en-US" sz="2400" dirty="0"/>
              <a:t>International Assessment(s) mirrors USA high School decline in math and science.</a:t>
            </a:r>
          </a:p>
          <a:p>
            <a:endParaRPr lang="en-US" sz="2400" dirty="0"/>
          </a:p>
          <a:p>
            <a:pPr marL="285750" indent="-285750">
              <a:buFont typeface="Wingdings" panose="05000000000000000000" pitchFamily="2" charset="2"/>
              <a:buChar char="q"/>
            </a:pPr>
            <a:r>
              <a:rPr lang="en-US" sz="2400" dirty="0"/>
              <a:t>AP enrollment in general is higher for better ranked states.</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ESSA is reshaping assessment and accountability requirements.</a:t>
            </a:r>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r>
              <a:rPr lang="en-US" sz="2400" dirty="0"/>
              <a:t>Competency state-based education initiatives are increasing in high percentage across the country.</a:t>
            </a:r>
          </a:p>
          <a:p>
            <a:endParaRPr lang="en-US" sz="2400" dirty="0"/>
          </a:p>
          <a:p>
            <a:endParaRPr lang="en-US" sz="2400" dirty="0"/>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en-US" sz="2400" dirty="0"/>
          </a:p>
          <a:p>
            <a:pPr marL="285750" indent="-285750">
              <a:buFont typeface="Wingdings" panose="05000000000000000000" pitchFamily="2" charset="2"/>
              <a:buChar char="q"/>
            </a:pPr>
            <a:endParaRPr lang="en-US" sz="2400" dirty="0"/>
          </a:p>
          <a:p>
            <a:endParaRPr lang="en-US" sz="2400" dirty="0"/>
          </a:p>
          <a:p>
            <a:r>
              <a:rPr lang="en-US" sz="2400" dirty="0"/>
              <a:t> </a:t>
            </a:r>
          </a:p>
        </p:txBody>
      </p:sp>
    </p:spTree>
    <p:extLst>
      <p:ext uri="{BB962C8B-B14F-4D97-AF65-F5344CB8AC3E}">
        <p14:creationId xmlns:p14="http://schemas.microsoft.com/office/powerpoint/2010/main" val="13957270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1055-2BBB-45C5-9067-21EFB8E34664}"/>
              </a:ext>
            </a:extLst>
          </p:cNvPr>
          <p:cNvSpPr>
            <a:spLocks noGrp="1"/>
          </p:cNvSpPr>
          <p:nvPr>
            <p:ph type="title"/>
          </p:nvPr>
        </p:nvSpPr>
        <p:spPr>
          <a:xfrm>
            <a:off x="684812" y="2660491"/>
            <a:ext cx="10515600" cy="1258688"/>
          </a:xfrm>
        </p:spPr>
        <p:txBody>
          <a:bodyPr>
            <a:normAutofit/>
          </a:bodyPr>
          <a:lstStyle/>
          <a:p>
            <a:pPr algn="ctr"/>
            <a:r>
              <a:rPr lang="en-US" sz="6600" i="1" dirty="0">
                <a:solidFill>
                  <a:schemeClr val="accent1">
                    <a:lumMod val="75000"/>
                  </a:schemeClr>
                </a:solidFill>
                <a:latin typeface="+mn-lt"/>
              </a:rPr>
              <a:t>Thank you!</a:t>
            </a:r>
          </a:p>
        </p:txBody>
      </p:sp>
    </p:spTree>
    <p:extLst>
      <p:ext uri="{BB962C8B-B14F-4D97-AF65-F5344CB8AC3E}">
        <p14:creationId xmlns:p14="http://schemas.microsoft.com/office/powerpoint/2010/main" val="2726442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2334</TotalTime>
  <Words>4050</Words>
  <Application>Microsoft Office PowerPoint</Application>
  <PresentationFormat>Widescreen</PresentationFormat>
  <Paragraphs>697</Paragraphs>
  <Slides>49</Slides>
  <Notes>35</Notes>
  <HiddenSlides>5</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49</vt:i4>
      </vt:variant>
    </vt:vector>
  </HeadingPairs>
  <TitlesOfParts>
    <vt:vector size="60" baseType="lpstr">
      <vt:lpstr>&amp;quot</vt:lpstr>
      <vt:lpstr>Arial</vt:lpstr>
      <vt:lpstr>Calibri</vt:lpstr>
      <vt:lpstr>Calibri Light</vt:lpstr>
      <vt:lpstr>Cambria Math</vt:lpstr>
      <vt:lpstr>Lora</vt:lpstr>
      <vt:lpstr>Times New Roman</vt:lpstr>
      <vt:lpstr>Verdana</vt:lpstr>
      <vt:lpstr>Wingdings</vt:lpstr>
      <vt:lpstr>Office Theme</vt:lpstr>
      <vt:lpstr>1_Office Theme</vt:lpstr>
      <vt:lpstr>Status of K-12 Public-School Education</vt:lpstr>
      <vt:lpstr>Our Story Board for K-12 Public Education</vt:lpstr>
      <vt:lpstr>PowerPoint Presentation</vt:lpstr>
      <vt:lpstr>PowerPoint Presentation</vt:lpstr>
      <vt:lpstr>PowerPoint Presentation</vt:lpstr>
      <vt:lpstr>Summary: US Public Education by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factors account for decline in proficiency from 8th grade thru High School?</vt:lpstr>
      <vt:lpstr>HS were off the radar – attention and efforts were focused on standards for K-8, and thus graduation requirements &amp; testing driving HS curriculum and output (AP, SAT, ACT, PSAT)</vt:lpstr>
      <vt:lpstr>PowerPoint Presentation</vt:lpstr>
      <vt:lpstr>PowerPoint Presentation</vt:lpstr>
      <vt:lpstr>PowerPoint Presentation</vt:lpstr>
      <vt:lpstr>ESSA and Personalized Learning Dashboard 39 state ESSA plans reference personalized learning.</vt:lpstr>
      <vt:lpstr>  STATE VISION</vt:lpstr>
      <vt:lpstr>PowerPoint Presentation</vt:lpstr>
      <vt:lpstr>PowerPoint Presentation</vt:lpstr>
      <vt:lpstr>Carnegie unit ( time in the seat)</vt:lpstr>
      <vt:lpstr>PowerPoint Presentation</vt:lpstr>
      <vt:lpstr>PowerPoint Presentation</vt:lpstr>
      <vt:lpstr>Competency-Based Education State Policy</vt:lpstr>
      <vt:lpstr>Grand Father of Competency Based Education</vt:lpstr>
      <vt:lpstr>New Hampshire  Actions Toward Creating Competency Based Education System </vt:lpstr>
      <vt:lpstr>New Hampshire’s CBE Journey Continued</vt:lpstr>
      <vt:lpstr>NH’s PACE Language</vt:lpstr>
      <vt:lpstr>Grade 12 continuously enrolled students will be eligible for counting as postsecondary ready by meeting any two of the following ten requirements: </vt:lpstr>
      <vt:lpstr>2017 Reporting: PACE Tier 1 and Tier 2 Schools</vt:lpstr>
      <vt:lpstr>2018-2019 PACE Schools for Accountability</vt:lpstr>
      <vt:lpstr>Our Story Board for K-12 Public Education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Status of K-12 Public-School Education</dc:title>
  <dc:creator>Nathan Harris</dc:creator>
  <cp:lastModifiedBy>Nathan Harris</cp:lastModifiedBy>
  <cp:revision>6</cp:revision>
  <dcterms:created xsi:type="dcterms:W3CDTF">2019-08-06T21:50:11Z</dcterms:created>
  <dcterms:modified xsi:type="dcterms:W3CDTF">2019-08-08T12:48:47Z</dcterms:modified>
</cp:coreProperties>
</file>